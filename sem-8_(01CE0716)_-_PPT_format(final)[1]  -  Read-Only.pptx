
<file path=[Content_Types].xml><?xml version="1.0" encoding="utf-8"?>
<Types xmlns="http://schemas.openxmlformats.org/package/2006/content-types">
  <Default Extension="fntdata" ContentType="application/x-fontdata"/>
  <Default Extension="jpeg" ContentType="image/jpeg"/>
  <Default Extension="jp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20"/>
  </p:notesMasterIdLst>
  <p:sldIdLst>
    <p:sldId id="256" r:id="rId2"/>
    <p:sldId id="257" r:id="rId3"/>
    <p:sldId id="258" r:id="rId4"/>
    <p:sldId id="270" r:id="rId5"/>
    <p:sldId id="259" r:id="rId6"/>
    <p:sldId id="261" r:id="rId7"/>
    <p:sldId id="264" r:id="rId8"/>
    <p:sldId id="273" r:id="rId9"/>
    <p:sldId id="265" r:id="rId10"/>
    <p:sldId id="267" r:id="rId11"/>
    <p:sldId id="277" r:id="rId12"/>
    <p:sldId id="278" r:id="rId13"/>
    <p:sldId id="279" r:id="rId14"/>
    <p:sldId id="271" r:id="rId15"/>
    <p:sldId id="274" r:id="rId16"/>
    <p:sldId id="275" r:id="rId17"/>
    <p:sldId id="276" r:id="rId18"/>
    <p:sldId id="260" r:id="rId19"/>
  </p:sldIdLst>
  <p:sldSz cx="12192000" cy="6858000"/>
  <p:notesSz cx="6858000" cy="9144000"/>
  <p:embeddedFontLst>
    <p:embeddedFont>
      <p:font typeface="Aptos Narrow" panose="020B0004020202020204" pitchFamily="34" charset="0"/>
      <p:regular r:id="rId21"/>
      <p:bold r:id="rId22"/>
      <p:italic r:id="rId23"/>
      <p:boldItalic r:id="rId24"/>
    </p:embeddedFont>
    <p:embeddedFont>
      <p:font typeface="Proxima Nova" panose="020B0604020202020204" charset="0"/>
      <p:regular r:id="rId25"/>
      <p:bold r:id="rId26"/>
      <p:italic r:id="rId27"/>
      <p:boldItalic r:id="rId28"/>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29" roundtripDataSignature="AMtx7mi+A+2nPyMWBN538PGGglQVWGlo/Q=="/>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8900FF7-3280-4B6D-829A-ED2F980D0C85}" v="16" dt="2026-01-03T03:45:23.219"/>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60" d="100"/>
          <a:sy n="60" d="100"/>
        </p:scale>
        <p:origin x="1116" y="78"/>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6.fntdata"/><Relationship Id="rId3" Type="http://schemas.openxmlformats.org/officeDocument/2006/relationships/slide" Target="slides/slide2.xml"/><Relationship Id="rId21" Type="http://schemas.openxmlformats.org/officeDocument/2006/relationships/font" Target="fonts/font1.fntdata"/><Relationship Id="rId34" Type="http://schemas.microsoft.com/office/2015/10/relationships/revisionInfo" Target="revisionInfo.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5.fntdata"/><Relationship Id="rId33"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29" Type="http://customschemas.google.com/relationships/presentationmetadata" Target="meta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4.fntdata"/><Relationship Id="rId32"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3.fntdata"/><Relationship Id="rId28" Type="http://schemas.openxmlformats.org/officeDocument/2006/relationships/font" Target="fonts/font8.fntdata"/><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2.fntdata"/><Relationship Id="rId27" Type="http://schemas.openxmlformats.org/officeDocument/2006/relationships/font" Target="fonts/font7.fntdata"/><Relationship Id="rId30" Type="http://schemas.openxmlformats.org/officeDocument/2006/relationships/presProps" Target="presProps.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
        <p:cNvGrpSpPr/>
        <p:nvPr/>
      </p:nvGrpSpPr>
      <p:grpSpPr>
        <a:xfrm>
          <a:off x="0" y="0"/>
          <a:ext cx="0" cy="0"/>
          <a:chOff x="0" y="0"/>
          <a:chExt cx="0" cy="0"/>
        </a:xfrm>
      </p:grpSpPr>
      <p:sp>
        <p:nvSpPr>
          <p:cNvPr id="81" name="Google Shape;81;p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2" name="Google Shape;82;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
        <p:cNvGrpSpPr/>
        <p:nvPr/>
      </p:nvGrpSpPr>
      <p:grpSpPr>
        <a:xfrm>
          <a:off x="0" y="0"/>
          <a:ext cx="0" cy="0"/>
          <a:chOff x="0" y="0"/>
          <a:chExt cx="0" cy="0"/>
        </a:xfrm>
      </p:grpSpPr>
      <p:sp>
        <p:nvSpPr>
          <p:cNvPr id="85" name="Google Shape;85;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6" name="Google Shape;86;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5"/>
        <p:cNvGrpSpPr/>
        <p:nvPr/>
      </p:nvGrpSpPr>
      <p:grpSpPr>
        <a:xfrm>
          <a:off x="0" y="0"/>
          <a:ext cx="0" cy="0"/>
          <a:chOff x="0" y="0"/>
          <a:chExt cx="0" cy="0"/>
        </a:xfrm>
      </p:grpSpPr>
      <p:sp>
        <p:nvSpPr>
          <p:cNvPr id="96" name="Google Shape;96;p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7" name="Google Shape;97;p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5">
          <a:extLst>
            <a:ext uri="{FF2B5EF4-FFF2-40B4-BE49-F238E27FC236}">
              <a16:creationId xmlns:a16="http://schemas.microsoft.com/office/drawing/2014/main" id="{7B7F906E-B8E1-A4BA-7FBB-F1F57EED0387}"/>
            </a:ext>
          </a:extLst>
        </p:cNvPr>
        <p:cNvGrpSpPr/>
        <p:nvPr/>
      </p:nvGrpSpPr>
      <p:grpSpPr>
        <a:xfrm>
          <a:off x="0" y="0"/>
          <a:ext cx="0" cy="0"/>
          <a:chOff x="0" y="0"/>
          <a:chExt cx="0" cy="0"/>
        </a:xfrm>
      </p:grpSpPr>
      <p:sp>
        <p:nvSpPr>
          <p:cNvPr id="96" name="Google Shape;96;p3:notes">
            <a:extLst>
              <a:ext uri="{FF2B5EF4-FFF2-40B4-BE49-F238E27FC236}">
                <a16:creationId xmlns:a16="http://schemas.microsoft.com/office/drawing/2014/main" id="{9E29A4C8-9B30-9859-ED70-AACA0A1F89DD}"/>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7" name="Google Shape;97;p3:notes">
            <a:extLst>
              <a:ext uri="{FF2B5EF4-FFF2-40B4-BE49-F238E27FC236}">
                <a16:creationId xmlns:a16="http://schemas.microsoft.com/office/drawing/2014/main" id="{EBD26A8A-DC01-853B-5FDA-068192101F33}"/>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57761230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p:cNvGrpSpPr/>
        <p:nvPr/>
      </p:nvGrpSpPr>
      <p:grpSpPr>
        <a:xfrm>
          <a:off x="0" y="0"/>
          <a:ext cx="0" cy="0"/>
          <a:chOff x="0" y="0"/>
          <a:chExt cx="0" cy="0"/>
        </a:xfrm>
      </p:grpSpPr>
      <p:sp>
        <p:nvSpPr>
          <p:cNvPr id="102" name="Google Shape;102;p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3" name="Google Shape;103;p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p:cNvGrpSpPr/>
        <p:nvPr/>
      </p:nvGrpSpPr>
      <p:grpSpPr>
        <a:xfrm>
          <a:off x="0" y="0"/>
          <a:ext cx="0" cy="0"/>
          <a:chOff x="0" y="0"/>
          <a:chExt cx="0" cy="0"/>
        </a:xfrm>
      </p:grpSpPr>
      <p:sp>
        <p:nvSpPr>
          <p:cNvPr id="102" name="Google Shape;102;p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3" name="Google Shape;103;p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54363556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a:extLst>
            <a:ext uri="{FF2B5EF4-FFF2-40B4-BE49-F238E27FC236}">
              <a16:creationId xmlns:a16="http://schemas.microsoft.com/office/drawing/2014/main" id="{545F2D61-4928-4BF4-FA38-BE4A3B204DA2}"/>
            </a:ext>
          </a:extLst>
        </p:cNvPr>
        <p:cNvGrpSpPr/>
        <p:nvPr/>
      </p:nvGrpSpPr>
      <p:grpSpPr>
        <a:xfrm>
          <a:off x="0" y="0"/>
          <a:ext cx="0" cy="0"/>
          <a:chOff x="0" y="0"/>
          <a:chExt cx="0" cy="0"/>
        </a:xfrm>
      </p:grpSpPr>
      <p:sp>
        <p:nvSpPr>
          <p:cNvPr id="102" name="Google Shape;102;p4:notes">
            <a:extLst>
              <a:ext uri="{FF2B5EF4-FFF2-40B4-BE49-F238E27FC236}">
                <a16:creationId xmlns:a16="http://schemas.microsoft.com/office/drawing/2014/main" id="{9F9A9928-EB3B-A0CB-A8B2-833E0BE0DE4A}"/>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103" name="Google Shape;103;p4:notes">
            <a:extLst>
              <a:ext uri="{FF2B5EF4-FFF2-40B4-BE49-F238E27FC236}">
                <a16:creationId xmlns:a16="http://schemas.microsoft.com/office/drawing/2014/main" id="{2F886030-430A-CD13-198A-249861A0BCDE}"/>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31586767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a:extLst>
            <a:ext uri="{FF2B5EF4-FFF2-40B4-BE49-F238E27FC236}">
              <a16:creationId xmlns:a16="http://schemas.microsoft.com/office/drawing/2014/main" id="{E3216BF9-23BA-A846-6AC4-60374A3F4344}"/>
            </a:ext>
          </a:extLst>
        </p:cNvPr>
        <p:cNvGrpSpPr/>
        <p:nvPr/>
      </p:nvGrpSpPr>
      <p:grpSpPr>
        <a:xfrm>
          <a:off x="0" y="0"/>
          <a:ext cx="0" cy="0"/>
          <a:chOff x="0" y="0"/>
          <a:chExt cx="0" cy="0"/>
        </a:xfrm>
      </p:grpSpPr>
      <p:sp>
        <p:nvSpPr>
          <p:cNvPr id="102" name="Google Shape;102;p4:notes">
            <a:extLst>
              <a:ext uri="{FF2B5EF4-FFF2-40B4-BE49-F238E27FC236}">
                <a16:creationId xmlns:a16="http://schemas.microsoft.com/office/drawing/2014/main" id="{AB6B1B9F-11B8-B436-8B12-B939F325097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103" name="Google Shape;103;p4:notes">
            <a:extLst>
              <a:ext uri="{FF2B5EF4-FFF2-40B4-BE49-F238E27FC236}">
                <a16:creationId xmlns:a16="http://schemas.microsoft.com/office/drawing/2014/main" id="{5773A874-CEC6-20A4-6359-7CE4097CD869}"/>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84254178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a:extLst>
            <a:ext uri="{FF2B5EF4-FFF2-40B4-BE49-F238E27FC236}">
              <a16:creationId xmlns:a16="http://schemas.microsoft.com/office/drawing/2014/main" id="{BAACE64F-5113-4E4F-9F44-16CB30750DEB}"/>
            </a:ext>
          </a:extLst>
        </p:cNvPr>
        <p:cNvGrpSpPr/>
        <p:nvPr/>
      </p:nvGrpSpPr>
      <p:grpSpPr>
        <a:xfrm>
          <a:off x="0" y="0"/>
          <a:ext cx="0" cy="0"/>
          <a:chOff x="0" y="0"/>
          <a:chExt cx="0" cy="0"/>
        </a:xfrm>
      </p:grpSpPr>
      <p:sp>
        <p:nvSpPr>
          <p:cNvPr id="102" name="Google Shape;102;p4:notes">
            <a:extLst>
              <a:ext uri="{FF2B5EF4-FFF2-40B4-BE49-F238E27FC236}">
                <a16:creationId xmlns:a16="http://schemas.microsoft.com/office/drawing/2014/main" id="{89D2FBE7-D333-BFDF-B616-FE57D94F92D5}"/>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103" name="Google Shape;103;p4:notes">
            <a:extLst>
              <a:ext uri="{FF2B5EF4-FFF2-40B4-BE49-F238E27FC236}">
                <a16:creationId xmlns:a16="http://schemas.microsoft.com/office/drawing/2014/main" id="{EDFD17AE-56DD-3063-9B86-74436E45F06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73016415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a:extLst>
            <a:ext uri="{FF2B5EF4-FFF2-40B4-BE49-F238E27FC236}">
              <a16:creationId xmlns:a16="http://schemas.microsoft.com/office/drawing/2014/main" id="{D761B983-BA12-0DF3-D948-7717D3457F21}"/>
            </a:ext>
          </a:extLst>
        </p:cNvPr>
        <p:cNvGrpSpPr/>
        <p:nvPr/>
      </p:nvGrpSpPr>
      <p:grpSpPr>
        <a:xfrm>
          <a:off x="0" y="0"/>
          <a:ext cx="0" cy="0"/>
          <a:chOff x="0" y="0"/>
          <a:chExt cx="0" cy="0"/>
        </a:xfrm>
      </p:grpSpPr>
      <p:sp>
        <p:nvSpPr>
          <p:cNvPr id="102" name="Google Shape;102;p4:notes">
            <a:extLst>
              <a:ext uri="{FF2B5EF4-FFF2-40B4-BE49-F238E27FC236}">
                <a16:creationId xmlns:a16="http://schemas.microsoft.com/office/drawing/2014/main" id="{3B2F893E-CB70-B929-0AA6-DECFF525CCDF}"/>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103" name="Google Shape;103;p4:notes">
            <a:extLst>
              <a:ext uri="{FF2B5EF4-FFF2-40B4-BE49-F238E27FC236}">
                <a16:creationId xmlns:a16="http://schemas.microsoft.com/office/drawing/2014/main" id="{6E800649-D1B1-B9F8-15EA-D50292213FAF}"/>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44733873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a:extLst>
            <a:ext uri="{FF2B5EF4-FFF2-40B4-BE49-F238E27FC236}">
              <a16:creationId xmlns:a16="http://schemas.microsoft.com/office/drawing/2014/main" id="{645383B1-9312-B851-812B-E36BB3C54BE9}"/>
            </a:ext>
          </a:extLst>
        </p:cNvPr>
        <p:cNvGrpSpPr/>
        <p:nvPr/>
      </p:nvGrpSpPr>
      <p:grpSpPr>
        <a:xfrm>
          <a:off x="0" y="0"/>
          <a:ext cx="0" cy="0"/>
          <a:chOff x="0" y="0"/>
          <a:chExt cx="0" cy="0"/>
        </a:xfrm>
      </p:grpSpPr>
      <p:sp>
        <p:nvSpPr>
          <p:cNvPr id="102" name="Google Shape;102;p4:notes">
            <a:extLst>
              <a:ext uri="{FF2B5EF4-FFF2-40B4-BE49-F238E27FC236}">
                <a16:creationId xmlns:a16="http://schemas.microsoft.com/office/drawing/2014/main" id="{C0E096D1-40FB-98B8-66DE-5303E5007A06}"/>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103" name="Google Shape;103;p4:notes">
            <a:extLst>
              <a:ext uri="{FF2B5EF4-FFF2-40B4-BE49-F238E27FC236}">
                <a16:creationId xmlns:a16="http://schemas.microsoft.com/office/drawing/2014/main" id="{4A2CEEF9-4A19-073D-58A7-79B730D0FC8C}"/>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94557104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a:extLst>
            <a:ext uri="{FF2B5EF4-FFF2-40B4-BE49-F238E27FC236}">
              <a16:creationId xmlns:a16="http://schemas.microsoft.com/office/drawing/2014/main" id="{852910DE-5003-A5D3-6AAC-CDE05E27067D}"/>
            </a:ext>
          </a:extLst>
        </p:cNvPr>
        <p:cNvGrpSpPr/>
        <p:nvPr/>
      </p:nvGrpSpPr>
      <p:grpSpPr>
        <a:xfrm>
          <a:off x="0" y="0"/>
          <a:ext cx="0" cy="0"/>
          <a:chOff x="0" y="0"/>
          <a:chExt cx="0" cy="0"/>
        </a:xfrm>
      </p:grpSpPr>
      <p:sp>
        <p:nvSpPr>
          <p:cNvPr id="102" name="Google Shape;102;p4:notes">
            <a:extLst>
              <a:ext uri="{FF2B5EF4-FFF2-40B4-BE49-F238E27FC236}">
                <a16:creationId xmlns:a16="http://schemas.microsoft.com/office/drawing/2014/main" id="{C256C1A5-4E7D-6844-0F78-4D616EAEF07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103" name="Google Shape;103;p4:notes">
            <a:extLst>
              <a:ext uri="{FF2B5EF4-FFF2-40B4-BE49-F238E27FC236}">
                <a16:creationId xmlns:a16="http://schemas.microsoft.com/office/drawing/2014/main" id="{5B29EB0A-7320-6CF2-3BA8-8FF6CE841B4C}"/>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72408843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a:extLst>
            <a:ext uri="{FF2B5EF4-FFF2-40B4-BE49-F238E27FC236}">
              <a16:creationId xmlns:a16="http://schemas.microsoft.com/office/drawing/2014/main" id="{A92F2260-0BCD-F38C-27BB-037863F65616}"/>
            </a:ext>
          </a:extLst>
        </p:cNvPr>
        <p:cNvGrpSpPr/>
        <p:nvPr/>
      </p:nvGrpSpPr>
      <p:grpSpPr>
        <a:xfrm>
          <a:off x="0" y="0"/>
          <a:ext cx="0" cy="0"/>
          <a:chOff x="0" y="0"/>
          <a:chExt cx="0" cy="0"/>
        </a:xfrm>
      </p:grpSpPr>
      <p:sp>
        <p:nvSpPr>
          <p:cNvPr id="102" name="Google Shape;102;p4:notes">
            <a:extLst>
              <a:ext uri="{FF2B5EF4-FFF2-40B4-BE49-F238E27FC236}">
                <a16:creationId xmlns:a16="http://schemas.microsoft.com/office/drawing/2014/main" id="{1A2C1EAB-BFD4-BE2A-636C-1EBF8DF56E68}"/>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103" name="Google Shape;103;p4:notes">
            <a:extLst>
              <a:ext uri="{FF2B5EF4-FFF2-40B4-BE49-F238E27FC236}">
                <a16:creationId xmlns:a16="http://schemas.microsoft.com/office/drawing/2014/main" id="{9F9A9B60-F4ED-F708-1B23-8FE2B082C41F}"/>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1915448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a:extLst>
            <a:ext uri="{FF2B5EF4-FFF2-40B4-BE49-F238E27FC236}">
              <a16:creationId xmlns:a16="http://schemas.microsoft.com/office/drawing/2014/main" id="{4E3B4396-AFBE-04CD-08D3-B9ECE54B448C}"/>
            </a:ext>
          </a:extLst>
        </p:cNvPr>
        <p:cNvGrpSpPr/>
        <p:nvPr/>
      </p:nvGrpSpPr>
      <p:grpSpPr>
        <a:xfrm>
          <a:off x="0" y="0"/>
          <a:ext cx="0" cy="0"/>
          <a:chOff x="0" y="0"/>
          <a:chExt cx="0" cy="0"/>
        </a:xfrm>
      </p:grpSpPr>
      <p:sp>
        <p:nvSpPr>
          <p:cNvPr id="102" name="Google Shape;102;p4:notes">
            <a:extLst>
              <a:ext uri="{FF2B5EF4-FFF2-40B4-BE49-F238E27FC236}">
                <a16:creationId xmlns:a16="http://schemas.microsoft.com/office/drawing/2014/main" id="{BE0749BA-F8AE-4096-EF41-8CA35F542891}"/>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103" name="Google Shape;103;p4:notes">
            <a:extLst>
              <a:ext uri="{FF2B5EF4-FFF2-40B4-BE49-F238E27FC236}">
                <a16:creationId xmlns:a16="http://schemas.microsoft.com/office/drawing/2014/main" id="{FFA4CD54-15F5-BBCD-7637-84B68A4EBFCF}"/>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63288490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a:extLst>
            <a:ext uri="{FF2B5EF4-FFF2-40B4-BE49-F238E27FC236}">
              <a16:creationId xmlns:a16="http://schemas.microsoft.com/office/drawing/2014/main" id="{179E3DE4-1997-8004-4E17-93DC5968E156}"/>
            </a:ext>
          </a:extLst>
        </p:cNvPr>
        <p:cNvGrpSpPr/>
        <p:nvPr/>
      </p:nvGrpSpPr>
      <p:grpSpPr>
        <a:xfrm>
          <a:off x="0" y="0"/>
          <a:ext cx="0" cy="0"/>
          <a:chOff x="0" y="0"/>
          <a:chExt cx="0" cy="0"/>
        </a:xfrm>
      </p:grpSpPr>
      <p:sp>
        <p:nvSpPr>
          <p:cNvPr id="102" name="Google Shape;102;p4:notes">
            <a:extLst>
              <a:ext uri="{FF2B5EF4-FFF2-40B4-BE49-F238E27FC236}">
                <a16:creationId xmlns:a16="http://schemas.microsoft.com/office/drawing/2014/main" id="{20781C86-E09A-F7FC-AAA0-57454F8E1BA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103" name="Google Shape;103;p4:notes">
            <a:extLst>
              <a:ext uri="{FF2B5EF4-FFF2-40B4-BE49-F238E27FC236}">
                <a16:creationId xmlns:a16="http://schemas.microsoft.com/office/drawing/2014/main" id="{EC5F588A-32AC-3756-8514-DB64ABD0A11A}"/>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380246056"/>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a:extLst>
            <a:ext uri="{FF2B5EF4-FFF2-40B4-BE49-F238E27FC236}">
              <a16:creationId xmlns:a16="http://schemas.microsoft.com/office/drawing/2014/main" id="{7D6DBF29-E5F2-F10B-B5EC-E630C2C2DB75}"/>
            </a:ext>
          </a:extLst>
        </p:cNvPr>
        <p:cNvGrpSpPr/>
        <p:nvPr/>
      </p:nvGrpSpPr>
      <p:grpSpPr>
        <a:xfrm>
          <a:off x="0" y="0"/>
          <a:ext cx="0" cy="0"/>
          <a:chOff x="0" y="0"/>
          <a:chExt cx="0" cy="0"/>
        </a:xfrm>
      </p:grpSpPr>
      <p:sp>
        <p:nvSpPr>
          <p:cNvPr id="102" name="Google Shape;102;p4:notes">
            <a:extLst>
              <a:ext uri="{FF2B5EF4-FFF2-40B4-BE49-F238E27FC236}">
                <a16:creationId xmlns:a16="http://schemas.microsoft.com/office/drawing/2014/main" id="{954A8F30-E1BA-8126-7551-454C0114B44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103" name="Google Shape;103;p4:notes">
            <a:extLst>
              <a:ext uri="{FF2B5EF4-FFF2-40B4-BE49-F238E27FC236}">
                <a16:creationId xmlns:a16="http://schemas.microsoft.com/office/drawing/2014/main" id="{1431A765-9946-EE3E-CB0E-6D439A09AFF7}"/>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319486677"/>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a:extLst>
            <a:ext uri="{FF2B5EF4-FFF2-40B4-BE49-F238E27FC236}">
              <a16:creationId xmlns:a16="http://schemas.microsoft.com/office/drawing/2014/main" id="{CE777D16-6AF6-F128-C001-ADAE43AA4D82}"/>
            </a:ext>
          </a:extLst>
        </p:cNvPr>
        <p:cNvGrpSpPr/>
        <p:nvPr/>
      </p:nvGrpSpPr>
      <p:grpSpPr>
        <a:xfrm>
          <a:off x="0" y="0"/>
          <a:ext cx="0" cy="0"/>
          <a:chOff x="0" y="0"/>
          <a:chExt cx="0" cy="0"/>
        </a:xfrm>
      </p:grpSpPr>
      <p:sp>
        <p:nvSpPr>
          <p:cNvPr id="102" name="Google Shape;102;p4:notes">
            <a:extLst>
              <a:ext uri="{FF2B5EF4-FFF2-40B4-BE49-F238E27FC236}">
                <a16:creationId xmlns:a16="http://schemas.microsoft.com/office/drawing/2014/main" id="{868E0A2F-621C-F772-04A3-58555E974B4B}"/>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103" name="Google Shape;103;p4:notes">
            <a:extLst>
              <a:ext uri="{FF2B5EF4-FFF2-40B4-BE49-F238E27FC236}">
                <a16:creationId xmlns:a16="http://schemas.microsoft.com/office/drawing/2014/main" id="{74F271BE-76C0-7154-6D7E-B18930396C6E}"/>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684190302"/>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7"/>
        <p:cNvGrpSpPr/>
        <p:nvPr/>
      </p:nvGrpSpPr>
      <p:grpSpPr>
        <a:xfrm>
          <a:off x="0" y="0"/>
          <a:ext cx="0" cy="0"/>
          <a:chOff x="0" y="0"/>
          <a:chExt cx="0" cy="0"/>
        </a:xfrm>
      </p:grpSpPr>
      <p:sp>
        <p:nvSpPr>
          <p:cNvPr id="108" name="Google Shape;108;p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9" name="Google Shape;109;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1"/>
        <p:cNvGrpSpPr/>
        <p:nvPr/>
      </p:nvGrpSpPr>
      <p:grpSpPr>
        <a:xfrm>
          <a:off x="0" y="0"/>
          <a:ext cx="0" cy="0"/>
          <a:chOff x="0" y="0"/>
          <a:chExt cx="0" cy="0"/>
        </a:xfrm>
      </p:grpSpPr>
      <p:sp>
        <p:nvSpPr>
          <p:cNvPr id="12" name="Google Shape;12;p7"/>
          <p:cNvSpPr txBox="1">
            <a:spLocks noGrp="1"/>
          </p:cNvSpPr>
          <p:nvPr>
            <p:ph type="ctrTitle"/>
          </p:nvPr>
        </p:nvSpPr>
        <p:spPr>
          <a:xfrm>
            <a:off x="1524000" y="1122363"/>
            <a:ext cx="9144000" cy="2387600"/>
          </a:xfrm>
          <a:prstGeom prst="rect">
            <a:avLst/>
          </a:prstGeom>
          <a:noFill/>
          <a:ln>
            <a:noFill/>
          </a:ln>
        </p:spPr>
        <p:txBody>
          <a:bodyPr spcFirstLastPara="1" wrap="square" lIns="91425" tIns="45700" rIns="91425" bIns="45700" anchor="b" anchorCtr="0">
            <a:normAutofit/>
          </a:bodyPr>
          <a:lstStyle>
            <a:lvl1pPr lvl="0" algn="ctr">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3" name="Google Shape;13;p7"/>
          <p:cNvSpPr txBox="1">
            <a:spLocks noGrp="1"/>
          </p:cNvSpPr>
          <p:nvPr>
            <p:ph type="subTitle" idx="1"/>
          </p:nvPr>
        </p:nvSpPr>
        <p:spPr>
          <a:xfrm>
            <a:off x="1524000" y="3602038"/>
            <a:ext cx="9144000" cy="1655762"/>
          </a:xfrm>
          <a:prstGeom prst="rect">
            <a:avLst/>
          </a:prstGeom>
          <a:noFill/>
          <a:ln>
            <a:noFill/>
          </a:ln>
        </p:spPr>
        <p:txBody>
          <a:bodyPr spcFirstLastPara="1" wrap="square" lIns="91425" tIns="45700" rIns="91425" bIns="45700" anchor="t" anchorCtr="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sp>
        <p:nvSpPr>
          <p:cNvPr id="14" name="Google Shape;14;p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5" name="Google Shape;15;p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6" name="Google Shape;16;p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17"/>
        <p:cNvGrpSpPr/>
        <p:nvPr/>
      </p:nvGrpSpPr>
      <p:grpSpPr>
        <a:xfrm>
          <a:off x="0" y="0"/>
          <a:ext cx="0" cy="0"/>
          <a:chOff x="0" y="0"/>
          <a:chExt cx="0" cy="0"/>
        </a:xfrm>
      </p:grpSpPr>
      <p:sp>
        <p:nvSpPr>
          <p:cNvPr id="18" name="Google Shape;18;p8"/>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9" name="Google Shape;19;p8"/>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0" name="Google Shape;20;p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1" name="Google Shape;21;p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2" name="Google Shape;22;p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3"/>
        <p:cNvGrpSpPr/>
        <p:nvPr/>
      </p:nvGrpSpPr>
      <p:grpSpPr>
        <a:xfrm>
          <a:off x="0" y="0"/>
          <a:ext cx="0" cy="0"/>
          <a:chOff x="0" y="0"/>
          <a:chExt cx="0" cy="0"/>
        </a:xfrm>
      </p:grpSpPr>
      <p:sp>
        <p:nvSpPr>
          <p:cNvPr id="24" name="Google Shape;24;p9"/>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5" name="Google Shape;25;p9"/>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888888"/>
              </a:buClr>
              <a:buSzPts val="2400"/>
              <a:buNone/>
              <a:defRPr sz="2400">
                <a:solidFill>
                  <a:srgbClr val="888888"/>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26" name="Google Shape;26;p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7" name="Google Shape;27;p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8" name="Google Shape;28;p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29"/>
        <p:cNvGrpSpPr/>
        <p:nvPr/>
      </p:nvGrpSpPr>
      <p:grpSpPr>
        <a:xfrm>
          <a:off x="0" y="0"/>
          <a:ext cx="0" cy="0"/>
          <a:chOff x="0" y="0"/>
          <a:chExt cx="0" cy="0"/>
        </a:xfrm>
      </p:grpSpPr>
      <p:sp>
        <p:nvSpPr>
          <p:cNvPr id="30" name="Google Shape;30;p10"/>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1" name="Google Shape;31;p10"/>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2" name="Google Shape;32;p10"/>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3" name="Google Shape;33;p1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4" name="Google Shape;34;p1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5" name="Google Shape;35;p1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36"/>
        <p:cNvGrpSpPr/>
        <p:nvPr/>
      </p:nvGrpSpPr>
      <p:grpSpPr>
        <a:xfrm>
          <a:off x="0" y="0"/>
          <a:ext cx="0" cy="0"/>
          <a:chOff x="0" y="0"/>
          <a:chExt cx="0" cy="0"/>
        </a:xfrm>
      </p:grpSpPr>
      <p:sp>
        <p:nvSpPr>
          <p:cNvPr id="37" name="Google Shape;37;p11"/>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8" name="Google Shape;38;p11"/>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39" name="Google Shape;39;p11"/>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0" name="Google Shape;40;p11"/>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41" name="Google Shape;41;p11"/>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2" name="Google Shape;42;p1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3" name="Google Shape;43;p1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4" name="Google Shape;44;p1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5"/>
        <p:cNvGrpSpPr/>
        <p:nvPr/>
      </p:nvGrpSpPr>
      <p:grpSpPr>
        <a:xfrm>
          <a:off x="0" y="0"/>
          <a:ext cx="0" cy="0"/>
          <a:chOff x="0" y="0"/>
          <a:chExt cx="0" cy="0"/>
        </a:xfrm>
      </p:grpSpPr>
      <p:sp>
        <p:nvSpPr>
          <p:cNvPr id="46" name="Google Shape;46;p12"/>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7" name="Google Shape;47;p1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8" name="Google Shape;48;p1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9" name="Google Shape;49;p1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0"/>
        <p:cNvGrpSpPr/>
        <p:nvPr/>
      </p:nvGrpSpPr>
      <p:grpSpPr>
        <a:xfrm>
          <a:off x="0" y="0"/>
          <a:ext cx="0" cy="0"/>
          <a:chOff x="0" y="0"/>
          <a:chExt cx="0" cy="0"/>
        </a:xfrm>
      </p:grpSpPr>
      <p:sp>
        <p:nvSpPr>
          <p:cNvPr id="51" name="Google Shape;51;p1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2" name="Google Shape;52;p1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3" name="Google Shape;53;p1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4"/>
        <p:cNvGrpSpPr/>
        <p:nvPr/>
      </p:nvGrpSpPr>
      <p:grpSpPr>
        <a:xfrm>
          <a:off x="0" y="0"/>
          <a:ext cx="0" cy="0"/>
          <a:chOff x="0" y="0"/>
          <a:chExt cx="0" cy="0"/>
        </a:xfrm>
      </p:grpSpPr>
      <p:sp>
        <p:nvSpPr>
          <p:cNvPr id="55" name="Google Shape;55;p14"/>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6" name="Google Shape;56;p14"/>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57" name="Google Shape;57;p14"/>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58" name="Google Shape;58;p1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9" name="Google Shape;59;p1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0" name="Google Shape;60;p1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1"/>
        <p:cNvGrpSpPr/>
        <p:nvPr/>
      </p:nvGrpSpPr>
      <p:grpSpPr>
        <a:xfrm>
          <a:off x="0" y="0"/>
          <a:ext cx="0" cy="0"/>
          <a:chOff x="0" y="0"/>
          <a:chExt cx="0" cy="0"/>
        </a:xfrm>
      </p:grpSpPr>
      <p:sp>
        <p:nvSpPr>
          <p:cNvPr id="62" name="Google Shape;62;p15"/>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3" name="Google Shape;63;p15"/>
          <p:cNvSpPr>
            <a:spLocks noGrp="1"/>
          </p:cNvSpPr>
          <p:nvPr>
            <p:ph type="pic" idx="2"/>
          </p:nvPr>
        </p:nvSpPr>
        <p:spPr>
          <a:xfrm>
            <a:off x="5183188" y="987425"/>
            <a:ext cx="6172200" cy="4873625"/>
          </a:xfrm>
          <a:prstGeom prst="rect">
            <a:avLst/>
          </a:prstGeom>
          <a:noFill/>
          <a:ln>
            <a:noFill/>
          </a:ln>
        </p:spPr>
      </p:sp>
      <p:sp>
        <p:nvSpPr>
          <p:cNvPr id="64" name="Google Shape;64;p15"/>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5" name="Google Shape;65;p1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6" name="Google Shape;66;p1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7" name="Google Shape;67;p1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68"/>
        <p:cNvGrpSpPr/>
        <p:nvPr/>
      </p:nvGrpSpPr>
      <p:grpSpPr>
        <a:xfrm>
          <a:off x="0" y="0"/>
          <a:ext cx="0" cy="0"/>
          <a:chOff x="0" y="0"/>
          <a:chExt cx="0" cy="0"/>
        </a:xfrm>
      </p:grpSpPr>
      <p:sp>
        <p:nvSpPr>
          <p:cNvPr id="69" name="Google Shape;69;p16"/>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0" name="Google Shape;70;p16"/>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1" name="Google Shape;71;p1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2" name="Google Shape;72;p1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3" name="Google Shape;73;p1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4"/>
        <p:cNvGrpSpPr/>
        <p:nvPr/>
      </p:nvGrpSpPr>
      <p:grpSpPr>
        <a:xfrm>
          <a:off x="0" y="0"/>
          <a:ext cx="0" cy="0"/>
          <a:chOff x="0" y="0"/>
          <a:chExt cx="0" cy="0"/>
        </a:xfrm>
      </p:grpSpPr>
      <p:sp>
        <p:nvSpPr>
          <p:cNvPr id="75" name="Google Shape;75;p17"/>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6" name="Google Shape;76;p17"/>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7" name="Google Shape;77;p1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8" name="Google Shape;78;p1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9" name="Google Shape;79;p1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6"/>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7" name="Google Shape;7;p6"/>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8" name="Google Shape;8;p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9" name="Google Shape;9;p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0" name="Google Shape;10;p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10.xml"/><Relationship Id="rId1" Type="http://schemas.openxmlformats.org/officeDocument/2006/relationships/slideLayout" Target="../slideLayouts/slideLayout2.xml"/><Relationship Id="rId4" Type="http://schemas.openxmlformats.org/officeDocument/2006/relationships/image" Target="../media/image3.jpeg"/></Relationships>
</file>

<file path=ppt/slides/_rels/slide11.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11.xml"/><Relationship Id="rId1" Type="http://schemas.openxmlformats.org/officeDocument/2006/relationships/slideLayout" Target="../slideLayouts/slideLayout2.xml"/><Relationship Id="rId4" Type="http://schemas.openxmlformats.org/officeDocument/2006/relationships/image" Target="../media/image4.jpeg"/></Relationships>
</file>

<file path=ppt/slides/_rels/slide12.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12.xml"/><Relationship Id="rId1" Type="http://schemas.openxmlformats.org/officeDocument/2006/relationships/slideLayout" Target="../slideLayouts/slideLayout2.xml"/><Relationship Id="rId4" Type="http://schemas.openxmlformats.org/officeDocument/2006/relationships/image" Target="../media/image5.jpeg"/></Relationships>
</file>

<file path=ppt/slides/_rels/slide13.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13.xml"/><Relationship Id="rId1" Type="http://schemas.openxmlformats.org/officeDocument/2006/relationships/slideLayout" Target="../slideLayouts/slideLayout2.xml"/><Relationship Id="rId4" Type="http://schemas.openxmlformats.org/officeDocument/2006/relationships/image" Target="../media/image6.jpeg"/></Relationships>
</file>

<file path=ppt/slides/_rels/slide14.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8" Type="http://schemas.openxmlformats.org/officeDocument/2006/relationships/hyperlink" Target="https://doi.org/10.3934/era.2024239" TargetMode="External"/><Relationship Id="rId3" Type="http://schemas.openxmlformats.org/officeDocument/2006/relationships/image" Target="../media/image2.jpg"/><Relationship Id="rId7" Type="http://schemas.openxmlformats.org/officeDocument/2006/relationships/hyperlink" Target="https://arxiv.org/abs/2210.01774" TargetMode="External"/><Relationship Id="rId2" Type="http://schemas.openxmlformats.org/officeDocument/2006/relationships/notesSlide" Target="../notesSlides/notesSlide15.xml"/><Relationship Id="rId1" Type="http://schemas.openxmlformats.org/officeDocument/2006/relationships/slideLayout" Target="../slideLayouts/slideLayout2.xml"/><Relationship Id="rId6" Type="http://schemas.openxmlformats.org/officeDocument/2006/relationships/hyperlink" Target="https://arxiv.org/abs/2207.02458" TargetMode="External"/><Relationship Id="rId5" Type="http://schemas.openxmlformats.org/officeDocument/2006/relationships/hyperlink" Target="https://www.semanticscholar.org/paper/Stock-Portfolio-Optimization-Using-a-Deep-Learning-Sen-Dutta" TargetMode="External"/><Relationship Id="rId4" Type="http://schemas.openxmlformats.org/officeDocument/2006/relationships/hyperlink" Target="https://arxiv.org/abs/2102.06233" TargetMode="External"/><Relationship Id="rId9" Type="http://schemas.openxmlformats.org/officeDocument/2006/relationships/hyperlink" Target="https://doi.org/10.4236/jmf.2024.143016" TargetMode="External"/></Relationships>
</file>

<file path=ppt/slides/_rels/slide16.xml.rels><?xml version="1.0" encoding="UTF-8" standalone="yes"?>
<Relationships xmlns="http://schemas.openxmlformats.org/package/2006/relationships"><Relationship Id="rId8" Type="http://schemas.openxmlformats.org/officeDocument/2006/relationships/hyperlink" Target="https://link.springer.com/article/10.1007/s10489-022-04217-5" TargetMode="External"/><Relationship Id="rId3" Type="http://schemas.openxmlformats.org/officeDocument/2006/relationships/image" Target="../media/image2.jpg"/><Relationship Id="rId7" Type="http://schemas.openxmlformats.org/officeDocument/2006/relationships/hyperlink" Target="https://pmc.ncbi.nlm.nih.gov/articles/PMC9283061/" TargetMode="External"/><Relationship Id="rId2" Type="http://schemas.openxmlformats.org/officeDocument/2006/relationships/notesSlide" Target="../notesSlides/notesSlide16.xml"/><Relationship Id="rId1" Type="http://schemas.openxmlformats.org/officeDocument/2006/relationships/slideLayout" Target="../slideLayouts/slideLayout2.xml"/><Relationship Id="rId6" Type="http://schemas.openxmlformats.org/officeDocument/2006/relationships/hyperlink" Target="https://faba.bg/index.php/faba/article/view/265" TargetMode="External"/><Relationship Id="rId5" Type="http://schemas.openxmlformats.org/officeDocument/2006/relationships/hyperlink" Target="https://arxiv.org/abs/2505.03760" TargetMode="External"/><Relationship Id="rId4" Type="http://schemas.openxmlformats.org/officeDocument/2006/relationships/hyperlink" Target="https://arxiv.org/abs/2307.09631" TargetMode="External"/></Relationships>
</file>

<file path=ppt/slides/_rels/slide17.xml.rels><?xml version="1.0" encoding="UTF-8" standalone="yes"?>
<Relationships xmlns="http://schemas.openxmlformats.org/package/2006/relationships"><Relationship Id="rId8" Type="http://schemas.openxmlformats.org/officeDocument/2006/relationships/hyperlink" Target="https://link.springer.com/article/10.1007/s44196-025-00875-8%20/" TargetMode="External"/><Relationship Id="rId3" Type="http://schemas.openxmlformats.org/officeDocument/2006/relationships/image" Target="../media/image2.jpg"/><Relationship Id="rId7" Type="http://schemas.openxmlformats.org/officeDocument/2006/relationships/hyperlink" Target="https://faba.bg/index.php/faba/article/view/265" TargetMode="External"/><Relationship Id="rId2" Type="http://schemas.openxmlformats.org/officeDocument/2006/relationships/notesSlide" Target="../notesSlides/notesSlide17.xml"/><Relationship Id="rId1" Type="http://schemas.openxmlformats.org/officeDocument/2006/relationships/slideLayout" Target="../slideLayouts/slideLayout2.xml"/><Relationship Id="rId6" Type="http://schemas.openxmlformats.org/officeDocument/2006/relationships/hyperlink" Target="https://www.mdpi.com/1911-8074/18/7/347" TargetMode="External"/><Relationship Id="rId5" Type="http://schemas.openxmlformats.org/officeDocument/2006/relationships/hyperlink" Target="https://www.ijcai.org/proceedings/2025/1054.pdf" TargetMode="External"/><Relationship Id="rId4" Type="http://schemas.openxmlformats.org/officeDocument/2006/relationships/hyperlink" Target="https://arxiv.org/abs/2301.07318" TargetMode="External"/></Relationships>
</file>

<file path=ppt/slides/_rels/slide18.xml.rels><?xml version="1.0" encoding="UTF-8" standalone="yes"?>
<Relationships xmlns="http://schemas.openxmlformats.org/package/2006/relationships"><Relationship Id="rId3" Type="http://schemas.openxmlformats.org/officeDocument/2006/relationships/image" Target="../media/image7.jp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83"/>
        <p:cNvGrpSpPr/>
        <p:nvPr/>
      </p:nvGrpSpPr>
      <p:grpSpPr>
        <a:xfrm>
          <a:off x="0" y="0"/>
          <a:ext cx="0" cy="0"/>
          <a:chOff x="0" y="0"/>
          <a:chExt cx="0" cy="0"/>
        </a:xfrm>
      </p:grpSpPr>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87"/>
        <p:cNvGrpSpPr/>
        <p:nvPr/>
      </p:nvGrpSpPr>
      <p:grpSpPr>
        <a:xfrm>
          <a:off x="0" y="0"/>
          <a:ext cx="0" cy="0"/>
          <a:chOff x="0" y="0"/>
          <a:chExt cx="0" cy="0"/>
        </a:xfrm>
      </p:grpSpPr>
      <p:sp>
        <p:nvSpPr>
          <p:cNvPr id="88" name="Google Shape;88;p2"/>
          <p:cNvSpPr txBox="1"/>
          <p:nvPr/>
        </p:nvSpPr>
        <p:spPr>
          <a:xfrm>
            <a:off x="2757000" y="3987458"/>
            <a:ext cx="6678000" cy="1292631"/>
          </a:xfrm>
          <a:prstGeom prst="rect">
            <a:avLst/>
          </a:prstGeom>
          <a:noFill/>
          <a:ln>
            <a:noFill/>
          </a:ln>
        </p:spPr>
        <p:txBody>
          <a:bodyPr spcFirstLastPara="1" wrap="square" lIns="91425" tIns="91425" rIns="91425" bIns="91425" anchor="t" anchorCtr="0">
            <a:spAutoFit/>
          </a:bodyPr>
          <a:lstStyle/>
          <a:p>
            <a:pPr marL="0" marR="0" lvl="0" indent="0" algn="ctr" rtl="0">
              <a:spcBef>
                <a:spcPts val="0"/>
              </a:spcBef>
              <a:spcAft>
                <a:spcPts val="0"/>
              </a:spcAft>
              <a:buNone/>
            </a:pPr>
            <a:r>
              <a:rPr lang="en-US" sz="1800" b="0" i="0" u="none" strike="noStrike" cap="none" dirty="0">
                <a:solidFill>
                  <a:schemeClr val="dk1"/>
                </a:solidFill>
                <a:latin typeface="Proxima Nova"/>
                <a:ea typeface="Proxima Nova"/>
                <a:cs typeface="Proxima Nova"/>
                <a:sym typeface="Proxima Nova"/>
              </a:rPr>
              <a:t>Team Member 1: </a:t>
            </a:r>
            <a:r>
              <a:rPr lang="en-US" sz="1800" dirty="0">
                <a:solidFill>
                  <a:schemeClr val="tx1"/>
                </a:solidFill>
                <a:latin typeface="Proxima Nova"/>
                <a:ea typeface="Proxima Nova"/>
                <a:cs typeface="Proxima Nova"/>
                <a:sym typeface="Proxima Nova"/>
              </a:rPr>
              <a:t>Raj Mungara</a:t>
            </a:r>
            <a:r>
              <a:rPr lang="en-US" sz="1800" b="0" i="0" u="none" strike="noStrike" cap="none" dirty="0">
                <a:solidFill>
                  <a:schemeClr val="tx1"/>
                </a:solidFill>
                <a:latin typeface="Proxima Nova"/>
                <a:ea typeface="Proxima Nova"/>
                <a:cs typeface="Proxima Nova"/>
                <a:sym typeface="Proxima Nova"/>
              </a:rPr>
              <a:t> (92200103223) </a:t>
            </a:r>
            <a:endParaRPr dirty="0">
              <a:solidFill>
                <a:schemeClr val="tx1"/>
              </a:solidFill>
            </a:endParaRPr>
          </a:p>
          <a:p>
            <a:pPr marL="0" marR="0" lvl="0" indent="0" algn="ctr" rtl="0">
              <a:spcBef>
                <a:spcPts val="0"/>
              </a:spcBef>
              <a:spcAft>
                <a:spcPts val="0"/>
              </a:spcAft>
              <a:buNone/>
            </a:pPr>
            <a:r>
              <a:rPr lang="en-US" sz="1800" b="0" i="0" u="none" strike="noStrike" cap="none" dirty="0">
                <a:solidFill>
                  <a:schemeClr val="tx1"/>
                </a:solidFill>
                <a:latin typeface="Proxima Nova"/>
                <a:ea typeface="Proxima Nova"/>
                <a:cs typeface="Proxima Nova"/>
                <a:sym typeface="Proxima Nova"/>
              </a:rPr>
              <a:t>Team Member 2: </a:t>
            </a:r>
            <a:r>
              <a:rPr lang="en-US" sz="1800" dirty="0">
                <a:solidFill>
                  <a:schemeClr val="tx1"/>
                </a:solidFill>
                <a:latin typeface="Proxima Nova"/>
                <a:ea typeface="Proxima Nova"/>
                <a:cs typeface="Proxima Nova"/>
                <a:sym typeface="Proxima Nova"/>
              </a:rPr>
              <a:t>Darshan Vasoya</a:t>
            </a:r>
            <a:r>
              <a:rPr lang="en-US" sz="1800" b="0" i="0" u="none" strike="noStrike" cap="none" dirty="0">
                <a:solidFill>
                  <a:schemeClr val="tx1"/>
                </a:solidFill>
                <a:latin typeface="Proxima Nova"/>
                <a:ea typeface="Proxima Nova"/>
                <a:cs typeface="Proxima Nova"/>
                <a:sym typeface="Proxima Nova"/>
              </a:rPr>
              <a:t> (</a:t>
            </a:r>
            <a:r>
              <a:rPr lang="en-US" sz="1800" dirty="0">
                <a:solidFill>
                  <a:schemeClr val="tx1"/>
                </a:solidFill>
                <a:latin typeface="Proxima Nova"/>
                <a:ea typeface="Proxima Nova"/>
                <a:cs typeface="Proxima Nova"/>
                <a:sym typeface="Proxima Nova"/>
              </a:rPr>
              <a:t>92200103199</a:t>
            </a:r>
            <a:r>
              <a:rPr lang="en-US" sz="1800" b="0" i="0" u="none" strike="noStrike" cap="none" dirty="0">
                <a:solidFill>
                  <a:schemeClr val="tx1"/>
                </a:solidFill>
                <a:latin typeface="Proxima Nova"/>
                <a:ea typeface="Proxima Nova"/>
                <a:cs typeface="Proxima Nova"/>
                <a:sym typeface="Proxima Nova"/>
              </a:rPr>
              <a:t>)</a:t>
            </a:r>
            <a:endParaRPr dirty="0">
              <a:solidFill>
                <a:schemeClr val="tx1"/>
              </a:solidFill>
            </a:endParaRPr>
          </a:p>
          <a:p>
            <a:pPr marL="0" marR="0" lvl="0" indent="0" algn="ctr" rtl="0">
              <a:spcBef>
                <a:spcPts val="0"/>
              </a:spcBef>
              <a:spcAft>
                <a:spcPts val="0"/>
              </a:spcAft>
              <a:buNone/>
            </a:pPr>
            <a:r>
              <a:rPr lang="en-US" sz="1800" b="0" i="0" u="none" strike="noStrike" cap="none" dirty="0">
                <a:solidFill>
                  <a:schemeClr val="tx1"/>
                </a:solidFill>
                <a:latin typeface="Proxima Nova"/>
                <a:ea typeface="Proxima Nova"/>
                <a:cs typeface="Proxima Nova"/>
                <a:sym typeface="Proxima Nova"/>
              </a:rPr>
              <a:t>Team Member 3: </a:t>
            </a:r>
            <a:r>
              <a:rPr lang="en-US" sz="1800" dirty="0">
                <a:solidFill>
                  <a:schemeClr val="tx1"/>
                </a:solidFill>
                <a:latin typeface="Proxima Nova"/>
                <a:ea typeface="Proxima Nova"/>
                <a:cs typeface="Proxima Nova"/>
                <a:sym typeface="Proxima Nova"/>
              </a:rPr>
              <a:t>Rupesh </a:t>
            </a:r>
            <a:r>
              <a:rPr lang="en-US" sz="1800" dirty="0" err="1">
                <a:solidFill>
                  <a:schemeClr val="tx1"/>
                </a:solidFill>
                <a:latin typeface="Proxima Nova"/>
                <a:ea typeface="Proxima Nova"/>
                <a:cs typeface="Proxima Nova"/>
                <a:sym typeface="Proxima Nova"/>
              </a:rPr>
              <a:t>Rudakiya</a:t>
            </a:r>
            <a:r>
              <a:rPr lang="en-US" sz="1800" b="0" i="0" u="none" strike="noStrike" cap="none" dirty="0">
                <a:solidFill>
                  <a:schemeClr val="tx1"/>
                </a:solidFill>
                <a:latin typeface="Proxima Nova"/>
                <a:ea typeface="Proxima Nova"/>
                <a:cs typeface="Proxima Nova"/>
                <a:sym typeface="Proxima Nova"/>
              </a:rPr>
              <a:t> (</a:t>
            </a:r>
            <a:r>
              <a:rPr lang="en-US" sz="1800" dirty="0">
                <a:solidFill>
                  <a:schemeClr val="tx1"/>
                </a:solidFill>
                <a:latin typeface="Proxima Nova"/>
                <a:ea typeface="Proxima Nova"/>
                <a:cs typeface="Proxima Nova"/>
                <a:sym typeface="Proxima Nova"/>
              </a:rPr>
              <a:t>92200103222</a:t>
            </a:r>
            <a:r>
              <a:rPr lang="en-US" sz="1800" b="0" i="0" u="none" strike="noStrike" cap="none" dirty="0">
                <a:solidFill>
                  <a:schemeClr val="tx1"/>
                </a:solidFill>
                <a:latin typeface="Proxima Nova"/>
                <a:ea typeface="Proxima Nova"/>
                <a:cs typeface="Proxima Nova"/>
                <a:sym typeface="Proxima Nova"/>
              </a:rPr>
              <a:t>)</a:t>
            </a:r>
            <a:endParaRPr dirty="0">
              <a:solidFill>
                <a:schemeClr val="tx1"/>
              </a:solidFill>
            </a:endParaRPr>
          </a:p>
          <a:p>
            <a:pPr marL="0" marR="0" lvl="0" indent="0" algn="ctr" rtl="0">
              <a:spcBef>
                <a:spcPts val="0"/>
              </a:spcBef>
              <a:spcAft>
                <a:spcPts val="0"/>
              </a:spcAft>
              <a:buNone/>
            </a:pPr>
            <a:endParaRPr sz="1800" b="0" i="0" u="none" strike="noStrike" cap="none" dirty="0">
              <a:solidFill>
                <a:schemeClr val="dk1"/>
              </a:solidFill>
              <a:latin typeface="Proxima Nova"/>
              <a:ea typeface="Proxima Nova"/>
              <a:cs typeface="Proxima Nova"/>
              <a:sym typeface="Proxima Nova"/>
            </a:endParaRPr>
          </a:p>
        </p:txBody>
      </p:sp>
      <p:sp>
        <p:nvSpPr>
          <p:cNvPr id="89" name="Google Shape;89;p2"/>
          <p:cNvSpPr txBox="1"/>
          <p:nvPr/>
        </p:nvSpPr>
        <p:spPr>
          <a:xfrm>
            <a:off x="2498099" y="2640478"/>
            <a:ext cx="7448005" cy="1213153"/>
          </a:xfrm>
          <a:prstGeom prst="rect">
            <a:avLst/>
          </a:prstGeom>
          <a:noFill/>
          <a:ln>
            <a:noFill/>
          </a:ln>
        </p:spPr>
        <p:txBody>
          <a:bodyPr spcFirstLastPara="1" wrap="square" lIns="0" tIns="12700" rIns="0" bIns="0" anchor="ctr" anchorCtr="0">
            <a:spAutoFit/>
          </a:bodyPr>
          <a:lstStyle/>
          <a:p>
            <a:pPr marL="12700" lvl="0" algn="ctr">
              <a:buClr>
                <a:srgbClr val="04A2B9"/>
              </a:buClr>
              <a:buSzPts val="2800"/>
            </a:pPr>
            <a:r>
              <a:rPr lang="en-US" sz="2800" dirty="0">
                <a:solidFill>
                  <a:srgbClr val="04A2B9"/>
                </a:solidFill>
                <a:latin typeface="Proxima Nova"/>
                <a:sym typeface="Proxima Nova"/>
              </a:rPr>
              <a:t>Data-Driven Portfolio Optimization using LSTM-GRU Forecasting and Deep Q-Learning </a:t>
            </a:r>
          </a:p>
          <a:p>
            <a:pPr marL="12700" lvl="0" algn="ctr">
              <a:buClr>
                <a:srgbClr val="04A2B9"/>
              </a:buClr>
              <a:buSzPts val="2800"/>
            </a:pPr>
            <a:r>
              <a:rPr lang="en-US" sz="2200" b="0" i="0" u="none" strike="noStrike" cap="none" dirty="0">
                <a:solidFill>
                  <a:srgbClr val="04A2B9"/>
                </a:solidFill>
                <a:latin typeface="Proxima Nova"/>
                <a:ea typeface="Proxima Nova"/>
                <a:cs typeface="Proxima Nova"/>
                <a:sym typeface="Proxima Nova"/>
              </a:rPr>
              <a:t>Team ID: 8PRO_184</a:t>
            </a:r>
            <a:endParaRPr lang="en-US" sz="2200" b="0" i="0" u="none" strike="noStrike" cap="none" dirty="0">
              <a:solidFill>
                <a:srgbClr val="FF0000"/>
              </a:solidFill>
              <a:latin typeface="Proxima Nova"/>
              <a:ea typeface="Proxima Nova"/>
              <a:cs typeface="Proxima Nova"/>
              <a:sym typeface="Proxima Nova"/>
            </a:endParaRPr>
          </a:p>
        </p:txBody>
      </p:sp>
      <p:sp>
        <p:nvSpPr>
          <p:cNvPr id="90" name="Google Shape;90;p2"/>
          <p:cNvSpPr txBox="1"/>
          <p:nvPr/>
        </p:nvSpPr>
        <p:spPr>
          <a:xfrm>
            <a:off x="5338138" y="4979497"/>
            <a:ext cx="1272300" cy="461700"/>
          </a:xfrm>
          <a:prstGeom prst="rect">
            <a:avLst/>
          </a:prstGeom>
          <a:noFill/>
          <a:ln>
            <a:noFill/>
          </a:ln>
        </p:spPr>
        <p:txBody>
          <a:bodyPr spcFirstLastPara="1" wrap="square" lIns="91425" tIns="91425" rIns="91425" bIns="91425" anchor="t" anchorCtr="0">
            <a:spAutoFit/>
          </a:bodyPr>
          <a:lstStyle/>
          <a:p>
            <a:pPr marL="0" marR="0" lvl="0" indent="0" algn="ctr" rtl="0">
              <a:spcBef>
                <a:spcPts val="0"/>
              </a:spcBef>
              <a:spcAft>
                <a:spcPts val="0"/>
              </a:spcAft>
              <a:buNone/>
            </a:pPr>
            <a:r>
              <a:rPr lang="en-US" sz="1800" b="0" i="0" u="none" strike="noStrike" cap="none" dirty="0">
                <a:solidFill>
                  <a:srgbClr val="595959"/>
                </a:solidFill>
                <a:latin typeface="Proxima Nova"/>
                <a:ea typeface="Proxima Nova"/>
                <a:cs typeface="Proxima Nova"/>
                <a:sym typeface="Proxima Nova"/>
              </a:rPr>
              <a:t>Guided By</a:t>
            </a:r>
            <a:endParaRPr dirty="0"/>
          </a:p>
        </p:txBody>
      </p:sp>
      <p:sp>
        <p:nvSpPr>
          <p:cNvPr id="91" name="Google Shape;91;p2"/>
          <p:cNvSpPr txBox="1"/>
          <p:nvPr/>
        </p:nvSpPr>
        <p:spPr>
          <a:xfrm>
            <a:off x="3118990" y="5290933"/>
            <a:ext cx="5742683" cy="461635"/>
          </a:xfrm>
          <a:prstGeom prst="rect">
            <a:avLst/>
          </a:prstGeom>
          <a:noFill/>
          <a:ln>
            <a:noFill/>
          </a:ln>
        </p:spPr>
        <p:txBody>
          <a:bodyPr spcFirstLastPara="1" wrap="square" lIns="91425" tIns="91425" rIns="91425" bIns="91425" anchor="t" anchorCtr="0">
            <a:spAutoFit/>
          </a:bodyPr>
          <a:lstStyle/>
          <a:p>
            <a:pPr marL="0" marR="0" lvl="0" indent="0" algn="ctr" rtl="0">
              <a:spcBef>
                <a:spcPts val="0"/>
              </a:spcBef>
              <a:spcAft>
                <a:spcPts val="0"/>
              </a:spcAft>
              <a:buNone/>
            </a:pPr>
            <a:r>
              <a:rPr lang="en-US" sz="1800" b="0" i="0" u="none" strike="noStrike" cap="none" dirty="0">
                <a:solidFill>
                  <a:schemeClr val="dk1"/>
                </a:solidFill>
                <a:latin typeface="Proxima Nova"/>
                <a:ea typeface="Proxima Nova"/>
                <a:cs typeface="Proxima Nova"/>
                <a:sym typeface="Proxima Nova"/>
              </a:rPr>
              <a:t>Internal Guide Name: </a:t>
            </a:r>
            <a:r>
              <a:rPr lang="en-US" sz="1800" dirty="0">
                <a:solidFill>
                  <a:schemeClr val="dk1"/>
                </a:solidFill>
                <a:latin typeface="Proxima Nova"/>
                <a:ea typeface="Proxima Nova"/>
                <a:cs typeface="Proxima Nova"/>
                <a:sym typeface="Proxima Nova"/>
              </a:rPr>
              <a:t>Rahul Jain</a:t>
            </a:r>
            <a:endParaRPr lang="en-US" sz="1800" b="0" i="0" u="none" strike="noStrike" cap="none" dirty="0">
              <a:solidFill>
                <a:schemeClr val="dk1"/>
              </a:solidFill>
              <a:latin typeface="Proxima Nova"/>
              <a:ea typeface="Proxima Nova"/>
              <a:cs typeface="Proxima Nova"/>
              <a:sym typeface="Proxima Nova"/>
            </a:endParaRPr>
          </a:p>
        </p:txBody>
      </p:sp>
      <p:sp>
        <p:nvSpPr>
          <p:cNvPr id="92" name="Google Shape;92;p2"/>
          <p:cNvSpPr txBox="1"/>
          <p:nvPr/>
        </p:nvSpPr>
        <p:spPr>
          <a:xfrm>
            <a:off x="3193926" y="5441197"/>
            <a:ext cx="3023400" cy="400200"/>
          </a:xfrm>
          <a:prstGeom prst="rect">
            <a:avLst/>
          </a:prstGeom>
          <a:noFill/>
          <a:ln>
            <a:noFill/>
          </a:ln>
        </p:spPr>
        <p:txBody>
          <a:bodyPr spcFirstLastPara="1" wrap="square" lIns="91425" tIns="91425" rIns="91425" bIns="91425" anchor="t" anchorCtr="0">
            <a:spAutoFit/>
          </a:bodyPr>
          <a:lstStyle/>
          <a:p>
            <a:pPr marL="0" marR="0" lvl="0" indent="0" algn="ctr" rtl="0">
              <a:spcBef>
                <a:spcPts val="0"/>
              </a:spcBef>
              <a:spcAft>
                <a:spcPts val="0"/>
              </a:spcAft>
              <a:buNone/>
            </a:pPr>
            <a:endParaRPr dirty="0"/>
          </a:p>
        </p:txBody>
      </p:sp>
      <p:sp>
        <p:nvSpPr>
          <p:cNvPr id="93" name="Google Shape;93;p2"/>
          <p:cNvSpPr txBox="1"/>
          <p:nvPr/>
        </p:nvSpPr>
        <p:spPr>
          <a:xfrm>
            <a:off x="2722290" y="1253792"/>
            <a:ext cx="6504000" cy="1533753"/>
          </a:xfrm>
          <a:prstGeom prst="rect">
            <a:avLst/>
          </a:prstGeom>
          <a:noFill/>
          <a:ln>
            <a:noFill/>
          </a:ln>
        </p:spPr>
        <p:txBody>
          <a:bodyPr spcFirstLastPara="1" wrap="square" lIns="0" tIns="12700" rIns="0" bIns="0" anchor="ctr" anchorCtr="0">
            <a:spAutoFit/>
          </a:bodyPr>
          <a:lstStyle/>
          <a:p>
            <a:pPr marL="12700" marR="0" lvl="0" indent="0" algn="ctr" rtl="0">
              <a:lnSpc>
                <a:spcPct val="100000"/>
              </a:lnSpc>
              <a:spcBef>
                <a:spcPts val="0"/>
              </a:spcBef>
              <a:spcAft>
                <a:spcPts val="0"/>
              </a:spcAft>
              <a:buClr>
                <a:srgbClr val="04A2B9"/>
              </a:buClr>
              <a:buSzPts val="2200"/>
              <a:buFont typeface="Proxima Nova"/>
              <a:buNone/>
            </a:pPr>
            <a:r>
              <a:rPr lang="en-US" sz="3200" b="1" i="0" u="none" strike="noStrike" cap="none" dirty="0">
                <a:solidFill>
                  <a:srgbClr val="04A2B9"/>
                </a:solidFill>
                <a:latin typeface="Proxima Nova"/>
                <a:ea typeface="Proxima Nova"/>
                <a:cs typeface="Proxima Nova"/>
                <a:sym typeface="Proxima Nova"/>
              </a:rPr>
              <a:t>Major Project-II </a:t>
            </a:r>
            <a:r>
              <a:rPr lang="en-US" sz="3200" b="1" i="0" u="none" strike="noStrike" cap="none">
                <a:solidFill>
                  <a:srgbClr val="04A2B9"/>
                </a:solidFill>
                <a:latin typeface="Proxima Nova"/>
                <a:ea typeface="Proxima Nova"/>
                <a:cs typeface="Proxima Nova"/>
                <a:sym typeface="Proxima Nova"/>
              </a:rPr>
              <a:t>(01CE0</a:t>
            </a:r>
            <a:r>
              <a:rPr lang="en-US" sz="3200" b="1">
                <a:solidFill>
                  <a:srgbClr val="04A2B9"/>
                </a:solidFill>
                <a:latin typeface="Proxima Nova"/>
                <a:ea typeface="Proxima Nova"/>
                <a:cs typeface="Proxima Nova"/>
                <a:sym typeface="Proxima Nova"/>
              </a:rPr>
              <a:t>807</a:t>
            </a:r>
            <a:r>
              <a:rPr lang="en-US" sz="3200" b="1" i="0" u="none" strike="noStrike" cap="none">
                <a:solidFill>
                  <a:srgbClr val="04A2B9"/>
                </a:solidFill>
                <a:latin typeface="Proxima Nova"/>
                <a:ea typeface="Proxima Nova"/>
                <a:cs typeface="Proxima Nova"/>
                <a:sym typeface="Proxima Nova"/>
              </a:rPr>
              <a:t>)</a:t>
            </a:r>
            <a:endParaRPr sz="3200" b="1" dirty="0"/>
          </a:p>
          <a:p>
            <a:pPr marL="12700" marR="0" lvl="0" indent="0" algn="ctr" rtl="0">
              <a:lnSpc>
                <a:spcPct val="100000"/>
              </a:lnSpc>
              <a:spcBef>
                <a:spcPts val="100"/>
              </a:spcBef>
              <a:spcAft>
                <a:spcPts val="0"/>
              </a:spcAft>
              <a:buClr>
                <a:srgbClr val="04A2B9"/>
              </a:buClr>
              <a:buSzPts val="2200"/>
              <a:buFont typeface="Proxima Nova"/>
              <a:buNone/>
            </a:pPr>
            <a:r>
              <a:rPr lang="en-US" sz="2200" b="0" i="0" u="none" strike="noStrike" cap="none" dirty="0">
                <a:solidFill>
                  <a:srgbClr val="04A2B9"/>
                </a:solidFill>
                <a:latin typeface="Proxima Nova"/>
                <a:ea typeface="Proxima Nova"/>
                <a:cs typeface="Proxima Nova"/>
                <a:sym typeface="Proxima Nova"/>
              </a:rPr>
              <a:t>Review 2</a:t>
            </a:r>
            <a:br>
              <a:rPr lang="en-US" sz="2200" b="0" i="0" u="none" strike="noStrike" cap="none" dirty="0">
                <a:solidFill>
                  <a:srgbClr val="04A2B9"/>
                </a:solidFill>
                <a:latin typeface="Proxima Nova"/>
                <a:ea typeface="Proxima Nova"/>
                <a:cs typeface="Proxima Nova"/>
                <a:sym typeface="Proxima Nova"/>
              </a:rPr>
            </a:br>
            <a:r>
              <a:rPr lang="en-US" sz="2200" b="0" i="0" u="none" strike="noStrike" cap="none" dirty="0">
                <a:solidFill>
                  <a:schemeClr val="tx1"/>
                </a:solidFill>
                <a:latin typeface="Proxima Nova"/>
                <a:ea typeface="Proxima Nova"/>
                <a:cs typeface="Proxima Nova"/>
                <a:sym typeface="Proxima Nova"/>
              </a:rPr>
              <a:t>(03/01/</a:t>
            </a:r>
            <a:r>
              <a:rPr lang="en-US" sz="2200" dirty="0">
                <a:solidFill>
                  <a:schemeClr val="tx1"/>
                </a:solidFill>
                <a:latin typeface="Proxima Nova"/>
                <a:ea typeface="Proxima Nova"/>
                <a:cs typeface="Proxima Nova"/>
                <a:sym typeface="Proxima Nova"/>
              </a:rPr>
              <a:t>2026</a:t>
            </a:r>
            <a:r>
              <a:rPr lang="en-US" sz="2200" b="0" i="0" u="none" strike="noStrike" cap="none" dirty="0">
                <a:solidFill>
                  <a:schemeClr val="tx1"/>
                </a:solidFill>
                <a:latin typeface="Proxima Nova"/>
                <a:ea typeface="Proxima Nova"/>
                <a:cs typeface="Proxima Nova"/>
                <a:sym typeface="Proxima Nova"/>
              </a:rPr>
              <a:t>)</a:t>
            </a:r>
            <a:br>
              <a:rPr lang="en-US" sz="2200" b="0" i="0" u="none" strike="noStrike" cap="none" dirty="0">
                <a:solidFill>
                  <a:srgbClr val="04A2B9"/>
                </a:solidFill>
                <a:latin typeface="Proxima Nova"/>
                <a:ea typeface="Proxima Nova"/>
                <a:cs typeface="Proxima Nova"/>
                <a:sym typeface="Proxima Nova"/>
              </a:rPr>
            </a:br>
            <a:endParaRPr sz="2200" b="0" i="0" u="none" strike="noStrike" cap="none" dirty="0">
              <a:solidFill>
                <a:schemeClr val="dk1"/>
              </a:solidFill>
              <a:latin typeface="Proxima Nova"/>
              <a:ea typeface="Proxima Nova"/>
              <a:cs typeface="Proxima Nova"/>
              <a:sym typeface="Proxima Nova"/>
            </a:endParaRPr>
          </a:p>
        </p:txBody>
      </p:sp>
      <p:sp>
        <p:nvSpPr>
          <p:cNvPr id="94" name="Google Shape;94;p2"/>
          <p:cNvSpPr txBox="1"/>
          <p:nvPr/>
        </p:nvSpPr>
        <p:spPr>
          <a:xfrm>
            <a:off x="1825598" y="5723497"/>
            <a:ext cx="8297381" cy="936154"/>
          </a:xfrm>
          <a:prstGeom prst="rect">
            <a:avLst/>
          </a:prstGeom>
          <a:noFill/>
          <a:ln>
            <a:noFill/>
          </a:ln>
        </p:spPr>
        <p:txBody>
          <a:bodyPr spcFirstLastPara="1" wrap="square" lIns="0" tIns="12700" rIns="0" bIns="0" anchor="ctr" anchorCtr="0">
            <a:spAutoFit/>
          </a:bodyPr>
          <a:lstStyle/>
          <a:p>
            <a:pPr marL="12700" marR="0" lvl="0" indent="0" algn="ctr" rtl="0">
              <a:lnSpc>
                <a:spcPct val="100000"/>
              </a:lnSpc>
              <a:spcBef>
                <a:spcPts val="0"/>
              </a:spcBef>
              <a:spcAft>
                <a:spcPts val="0"/>
              </a:spcAft>
              <a:buClr>
                <a:srgbClr val="04A2B9"/>
              </a:buClr>
              <a:buSzPts val="2400"/>
              <a:buFont typeface="Proxima Nova"/>
              <a:buNone/>
            </a:pPr>
            <a:r>
              <a:rPr lang="en-US" sz="2400" b="0" i="0" u="none" strike="noStrike" cap="none" dirty="0">
                <a:solidFill>
                  <a:srgbClr val="04A2B9"/>
                </a:solidFill>
                <a:latin typeface="Proxima Nova"/>
                <a:ea typeface="Proxima Nova"/>
                <a:cs typeface="Proxima Nova"/>
                <a:sym typeface="Proxima Nova"/>
              </a:rPr>
              <a:t>Department of Computer Engineering,</a:t>
            </a:r>
            <a:br>
              <a:rPr lang="en-US" sz="2400" b="0" i="0" u="none" strike="noStrike" cap="none" dirty="0">
                <a:solidFill>
                  <a:srgbClr val="04A2B9"/>
                </a:solidFill>
                <a:latin typeface="Proxima Nova"/>
                <a:ea typeface="Proxima Nova"/>
                <a:cs typeface="Proxima Nova"/>
                <a:sym typeface="Proxima Nova"/>
              </a:rPr>
            </a:br>
            <a:r>
              <a:rPr lang="en-US" sz="2400" b="0" i="0" u="none" strike="noStrike" cap="none" dirty="0">
                <a:solidFill>
                  <a:srgbClr val="04A2B9"/>
                </a:solidFill>
                <a:latin typeface="Proxima Nova"/>
                <a:ea typeface="Proxima Nova"/>
                <a:cs typeface="Proxima Nova"/>
                <a:sym typeface="Proxima Nova"/>
              </a:rPr>
              <a:t>Faculty of Engineering &amp; Technology</a:t>
            </a:r>
            <a:r>
              <a:rPr lang="en-US" sz="3600" b="0" i="0" u="none" strike="noStrike" cap="none" dirty="0">
                <a:solidFill>
                  <a:srgbClr val="04A2B9"/>
                </a:solidFill>
                <a:latin typeface="Proxima Nova"/>
                <a:ea typeface="Proxima Nova"/>
                <a:cs typeface="Proxima Nova"/>
                <a:sym typeface="Proxima Nova"/>
              </a:rPr>
              <a:t> </a:t>
            </a:r>
            <a:endParaRPr sz="3600" b="0" i="0" u="none" strike="noStrike" cap="none" dirty="0">
              <a:solidFill>
                <a:schemeClr val="dk1"/>
              </a:solidFill>
              <a:latin typeface="Proxima Nova"/>
              <a:ea typeface="Proxima Nova"/>
              <a:cs typeface="Proxima Nova"/>
              <a:sym typeface="Proxima Nova"/>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98"/>
        <p:cNvGrpSpPr/>
        <p:nvPr/>
      </p:nvGrpSpPr>
      <p:grpSpPr>
        <a:xfrm>
          <a:off x="0" y="0"/>
          <a:ext cx="0" cy="0"/>
          <a:chOff x="0" y="0"/>
          <a:chExt cx="0" cy="0"/>
        </a:xfrm>
      </p:grpSpPr>
      <p:sp>
        <p:nvSpPr>
          <p:cNvPr id="99" name="Google Shape;99;p3"/>
          <p:cNvSpPr txBox="1">
            <a:spLocks noGrp="1"/>
          </p:cNvSpPr>
          <p:nvPr>
            <p:ph type="title"/>
          </p:nvPr>
        </p:nvSpPr>
        <p:spPr>
          <a:xfrm>
            <a:off x="534259" y="309562"/>
            <a:ext cx="2320909" cy="382156"/>
          </a:xfrm>
          <a:prstGeom prst="rect">
            <a:avLst/>
          </a:prstGeom>
          <a:noFill/>
          <a:ln>
            <a:noFill/>
          </a:ln>
        </p:spPr>
        <p:txBody>
          <a:bodyPr spcFirstLastPara="1" wrap="square" lIns="0" tIns="12700" rIns="0" bIns="0" anchor="ctr" anchorCtr="0">
            <a:spAutoFit/>
          </a:bodyPr>
          <a:lstStyle/>
          <a:p>
            <a:pPr marL="12700" lvl="0" indent="0" algn="l" rtl="0">
              <a:lnSpc>
                <a:spcPct val="100000"/>
              </a:lnSpc>
              <a:spcBef>
                <a:spcPts val="0"/>
              </a:spcBef>
              <a:spcAft>
                <a:spcPts val="0"/>
              </a:spcAft>
              <a:buClr>
                <a:srgbClr val="04A2B9"/>
              </a:buClr>
              <a:buSzPts val="2400"/>
              <a:buFont typeface="Proxima Nova"/>
              <a:buNone/>
            </a:pPr>
            <a:r>
              <a:rPr lang="en-US" sz="2400" b="1" dirty="0">
                <a:solidFill>
                  <a:srgbClr val="04A2B9"/>
                </a:solidFill>
                <a:latin typeface="Proxima Nova"/>
                <a:ea typeface="Proxima Nova"/>
                <a:cs typeface="Proxima Nova"/>
                <a:sym typeface="Proxima Nova"/>
              </a:rPr>
              <a:t>Outline</a:t>
            </a:r>
            <a:endParaRPr sz="2400" b="1" dirty="0">
              <a:latin typeface="Proxima Nova"/>
              <a:ea typeface="Proxima Nova"/>
              <a:cs typeface="Proxima Nova"/>
              <a:sym typeface="Proxima Nova"/>
            </a:endParaRPr>
          </a:p>
        </p:txBody>
      </p:sp>
      <p:sp>
        <p:nvSpPr>
          <p:cNvPr id="100" name="Google Shape;100;p3"/>
          <p:cNvSpPr txBox="1"/>
          <p:nvPr/>
        </p:nvSpPr>
        <p:spPr>
          <a:xfrm>
            <a:off x="534259" y="1290582"/>
            <a:ext cx="8591100" cy="4370397"/>
          </a:xfrm>
          <a:prstGeom prst="rect">
            <a:avLst/>
          </a:prstGeom>
          <a:noFill/>
          <a:ln>
            <a:noFill/>
          </a:ln>
        </p:spPr>
        <p:txBody>
          <a:bodyPr spcFirstLastPara="1" wrap="square" lIns="91425" tIns="91425" rIns="91425" bIns="91425" anchor="t" anchorCtr="0">
            <a:spAutoFit/>
          </a:bodyPr>
          <a:lstStyle/>
          <a:p>
            <a:pPr marL="285750" marR="0" lvl="0" indent="-285750" algn="l" rtl="0">
              <a:spcBef>
                <a:spcPts val="0"/>
              </a:spcBef>
              <a:spcAft>
                <a:spcPts val="0"/>
              </a:spcAft>
              <a:buFont typeface="Arial" panose="020B0604020202020204" pitchFamily="34" charset="0"/>
              <a:buChar char="•"/>
            </a:pPr>
            <a:r>
              <a:rPr lang="en-US" sz="3200" dirty="0">
                <a:latin typeface="Proxima Nova" panose="020B0604020202020204" charset="0"/>
              </a:rPr>
              <a:t>Abstract </a:t>
            </a:r>
          </a:p>
          <a:p>
            <a:pPr marL="285750" marR="0" lvl="0" indent="-285750" algn="l" rtl="0">
              <a:spcBef>
                <a:spcPts val="0"/>
              </a:spcBef>
              <a:spcAft>
                <a:spcPts val="0"/>
              </a:spcAft>
              <a:buFont typeface="Arial" panose="020B0604020202020204" pitchFamily="34" charset="0"/>
              <a:buChar char="•"/>
            </a:pPr>
            <a:r>
              <a:rPr lang="en-US" sz="3200" dirty="0">
                <a:latin typeface="Proxima Nova" panose="020B0604020202020204" charset="0"/>
              </a:rPr>
              <a:t>Introduction </a:t>
            </a:r>
          </a:p>
          <a:p>
            <a:pPr marL="285750" marR="0" lvl="0" indent="-285750" algn="l" rtl="0">
              <a:spcBef>
                <a:spcPts val="0"/>
              </a:spcBef>
              <a:spcAft>
                <a:spcPts val="0"/>
              </a:spcAft>
              <a:buFont typeface="Arial" panose="020B0604020202020204" pitchFamily="34" charset="0"/>
              <a:buChar char="•"/>
            </a:pPr>
            <a:r>
              <a:rPr lang="en-US" sz="3200" dirty="0">
                <a:solidFill>
                  <a:schemeClr val="tx1"/>
                </a:solidFill>
                <a:latin typeface="Proxima Nova" panose="020B0604020202020204" charset="0"/>
                <a:cs typeface="Times New Roman" panose="02020603050405020304" pitchFamily="18" charset="0"/>
              </a:rPr>
              <a:t>Literature Review </a:t>
            </a:r>
            <a:endParaRPr lang="en-IN" sz="3200" dirty="0">
              <a:solidFill>
                <a:schemeClr val="tx1"/>
              </a:solidFill>
              <a:latin typeface="Proxima Nova" panose="020B0604020202020204" charset="0"/>
              <a:cs typeface="Times New Roman" panose="02020603050405020304" pitchFamily="18" charset="0"/>
            </a:endParaRPr>
          </a:p>
          <a:p>
            <a:pPr marL="285750" indent="-285750">
              <a:buFont typeface="Arial" panose="020B0604020202020204" pitchFamily="34" charset="0"/>
              <a:buChar char="•"/>
            </a:pPr>
            <a:r>
              <a:rPr lang="en-US" sz="3200" dirty="0">
                <a:solidFill>
                  <a:schemeClr val="dk1"/>
                </a:solidFill>
                <a:latin typeface="Proxima Nova"/>
                <a:sym typeface="Proxima Nova"/>
              </a:rPr>
              <a:t>Tools &amp; Technology</a:t>
            </a:r>
          </a:p>
          <a:p>
            <a:pPr marL="285750" indent="-285750">
              <a:buFont typeface="Arial" panose="020B0604020202020204" pitchFamily="34" charset="0"/>
              <a:buChar char="•"/>
            </a:pPr>
            <a:r>
              <a:rPr lang="en-US" sz="3200" dirty="0">
                <a:solidFill>
                  <a:schemeClr val="dk1"/>
                </a:solidFill>
                <a:latin typeface="Proxima Nova"/>
                <a:ea typeface="Proxima Nova"/>
                <a:cs typeface="Proxima Nova"/>
                <a:sym typeface="Proxima Nova"/>
              </a:rPr>
              <a:t>Methodology</a:t>
            </a:r>
          </a:p>
          <a:p>
            <a:pPr marL="285750" indent="-285750">
              <a:buFont typeface="Arial" panose="020B0604020202020204" pitchFamily="34" charset="0"/>
              <a:buChar char="•"/>
            </a:pPr>
            <a:r>
              <a:rPr lang="en-US" sz="3200" dirty="0">
                <a:solidFill>
                  <a:schemeClr val="dk1"/>
                </a:solidFill>
                <a:latin typeface="Proxima Nova"/>
                <a:ea typeface="Proxima Nova"/>
                <a:cs typeface="Proxima Nova"/>
                <a:sym typeface="Proxima Nova"/>
              </a:rPr>
              <a:t>Result</a:t>
            </a:r>
          </a:p>
          <a:p>
            <a:pPr marL="285750" indent="-285750">
              <a:buFont typeface="Arial" panose="020B0604020202020204" pitchFamily="34" charset="0"/>
              <a:buChar char="•"/>
            </a:pPr>
            <a:r>
              <a:rPr lang="en-US" sz="3200" dirty="0">
                <a:solidFill>
                  <a:schemeClr val="dk1"/>
                </a:solidFill>
                <a:latin typeface="Proxima Nova"/>
                <a:ea typeface="Proxima Nova"/>
                <a:cs typeface="Proxima Nova"/>
                <a:sym typeface="Proxima Nova"/>
              </a:rPr>
              <a:t>Conclusion</a:t>
            </a:r>
            <a:endParaRPr lang="en-US" sz="3200" dirty="0">
              <a:latin typeface="Proxima Nova" panose="020B0604020202020204" charset="0"/>
            </a:endParaRPr>
          </a:p>
          <a:p>
            <a:pPr marR="0" lvl="0" algn="l" rtl="0">
              <a:spcBef>
                <a:spcPts val="0"/>
              </a:spcBef>
              <a:spcAft>
                <a:spcPts val="0"/>
              </a:spcAft>
            </a:pPr>
            <a:r>
              <a:rPr lang="en-US" sz="3200" dirty="0">
                <a:latin typeface="Proxima Nova" panose="020B0604020202020204" charset="0"/>
              </a:rPr>
              <a:t> </a:t>
            </a:r>
            <a:endParaRPr sz="3200" dirty="0">
              <a:latin typeface="Proxima Nova" panose="020B0604020202020204" charset="0"/>
            </a:endParaRPr>
          </a:p>
          <a:p>
            <a:pPr marL="285750" marR="0" lvl="0" indent="-285750" algn="l" rtl="0">
              <a:spcBef>
                <a:spcPts val="0"/>
              </a:spcBef>
              <a:spcAft>
                <a:spcPts val="0"/>
              </a:spcAft>
              <a:buClr>
                <a:srgbClr val="000000"/>
              </a:buClr>
              <a:buSzPts val="1700"/>
              <a:buFont typeface="Arial" panose="020B0604020202020204" pitchFamily="34" charset="0"/>
              <a:buChar char="•"/>
            </a:pPr>
            <a:endParaRPr lang="en-US" sz="1600" dirty="0">
              <a:latin typeface="Proxima Nova" panose="020B0604020202020204"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98">
          <a:extLst>
            <a:ext uri="{FF2B5EF4-FFF2-40B4-BE49-F238E27FC236}">
              <a16:creationId xmlns:a16="http://schemas.microsoft.com/office/drawing/2014/main" id="{11A1FEC8-861B-ECFE-7233-A8CCFD86BEF6}"/>
            </a:ext>
          </a:extLst>
        </p:cNvPr>
        <p:cNvGrpSpPr/>
        <p:nvPr/>
      </p:nvGrpSpPr>
      <p:grpSpPr>
        <a:xfrm>
          <a:off x="0" y="0"/>
          <a:ext cx="0" cy="0"/>
          <a:chOff x="0" y="0"/>
          <a:chExt cx="0" cy="0"/>
        </a:xfrm>
      </p:grpSpPr>
      <p:sp>
        <p:nvSpPr>
          <p:cNvPr id="99" name="Google Shape;99;p3">
            <a:extLst>
              <a:ext uri="{FF2B5EF4-FFF2-40B4-BE49-F238E27FC236}">
                <a16:creationId xmlns:a16="http://schemas.microsoft.com/office/drawing/2014/main" id="{0C066620-76B2-4DA5-BF98-B320ABEB698F}"/>
              </a:ext>
            </a:extLst>
          </p:cNvPr>
          <p:cNvSpPr txBox="1">
            <a:spLocks noGrp="1"/>
          </p:cNvSpPr>
          <p:nvPr>
            <p:ph type="title"/>
          </p:nvPr>
        </p:nvSpPr>
        <p:spPr>
          <a:xfrm>
            <a:off x="534259" y="309562"/>
            <a:ext cx="2320909" cy="382156"/>
          </a:xfrm>
          <a:prstGeom prst="rect">
            <a:avLst/>
          </a:prstGeom>
          <a:noFill/>
          <a:ln>
            <a:noFill/>
          </a:ln>
        </p:spPr>
        <p:txBody>
          <a:bodyPr spcFirstLastPara="1" wrap="square" lIns="0" tIns="12700" rIns="0" bIns="0" anchor="ctr" anchorCtr="0">
            <a:spAutoFit/>
          </a:bodyPr>
          <a:lstStyle/>
          <a:p>
            <a:pPr marL="12700" lvl="0" indent="0" algn="l" rtl="0">
              <a:lnSpc>
                <a:spcPct val="100000"/>
              </a:lnSpc>
              <a:spcBef>
                <a:spcPts val="0"/>
              </a:spcBef>
              <a:spcAft>
                <a:spcPts val="0"/>
              </a:spcAft>
              <a:buClr>
                <a:srgbClr val="04A2B9"/>
              </a:buClr>
              <a:buSzPts val="2400"/>
              <a:buFont typeface="Proxima Nova"/>
              <a:buNone/>
            </a:pPr>
            <a:r>
              <a:rPr lang="en-US" sz="2400" b="1" dirty="0">
                <a:solidFill>
                  <a:srgbClr val="04A2B9"/>
                </a:solidFill>
                <a:latin typeface="Proxima Nova"/>
                <a:ea typeface="Proxima Nova"/>
                <a:cs typeface="Proxima Nova"/>
                <a:sym typeface="Proxima Nova"/>
              </a:rPr>
              <a:t>Abstract </a:t>
            </a:r>
            <a:endParaRPr sz="2400" b="1" dirty="0">
              <a:latin typeface="Proxima Nova"/>
              <a:ea typeface="Proxima Nova"/>
              <a:cs typeface="Proxima Nova"/>
              <a:sym typeface="Proxima Nova"/>
            </a:endParaRPr>
          </a:p>
        </p:txBody>
      </p:sp>
      <p:sp>
        <p:nvSpPr>
          <p:cNvPr id="5" name="TextBox 4">
            <a:extLst>
              <a:ext uri="{FF2B5EF4-FFF2-40B4-BE49-F238E27FC236}">
                <a16:creationId xmlns:a16="http://schemas.microsoft.com/office/drawing/2014/main" id="{9809BEB5-A805-2CE4-CE28-D252BF98C2BF}"/>
              </a:ext>
            </a:extLst>
          </p:cNvPr>
          <p:cNvSpPr txBox="1"/>
          <p:nvPr/>
        </p:nvSpPr>
        <p:spPr>
          <a:xfrm>
            <a:off x="534259" y="1188929"/>
            <a:ext cx="10763006" cy="4207690"/>
          </a:xfrm>
          <a:prstGeom prst="rect">
            <a:avLst/>
          </a:prstGeom>
          <a:noFill/>
        </p:spPr>
        <p:txBody>
          <a:bodyPr wrap="square" lIns="91440" tIns="45720" rIns="91440" bIns="45720" anchor="t">
            <a:spAutoFit/>
          </a:bodyPr>
          <a:lstStyle/>
          <a:p>
            <a:pPr marL="342900" indent="-342900" algn="just">
              <a:lnSpc>
                <a:spcPct val="150000"/>
              </a:lnSpc>
              <a:buFont typeface="Arial" panose="020B0604020202020204" pitchFamily="34" charset="0"/>
              <a:buChar char="•"/>
            </a:pPr>
            <a:r>
              <a:rPr lang="en-US" sz="1800" dirty="0"/>
              <a:t>This project proposes a hybrid deep learning and reinforcement learning framework for intelligent portfolio optimization in dynamic financial markets. The LSTM–GRU hybrid model is employed for accurate forecasting of stock price movements and volatility patterns by learning temporal dependencies from historical financial data. The predicted insights are then utilized by a Deep Q-Learning (DQL) agent to optimize asset allocation strategies in a simulated trading environment. The agent continuously learns reward-maximizing policies by balancing expected returns with risk exposure, leading to adaptive and data-driven portfolio management. This synergistic integration of sequential modeling and reinforcement-based decision optimization enables robust, self-learning financial systems capable of outperforming static investment strategies in uncertain market conditions.</a:t>
            </a:r>
            <a:endParaRPr lang="en-US" sz="1800" dirty="0">
              <a:latin typeface="Proxima Nova"/>
              <a:cs typeface="Times New Roman"/>
            </a:endParaRPr>
          </a:p>
        </p:txBody>
      </p:sp>
    </p:spTree>
    <p:extLst>
      <p:ext uri="{BB962C8B-B14F-4D97-AF65-F5344CB8AC3E}">
        <p14:creationId xmlns:p14="http://schemas.microsoft.com/office/powerpoint/2010/main" val="82740618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104"/>
        <p:cNvGrpSpPr/>
        <p:nvPr/>
      </p:nvGrpSpPr>
      <p:grpSpPr>
        <a:xfrm>
          <a:off x="0" y="0"/>
          <a:ext cx="0" cy="0"/>
          <a:chOff x="0" y="0"/>
          <a:chExt cx="0" cy="0"/>
        </a:xfrm>
      </p:grpSpPr>
      <p:sp>
        <p:nvSpPr>
          <p:cNvPr id="105" name="Google Shape;105;p4"/>
          <p:cNvSpPr txBox="1">
            <a:spLocks noGrp="1"/>
          </p:cNvSpPr>
          <p:nvPr>
            <p:ph type="title"/>
          </p:nvPr>
        </p:nvSpPr>
        <p:spPr>
          <a:xfrm>
            <a:off x="534259" y="309562"/>
            <a:ext cx="2320909" cy="382156"/>
          </a:xfrm>
          <a:prstGeom prst="rect">
            <a:avLst/>
          </a:prstGeom>
          <a:noFill/>
          <a:ln>
            <a:noFill/>
          </a:ln>
        </p:spPr>
        <p:txBody>
          <a:bodyPr spcFirstLastPara="1" wrap="square" lIns="0" tIns="12700" rIns="0" bIns="0" anchor="ctr" anchorCtr="0">
            <a:spAutoFit/>
          </a:bodyPr>
          <a:lstStyle/>
          <a:p>
            <a:pPr marL="12700" lvl="0" indent="0" algn="l" rtl="0">
              <a:lnSpc>
                <a:spcPct val="100000"/>
              </a:lnSpc>
              <a:spcBef>
                <a:spcPts val="0"/>
              </a:spcBef>
              <a:spcAft>
                <a:spcPts val="0"/>
              </a:spcAft>
              <a:buClr>
                <a:srgbClr val="04A2B9"/>
              </a:buClr>
              <a:buSzPts val="2400"/>
              <a:buFont typeface="Proxima Nova"/>
              <a:buNone/>
            </a:pPr>
            <a:r>
              <a:rPr lang="en-US" sz="2400" b="1" dirty="0">
                <a:solidFill>
                  <a:srgbClr val="04A2B9"/>
                </a:solidFill>
                <a:latin typeface="Proxima Nova"/>
                <a:ea typeface="Proxima Nova"/>
                <a:cs typeface="Proxima Nova"/>
                <a:sym typeface="Proxima Nova"/>
              </a:rPr>
              <a:t>Introduction</a:t>
            </a:r>
            <a:endParaRPr sz="2400" b="1" dirty="0">
              <a:latin typeface="Proxima Nova"/>
              <a:ea typeface="Proxima Nova"/>
              <a:cs typeface="Proxima Nova"/>
              <a:sym typeface="Proxima Nova"/>
            </a:endParaRPr>
          </a:p>
        </p:txBody>
      </p:sp>
      <p:sp>
        <p:nvSpPr>
          <p:cNvPr id="106" name="Google Shape;106;p4"/>
          <p:cNvSpPr txBox="1"/>
          <p:nvPr/>
        </p:nvSpPr>
        <p:spPr>
          <a:xfrm>
            <a:off x="351145" y="855131"/>
            <a:ext cx="11103435" cy="6278612"/>
          </a:xfrm>
          <a:prstGeom prst="rect">
            <a:avLst/>
          </a:prstGeom>
          <a:noFill/>
          <a:ln>
            <a:noFill/>
          </a:ln>
        </p:spPr>
        <p:txBody>
          <a:bodyPr spcFirstLastPara="1" wrap="square" lIns="91425" tIns="91425" rIns="91425" bIns="91425" anchor="t" anchorCtr="0">
            <a:spAutoFit/>
          </a:bodyPr>
          <a:lstStyle/>
          <a:p>
            <a:pPr algn="just">
              <a:lnSpc>
                <a:spcPct val="200000"/>
              </a:lnSpc>
              <a:buFont typeface="Arial" panose="020B0604020202020204" pitchFamily="34" charset="0"/>
              <a:buChar char="•"/>
            </a:pPr>
            <a:r>
              <a:rPr lang="en-US" sz="1800" dirty="0">
                <a:ea typeface="Calibri"/>
              </a:rPr>
              <a:t>In today’s world, the stock market changes very quickly and is hard to predict.</a:t>
            </a:r>
            <a:endParaRPr lang="en-US" sz="1800" dirty="0">
              <a:latin typeface="Times New Roman"/>
              <a:ea typeface="Calibri"/>
              <a:cs typeface="Times New Roman"/>
            </a:endParaRPr>
          </a:p>
          <a:p>
            <a:pPr algn="just">
              <a:lnSpc>
                <a:spcPct val="200000"/>
              </a:lnSpc>
              <a:buFont typeface="Arial" panose="020B0604020202020204" pitchFamily="34" charset="0"/>
              <a:buChar char="•"/>
            </a:pPr>
            <a:r>
              <a:rPr lang="en-US" sz="1800" dirty="0">
                <a:ea typeface="Calibri"/>
              </a:rPr>
              <a:t>Traditional investment methods do not adapt well to these market changes.</a:t>
            </a:r>
            <a:endParaRPr lang="en-US" dirty="0"/>
          </a:p>
          <a:p>
            <a:pPr algn="just">
              <a:lnSpc>
                <a:spcPct val="200000"/>
              </a:lnSpc>
              <a:buFont typeface="Arial" panose="020B0604020202020204" pitchFamily="34" charset="0"/>
              <a:buChar char="•"/>
            </a:pPr>
            <a:r>
              <a:rPr lang="en-US" sz="1800" dirty="0">
                <a:ea typeface="Calibri"/>
              </a:rPr>
              <a:t>Our project focuses on creating a smart, data-driven system that can make better investment decisions automatically.</a:t>
            </a:r>
            <a:endParaRPr lang="en-US" dirty="0"/>
          </a:p>
          <a:p>
            <a:pPr algn="just">
              <a:lnSpc>
                <a:spcPct val="200000"/>
              </a:lnSpc>
              <a:buFont typeface="Arial" panose="020B0604020202020204" pitchFamily="34" charset="0"/>
              <a:buChar char="•"/>
            </a:pPr>
            <a:r>
              <a:rPr lang="en-US" sz="1800" dirty="0">
                <a:ea typeface="Calibri"/>
              </a:rPr>
              <a:t>We use LSTM and GRU models to study past stock data and predict future prices and trends.</a:t>
            </a:r>
            <a:endParaRPr lang="en-US" dirty="0"/>
          </a:p>
          <a:p>
            <a:pPr algn="just">
              <a:lnSpc>
                <a:spcPct val="200000"/>
              </a:lnSpc>
              <a:buFont typeface="Arial" panose="020B0604020202020204" pitchFamily="34" charset="0"/>
              <a:buChar char="•"/>
            </a:pPr>
            <a:r>
              <a:rPr lang="en-US" sz="1800" dirty="0">
                <a:ea typeface="Calibri"/>
              </a:rPr>
              <a:t>Then, a Deep Q-Learning agent uses these predictions to decide how much to invest in each stock.</a:t>
            </a:r>
            <a:endParaRPr lang="en-US" dirty="0"/>
          </a:p>
          <a:p>
            <a:pPr algn="just">
              <a:lnSpc>
                <a:spcPct val="200000"/>
              </a:lnSpc>
              <a:buFont typeface="Arial" panose="020B0604020202020204" pitchFamily="34" charset="0"/>
              <a:buChar char="•"/>
            </a:pPr>
            <a:r>
              <a:rPr lang="en-US" sz="1800" dirty="0">
                <a:ea typeface="Calibri"/>
              </a:rPr>
              <a:t>The system keeps learning from past results, improving its decisions over time.</a:t>
            </a:r>
            <a:endParaRPr lang="en-US" dirty="0"/>
          </a:p>
          <a:p>
            <a:pPr algn="just">
              <a:lnSpc>
                <a:spcPct val="200000"/>
              </a:lnSpc>
              <a:buFont typeface="Arial" panose="020B0604020202020204" pitchFamily="34" charset="0"/>
              <a:buChar char="•"/>
            </a:pPr>
            <a:r>
              <a:rPr lang="en-US" sz="1800" dirty="0">
                <a:ea typeface="Calibri"/>
              </a:rPr>
              <a:t>This helps investors get higher returns with lower risk compared to fixed or manual strategies.</a:t>
            </a:r>
            <a:endParaRPr lang="en-US" dirty="0"/>
          </a:p>
          <a:p>
            <a:pPr algn="just">
              <a:lnSpc>
                <a:spcPct val="200000"/>
              </a:lnSpc>
              <a:buFont typeface="Arial" panose="020B0604020202020204" pitchFamily="34" charset="0"/>
              <a:buChar char="•"/>
            </a:pPr>
            <a:r>
              <a:rPr lang="en-US" sz="1800" dirty="0">
                <a:ea typeface="Calibri"/>
              </a:rPr>
              <a:t>In short, our project combines deep learning and reinforcement learning to build an intelligent portfolio optimization model.</a:t>
            </a:r>
            <a:endParaRPr lang="en-US" dirty="0"/>
          </a:p>
          <a:p>
            <a:pPr algn="just">
              <a:lnSpc>
                <a:spcPct val="200000"/>
              </a:lnSpc>
              <a:buFont typeface="Arial" panose="020B0604020202020204" pitchFamily="34" charset="0"/>
              <a:buChar char="•"/>
            </a:pPr>
            <a:endParaRPr lang="en-US" sz="1800" dirty="0">
              <a:ea typeface="Calibri"/>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104"/>
        <p:cNvGrpSpPr/>
        <p:nvPr/>
      </p:nvGrpSpPr>
      <p:grpSpPr>
        <a:xfrm>
          <a:off x="0" y="0"/>
          <a:ext cx="0" cy="0"/>
          <a:chOff x="0" y="0"/>
          <a:chExt cx="0" cy="0"/>
        </a:xfrm>
      </p:grpSpPr>
      <p:sp>
        <p:nvSpPr>
          <p:cNvPr id="105" name="Google Shape;105;p4"/>
          <p:cNvSpPr txBox="1">
            <a:spLocks noGrp="1"/>
          </p:cNvSpPr>
          <p:nvPr>
            <p:ph type="title"/>
          </p:nvPr>
        </p:nvSpPr>
        <p:spPr>
          <a:xfrm>
            <a:off x="534259" y="309562"/>
            <a:ext cx="2503909" cy="382156"/>
          </a:xfrm>
          <a:prstGeom prst="rect">
            <a:avLst/>
          </a:prstGeom>
          <a:noFill/>
          <a:ln>
            <a:noFill/>
          </a:ln>
        </p:spPr>
        <p:txBody>
          <a:bodyPr spcFirstLastPara="1" wrap="square" lIns="0" tIns="12700" rIns="0" bIns="0" anchor="ctr" anchorCtr="0">
            <a:spAutoFit/>
          </a:bodyPr>
          <a:lstStyle/>
          <a:p>
            <a:pPr marL="12700" lvl="0">
              <a:lnSpc>
                <a:spcPct val="100000"/>
              </a:lnSpc>
              <a:buClr>
                <a:srgbClr val="04A2B9"/>
              </a:buClr>
              <a:buSzPts val="2400"/>
            </a:pPr>
            <a:r>
              <a:rPr lang="en-US" sz="2400" b="1">
                <a:solidFill>
                  <a:srgbClr val="04A2B9"/>
                </a:solidFill>
                <a:latin typeface="Proxima Nova"/>
                <a:ea typeface="Proxima Nova"/>
                <a:cs typeface="Proxima Nova"/>
                <a:sym typeface="Proxima Nova"/>
              </a:rPr>
              <a:t>Literature Review</a:t>
            </a:r>
            <a:endParaRPr lang="en-US" sz="2400" b="1" dirty="0">
              <a:latin typeface="Proxima Nova"/>
              <a:ea typeface="Proxima Nova"/>
              <a:cs typeface="Proxima Nova"/>
              <a:sym typeface="Proxima Nova"/>
            </a:endParaRPr>
          </a:p>
        </p:txBody>
      </p:sp>
      <p:graphicFrame>
        <p:nvGraphicFramePr>
          <p:cNvPr id="4" name="Table 3">
            <a:extLst>
              <a:ext uri="{FF2B5EF4-FFF2-40B4-BE49-F238E27FC236}">
                <a16:creationId xmlns:a16="http://schemas.microsoft.com/office/drawing/2014/main" id="{44674E08-86ED-37D4-93BE-AFD170BEC43B}"/>
              </a:ext>
            </a:extLst>
          </p:cNvPr>
          <p:cNvGraphicFramePr>
            <a:graphicFrameLocks noGrp="1"/>
          </p:cNvGraphicFramePr>
          <p:nvPr>
            <p:extLst>
              <p:ext uri="{D42A27DB-BD31-4B8C-83A1-F6EECF244321}">
                <p14:modId xmlns:p14="http://schemas.microsoft.com/office/powerpoint/2010/main" val="3472094890"/>
              </p:ext>
            </p:extLst>
          </p:nvPr>
        </p:nvGraphicFramePr>
        <p:xfrm>
          <a:off x="304799" y="1187116"/>
          <a:ext cx="11197388" cy="5361322"/>
        </p:xfrm>
        <a:graphic>
          <a:graphicData uri="http://schemas.openxmlformats.org/drawingml/2006/table">
            <a:tbl>
              <a:tblPr/>
              <a:tblGrid>
                <a:gridCol w="1437405">
                  <a:extLst>
                    <a:ext uri="{9D8B030D-6E8A-4147-A177-3AD203B41FA5}">
                      <a16:colId xmlns:a16="http://schemas.microsoft.com/office/drawing/2014/main" val="4274672826"/>
                    </a:ext>
                  </a:extLst>
                </a:gridCol>
                <a:gridCol w="804947">
                  <a:extLst>
                    <a:ext uri="{9D8B030D-6E8A-4147-A177-3AD203B41FA5}">
                      <a16:colId xmlns:a16="http://schemas.microsoft.com/office/drawing/2014/main" val="1585916658"/>
                    </a:ext>
                  </a:extLst>
                </a:gridCol>
                <a:gridCol w="1164298">
                  <a:extLst>
                    <a:ext uri="{9D8B030D-6E8A-4147-A177-3AD203B41FA5}">
                      <a16:colId xmlns:a16="http://schemas.microsoft.com/office/drawing/2014/main" val="1238621380"/>
                    </a:ext>
                  </a:extLst>
                </a:gridCol>
                <a:gridCol w="2170482">
                  <a:extLst>
                    <a:ext uri="{9D8B030D-6E8A-4147-A177-3AD203B41FA5}">
                      <a16:colId xmlns:a16="http://schemas.microsoft.com/office/drawing/2014/main" val="3637623084"/>
                    </a:ext>
                  </a:extLst>
                </a:gridCol>
                <a:gridCol w="1250543">
                  <a:extLst>
                    <a:ext uri="{9D8B030D-6E8A-4147-A177-3AD203B41FA5}">
                      <a16:colId xmlns:a16="http://schemas.microsoft.com/office/drawing/2014/main" val="1009279044"/>
                    </a:ext>
                  </a:extLst>
                </a:gridCol>
                <a:gridCol w="1566772">
                  <a:extLst>
                    <a:ext uri="{9D8B030D-6E8A-4147-A177-3AD203B41FA5}">
                      <a16:colId xmlns:a16="http://schemas.microsoft.com/office/drawing/2014/main" val="3988606026"/>
                    </a:ext>
                  </a:extLst>
                </a:gridCol>
                <a:gridCol w="1264917">
                  <a:extLst>
                    <a:ext uri="{9D8B030D-6E8A-4147-A177-3AD203B41FA5}">
                      <a16:colId xmlns:a16="http://schemas.microsoft.com/office/drawing/2014/main" val="4115962568"/>
                    </a:ext>
                  </a:extLst>
                </a:gridCol>
                <a:gridCol w="1538024">
                  <a:extLst>
                    <a:ext uri="{9D8B030D-6E8A-4147-A177-3AD203B41FA5}">
                      <a16:colId xmlns:a16="http://schemas.microsoft.com/office/drawing/2014/main" val="2184890553"/>
                    </a:ext>
                  </a:extLst>
                </a:gridCol>
              </a:tblGrid>
              <a:tr h="303071">
                <a:tc>
                  <a:txBody>
                    <a:bodyPr/>
                    <a:lstStyle/>
                    <a:p>
                      <a:pPr algn="ctr" fontAlgn="ctr">
                        <a:buNone/>
                      </a:pPr>
                      <a:r>
                        <a:rPr lang="en-IN" sz="1100" b="0" i="0" u="none" strike="noStrike">
                          <a:solidFill>
                            <a:srgbClr val="000000"/>
                          </a:solidFill>
                          <a:effectLst/>
                          <a:latin typeface="Aptos Narrow" panose="020B0004020202020204" pitchFamily="34" charset="0"/>
                        </a:rPr>
                        <a:t>Author</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44B3E1"/>
                    </a:solidFill>
                  </a:tcPr>
                </a:tc>
                <a:tc>
                  <a:txBody>
                    <a:bodyPr/>
                    <a:lstStyle/>
                    <a:p>
                      <a:pPr algn="ctr" fontAlgn="ctr">
                        <a:buNone/>
                      </a:pPr>
                      <a:r>
                        <a:rPr lang="en-IN" sz="1100" b="0" i="0" u="none" strike="noStrike">
                          <a:solidFill>
                            <a:srgbClr val="000000"/>
                          </a:solidFill>
                          <a:effectLst/>
                          <a:latin typeface="Aptos Narrow" panose="020B0004020202020204" pitchFamily="34" charset="0"/>
                        </a:rPr>
                        <a:t>YEAR</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44B3E1"/>
                    </a:solidFill>
                  </a:tcPr>
                </a:tc>
                <a:tc>
                  <a:txBody>
                    <a:bodyPr/>
                    <a:lstStyle/>
                    <a:p>
                      <a:pPr algn="ctr" fontAlgn="ctr">
                        <a:buNone/>
                      </a:pPr>
                      <a:r>
                        <a:rPr lang="en-IN" sz="1100" b="0" i="0" u="none" strike="noStrike">
                          <a:solidFill>
                            <a:srgbClr val="000000"/>
                          </a:solidFill>
                          <a:effectLst/>
                          <a:latin typeface="Aptos Narrow" panose="020B0004020202020204" pitchFamily="34" charset="0"/>
                        </a:rPr>
                        <a:t>Dataset</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44B3E1"/>
                    </a:solidFill>
                  </a:tcPr>
                </a:tc>
                <a:tc>
                  <a:txBody>
                    <a:bodyPr/>
                    <a:lstStyle/>
                    <a:p>
                      <a:pPr algn="ctr" fontAlgn="ctr">
                        <a:buNone/>
                      </a:pPr>
                      <a:r>
                        <a:rPr lang="en-IN" sz="1100" b="0" i="0" u="none" strike="noStrike">
                          <a:solidFill>
                            <a:srgbClr val="000000"/>
                          </a:solidFill>
                          <a:effectLst/>
                          <a:latin typeface="Aptos Narrow" panose="020B0004020202020204" pitchFamily="34" charset="0"/>
                        </a:rPr>
                        <a:t>Title</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44B3E1"/>
                    </a:solidFill>
                  </a:tcPr>
                </a:tc>
                <a:tc>
                  <a:txBody>
                    <a:bodyPr/>
                    <a:lstStyle/>
                    <a:p>
                      <a:pPr algn="ctr" fontAlgn="ctr">
                        <a:buNone/>
                      </a:pPr>
                      <a:r>
                        <a:rPr lang="en-IN" sz="1100" b="0" i="0" u="none" strike="noStrike">
                          <a:solidFill>
                            <a:srgbClr val="000000"/>
                          </a:solidFill>
                          <a:effectLst/>
                          <a:latin typeface="Aptos Narrow" panose="020B0004020202020204" pitchFamily="34" charset="0"/>
                        </a:rPr>
                        <a:t>Accuracy</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44B3E1"/>
                    </a:solidFill>
                  </a:tcPr>
                </a:tc>
                <a:tc>
                  <a:txBody>
                    <a:bodyPr/>
                    <a:lstStyle/>
                    <a:p>
                      <a:pPr algn="ctr" fontAlgn="ctr">
                        <a:buNone/>
                      </a:pPr>
                      <a:r>
                        <a:rPr lang="en-IN" sz="1100" b="0" i="0" u="none" strike="noStrike">
                          <a:solidFill>
                            <a:srgbClr val="000000"/>
                          </a:solidFill>
                          <a:effectLst/>
                          <a:latin typeface="Aptos Narrow" panose="020B0004020202020204" pitchFamily="34" charset="0"/>
                        </a:rPr>
                        <a:t>Strenghts</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44B3E1"/>
                    </a:solidFill>
                  </a:tcPr>
                </a:tc>
                <a:tc>
                  <a:txBody>
                    <a:bodyPr/>
                    <a:lstStyle/>
                    <a:p>
                      <a:pPr algn="ctr" fontAlgn="ctr">
                        <a:buNone/>
                      </a:pPr>
                      <a:r>
                        <a:rPr lang="en-IN" sz="1100" b="0" i="0" u="none" strike="noStrike">
                          <a:solidFill>
                            <a:srgbClr val="000000"/>
                          </a:solidFill>
                          <a:effectLst/>
                          <a:latin typeface="Aptos Narrow" panose="020B0004020202020204" pitchFamily="34" charset="0"/>
                        </a:rPr>
                        <a:t>Limitation</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44B3E1"/>
                    </a:solidFill>
                  </a:tcPr>
                </a:tc>
                <a:tc>
                  <a:txBody>
                    <a:bodyPr/>
                    <a:lstStyle/>
                    <a:p>
                      <a:pPr algn="ctr" fontAlgn="ctr">
                        <a:buNone/>
                      </a:pPr>
                      <a:r>
                        <a:rPr lang="en-IN" sz="1100" b="0" i="0" u="none" strike="noStrike">
                          <a:solidFill>
                            <a:srgbClr val="000000"/>
                          </a:solidFill>
                          <a:effectLst/>
                          <a:latin typeface="Aptos Narrow" panose="020B0004020202020204" pitchFamily="34" charset="0"/>
                        </a:rPr>
                        <a:t>Model Used</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44B3E1"/>
                    </a:solidFill>
                  </a:tcPr>
                </a:tc>
                <a:extLst>
                  <a:ext uri="{0D108BD9-81ED-4DB2-BD59-A6C34878D82A}">
                    <a16:rowId xmlns:a16="http://schemas.microsoft.com/office/drawing/2014/main" val="234412167"/>
                  </a:ext>
                </a:extLst>
              </a:tr>
              <a:tr h="1212283">
                <a:tc>
                  <a:txBody>
                    <a:bodyPr/>
                    <a:lstStyle/>
                    <a:p>
                      <a:pPr algn="ctr" fontAlgn="ctr">
                        <a:buNone/>
                      </a:pPr>
                      <a:r>
                        <a:rPr lang="en-IN" sz="1100" b="0" i="0" u="none" strike="noStrike">
                          <a:solidFill>
                            <a:srgbClr val="000000"/>
                          </a:solidFill>
                          <a:effectLst/>
                          <a:latin typeface="Aptos Narrow" panose="020B0004020202020204" pitchFamily="34" charset="0"/>
                        </a:rPr>
                        <a:t>Yashaswi Kumar</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0E6F5"/>
                    </a:solidFill>
                  </a:tcPr>
                </a:tc>
                <a:tc>
                  <a:txBody>
                    <a:bodyPr/>
                    <a:lstStyle/>
                    <a:p>
                      <a:pPr algn="ctr" fontAlgn="ctr">
                        <a:buNone/>
                      </a:pPr>
                      <a:r>
                        <a:rPr lang="en-IN" sz="1100" b="0" i="0" u="none" strike="noStrike">
                          <a:solidFill>
                            <a:srgbClr val="000000"/>
                          </a:solidFill>
                          <a:effectLst/>
                          <a:latin typeface="Aptos Narrow" panose="020B0004020202020204" pitchFamily="34" charset="0"/>
                        </a:rPr>
                        <a:t>2021</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0E6F5"/>
                    </a:solidFill>
                  </a:tcPr>
                </a:tc>
                <a:tc>
                  <a:txBody>
                    <a:bodyPr/>
                    <a:lstStyle/>
                    <a:p>
                      <a:pPr algn="ctr" fontAlgn="ctr">
                        <a:buNone/>
                      </a:pPr>
                      <a:r>
                        <a:rPr lang="en-US" sz="1100" b="0" i="0" u="none" strike="noStrike">
                          <a:solidFill>
                            <a:srgbClr val="000000"/>
                          </a:solidFill>
                          <a:effectLst/>
                          <a:latin typeface="Aptos Narrow" panose="020B0004020202020204" pitchFamily="34" charset="0"/>
                        </a:rPr>
                        <a:t>U.S. Stock Market (S&amp;P 500)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0E6F5"/>
                    </a:solidFill>
                  </a:tcPr>
                </a:tc>
                <a:tc>
                  <a:txBody>
                    <a:bodyPr/>
                    <a:lstStyle/>
                    <a:p>
                      <a:pPr algn="ctr" fontAlgn="ctr">
                        <a:buNone/>
                      </a:pPr>
                      <a:r>
                        <a:rPr lang="en-US" sz="1100" b="0" i="0" u="none" strike="noStrike">
                          <a:solidFill>
                            <a:srgbClr val="000000"/>
                          </a:solidFill>
                          <a:effectLst/>
                          <a:latin typeface="Aptos Narrow" panose="020B0004020202020204" pitchFamily="34" charset="0"/>
                        </a:rPr>
                        <a:t>Deep Reinforcement Learning for Portfolio Optimization using Latent Feature State Space Module</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0E6F5"/>
                    </a:solidFill>
                  </a:tcPr>
                </a:tc>
                <a:tc>
                  <a:txBody>
                    <a:bodyPr/>
                    <a:lstStyle/>
                    <a:p>
                      <a:pPr algn="ctr" fontAlgn="ctr">
                        <a:buNone/>
                      </a:pPr>
                      <a:r>
                        <a:rPr lang="en-IN" sz="1100" b="0" i="0" u="none" strike="noStrike">
                          <a:solidFill>
                            <a:srgbClr val="000000"/>
                          </a:solidFill>
                          <a:effectLst/>
                          <a:latin typeface="Aptos Narrow" panose="020B0004020202020204" pitchFamily="34" charset="0"/>
                        </a:rPr>
                        <a:t>Sharpe = 1.42</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0E6F5"/>
                    </a:solidFill>
                  </a:tcPr>
                </a:tc>
                <a:tc>
                  <a:txBody>
                    <a:bodyPr/>
                    <a:lstStyle/>
                    <a:p>
                      <a:pPr algn="ctr" fontAlgn="ctr">
                        <a:buNone/>
                      </a:pPr>
                      <a:r>
                        <a:rPr lang="en-IN" sz="1100" b="0" i="0" u="none" strike="noStrike">
                          <a:solidFill>
                            <a:srgbClr val="000000"/>
                          </a:solidFill>
                          <a:effectLst/>
                          <a:latin typeface="Aptos Narrow" panose="020B0004020202020204" pitchFamily="34" charset="0"/>
                        </a:rPr>
                        <a:t>Uses latent feature extraction before DRL; improves stability</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0E6F5"/>
                    </a:solidFill>
                  </a:tcPr>
                </a:tc>
                <a:tc>
                  <a:txBody>
                    <a:bodyPr/>
                    <a:lstStyle/>
                    <a:p>
                      <a:pPr algn="ctr" fontAlgn="ctr">
                        <a:buNone/>
                      </a:pPr>
                      <a:r>
                        <a:rPr lang="en-IN" sz="1100" b="0" i="0" u="none" strike="noStrike">
                          <a:solidFill>
                            <a:srgbClr val="000000"/>
                          </a:solidFill>
                          <a:effectLst/>
                          <a:latin typeface="Aptos Narrow" panose="020B0004020202020204" pitchFamily="34" charset="0"/>
                        </a:rPr>
                        <a:t>Limited asset diversity</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0E6F5"/>
                    </a:solidFill>
                  </a:tcPr>
                </a:tc>
                <a:tc>
                  <a:txBody>
                    <a:bodyPr/>
                    <a:lstStyle/>
                    <a:p>
                      <a:pPr algn="ctr" fontAlgn="ctr">
                        <a:buNone/>
                      </a:pPr>
                      <a:r>
                        <a:rPr lang="en-IN" sz="1100" b="0" i="0" u="none" strike="noStrike">
                          <a:solidFill>
                            <a:srgbClr val="000000"/>
                          </a:solidFill>
                          <a:effectLst/>
                          <a:latin typeface="Aptos Narrow" panose="020B0004020202020204" pitchFamily="34" charset="0"/>
                        </a:rPr>
                        <a:t>DQN (Deep Q-Learning)</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0E6F5"/>
                    </a:solidFill>
                  </a:tcPr>
                </a:tc>
                <a:extLst>
                  <a:ext uri="{0D108BD9-81ED-4DB2-BD59-A6C34878D82A}">
                    <a16:rowId xmlns:a16="http://schemas.microsoft.com/office/drawing/2014/main" val="2182487895"/>
                  </a:ext>
                </a:extLst>
              </a:tr>
              <a:tr h="909212">
                <a:tc>
                  <a:txBody>
                    <a:bodyPr/>
                    <a:lstStyle/>
                    <a:p>
                      <a:pPr algn="ctr" fontAlgn="ctr">
                        <a:buNone/>
                      </a:pPr>
                      <a:r>
                        <a:rPr lang="en-IN" sz="1100" b="0" i="0" u="none" strike="noStrike">
                          <a:solidFill>
                            <a:srgbClr val="000000"/>
                          </a:solidFill>
                          <a:effectLst/>
                          <a:latin typeface="Aptos Narrow" panose="020B0004020202020204" pitchFamily="34" charset="0"/>
                        </a:rPr>
                        <a:t>Jaydip Sen et al.</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0E6F5"/>
                    </a:solidFill>
                  </a:tcPr>
                </a:tc>
                <a:tc>
                  <a:txBody>
                    <a:bodyPr/>
                    <a:lstStyle/>
                    <a:p>
                      <a:pPr algn="ctr" fontAlgn="ctr">
                        <a:buNone/>
                      </a:pPr>
                      <a:r>
                        <a:rPr lang="en-IN" sz="1100" b="0" i="0" u="none" strike="noStrike">
                          <a:solidFill>
                            <a:srgbClr val="000000"/>
                          </a:solidFill>
                          <a:effectLst/>
                          <a:latin typeface="Aptos Narrow" panose="020B0004020202020204" pitchFamily="34" charset="0"/>
                        </a:rPr>
                        <a:t>2021</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0E6F5"/>
                    </a:solidFill>
                  </a:tcPr>
                </a:tc>
                <a:tc>
                  <a:txBody>
                    <a:bodyPr/>
                    <a:lstStyle/>
                    <a:p>
                      <a:pPr algn="ctr" fontAlgn="ctr">
                        <a:buNone/>
                      </a:pPr>
                      <a:r>
                        <a:rPr lang="en-IN" sz="1100" b="0" i="0" u="none" strike="noStrike">
                          <a:solidFill>
                            <a:srgbClr val="000000"/>
                          </a:solidFill>
                          <a:effectLst/>
                          <a:latin typeface="Aptos Narrow" panose="020B0004020202020204" pitchFamily="34" charset="0"/>
                        </a:rPr>
                        <a:t>NSE &amp; NASDAQ</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0E6F5"/>
                    </a:solidFill>
                  </a:tcPr>
                </a:tc>
                <a:tc>
                  <a:txBody>
                    <a:bodyPr/>
                    <a:lstStyle/>
                    <a:p>
                      <a:pPr algn="ctr" fontAlgn="ctr">
                        <a:buNone/>
                      </a:pPr>
                      <a:r>
                        <a:rPr lang="en-US" sz="1100" b="0" i="0" u="none" strike="noStrike">
                          <a:solidFill>
                            <a:srgbClr val="000000"/>
                          </a:solidFill>
                          <a:effectLst/>
                          <a:latin typeface="Aptos Narrow" panose="020B0004020202020204" pitchFamily="34" charset="0"/>
                        </a:rPr>
                        <a:t>Stock Portfolio Optimization Using a Deep Learning LSTM Model</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0E6F5"/>
                    </a:solidFill>
                  </a:tcPr>
                </a:tc>
                <a:tc>
                  <a:txBody>
                    <a:bodyPr/>
                    <a:lstStyle/>
                    <a:p>
                      <a:pPr algn="ctr" fontAlgn="ctr">
                        <a:buNone/>
                      </a:pPr>
                      <a:r>
                        <a:rPr lang="en-IN" sz="1100" b="0" i="0" u="none" strike="noStrike">
                          <a:solidFill>
                            <a:srgbClr val="000000"/>
                          </a:solidFill>
                          <a:effectLst/>
                          <a:latin typeface="Aptos Narrow" panose="020B0004020202020204" pitchFamily="34" charset="0"/>
                        </a:rPr>
                        <a:t>MAE  0.021</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0E6F5"/>
                    </a:solidFill>
                  </a:tcPr>
                </a:tc>
                <a:tc>
                  <a:txBody>
                    <a:bodyPr/>
                    <a:lstStyle/>
                    <a:p>
                      <a:pPr algn="ctr" fontAlgn="ctr">
                        <a:buNone/>
                      </a:pPr>
                      <a:r>
                        <a:rPr lang="en-US" sz="1100" b="0" i="0" u="none" strike="noStrike">
                          <a:solidFill>
                            <a:srgbClr val="000000"/>
                          </a:solidFill>
                          <a:effectLst/>
                          <a:latin typeface="Aptos Narrow" panose="020B0004020202020204" pitchFamily="34" charset="0"/>
                        </a:rPr>
                        <a:t>Accurate stock price prediction using LSTM</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0E6F5"/>
                    </a:solidFill>
                  </a:tcPr>
                </a:tc>
                <a:tc>
                  <a:txBody>
                    <a:bodyPr/>
                    <a:lstStyle/>
                    <a:p>
                      <a:pPr algn="ctr" fontAlgn="ctr">
                        <a:buNone/>
                      </a:pPr>
                      <a:r>
                        <a:rPr lang="en-US" sz="1100" b="0" i="0" u="none" strike="noStrike">
                          <a:solidFill>
                            <a:srgbClr val="000000"/>
                          </a:solidFill>
                          <a:effectLst/>
                          <a:latin typeface="Aptos Narrow" panose="020B0004020202020204" pitchFamily="34" charset="0"/>
                        </a:rPr>
                        <a:t>Does not include RL optimization</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0E6F5"/>
                    </a:solidFill>
                  </a:tcPr>
                </a:tc>
                <a:tc>
                  <a:txBody>
                    <a:bodyPr/>
                    <a:lstStyle/>
                    <a:p>
                      <a:pPr algn="ctr" fontAlgn="ctr">
                        <a:buNone/>
                      </a:pPr>
                      <a:r>
                        <a:rPr lang="en-IN" sz="1100" b="0" i="0" u="none" strike="noStrike">
                          <a:solidFill>
                            <a:srgbClr val="000000"/>
                          </a:solidFill>
                          <a:effectLst/>
                          <a:latin typeface="Aptos Narrow" panose="020B0004020202020204" pitchFamily="34" charset="0"/>
                        </a:rPr>
                        <a:t>LSTM</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0E6F5"/>
                    </a:solidFill>
                  </a:tcPr>
                </a:tc>
                <a:extLst>
                  <a:ext uri="{0D108BD9-81ED-4DB2-BD59-A6C34878D82A}">
                    <a16:rowId xmlns:a16="http://schemas.microsoft.com/office/drawing/2014/main" val="1709200523"/>
                  </a:ext>
                </a:extLst>
              </a:tr>
              <a:tr h="909212">
                <a:tc>
                  <a:txBody>
                    <a:bodyPr/>
                    <a:lstStyle/>
                    <a:p>
                      <a:pPr algn="ctr" fontAlgn="ctr">
                        <a:buNone/>
                      </a:pPr>
                      <a:r>
                        <a:rPr lang="en-IN" sz="1100" b="0" i="0" u="none" strike="noStrike">
                          <a:solidFill>
                            <a:srgbClr val="000000"/>
                          </a:solidFill>
                          <a:effectLst/>
                          <a:latin typeface="Aptos Narrow" panose="020B0004020202020204" pitchFamily="34" charset="0"/>
                        </a:rPr>
                        <a:t>Jungyu Ahn et al.</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0E6F5"/>
                    </a:solidFill>
                  </a:tcPr>
                </a:tc>
                <a:tc>
                  <a:txBody>
                    <a:bodyPr/>
                    <a:lstStyle/>
                    <a:p>
                      <a:pPr algn="ctr" fontAlgn="ctr">
                        <a:buNone/>
                      </a:pPr>
                      <a:r>
                        <a:rPr lang="en-IN" sz="1100" b="0" i="0" u="none" strike="noStrike">
                          <a:solidFill>
                            <a:srgbClr val="000000"/>
                          </a:solidFill>
                          <a:effectLst/>
                          <a:latin typeface="Aptos Narrow" panose="020B0004020202020204" pitchFamily="34" charset="0"/>
                        </a:rPr>
                        <a:t>2022</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0E6F5"/>
                    </a:solidFill>
                  </a:tcPr>
                </a:tc>
                <a:tc>
                  <a:txBody>
                    <a:bodyPr/>
                    <a:lstStyle/>
                    <a:p>
                      <a:pPr algn="ctr" fontAlgn="ctr">
                        <a:buNone/>
                      </a:pPr>
                      <a:r>
                        <a:rPr lang="en-IN" sz="1100" b="0" i="0" u="none" strike="noStrike">
                          <a:solidFill>
                            <a:srgbClr val="000000"/>
                          </a:solidFill>
                          <a:effectLst/>
                          <a:latin typeface="Aptos Narrow" panose="020B0004020202020204" pitchFamily="34" charset="0"/>
                        </a:rPr>
                        <a:t>Korean Stock Market</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0E6F5"/>
                    </a:solidFill>
                  </a:tcPr>
                </a:tc>
                <a:tc>
                  <a:txBody>
                    <a:bodyPr/>
                    <a:lstStyle/>
                    <a:p>
                      <a:pPr algn="ctr" fontAlgn="ctr">
                        <a:buNone/>
                      </a:pPr>
                      <a:r>
                        <a:rPr lang="en-US" sz="1100" b="0" i="0" u="none" strike="noStrike">
                          <a:solidFill>
                            <a:srgbClr val="000000"/>
                          </a:solidFill>
                          <a:effectLst/>
                          <a:latin typeface="Aptos Narrow" panose="020B0004020202020204" pitchFamily="34" charset="0"/>
                        </a:rPr>
                        <a:t>Reinforcement Learning Portfolio Manager Framework with Monte Carlo Simulation</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0E6F5"/>
                    </a:solidFill>
                  </a:tcPr>
                </a:tc>
                <a:tc>
                  <a:txBody>
                    <a:bodyPr/>
                    <a:lstStyle/>
                    <a:p>
                      <a:pPr algn="ctr" fontAlgn="ctr">
                        <a:buNone/>
                      </a:pPr>
                      <a:r>
                        <a:rPr lang="en-IN" sz="1100" b="0" i="0" u="none" strike="noStrike">
                          <a:solidFill>
                            <a:srgbClr val="000000"/>
                          </a:solidFill>
                          <a:effectLst/>
                          <a:latin typeface="Aptos Narrow" panose="020B0004020202020204" pitchFamily="34" charset="0"/>
                        </a:rPr>
                        <a:t>ROI  +8.5% vs baseline</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0E6F5"/>
                    </a:solidFill>
                  </a:tcPr>
                </a:tc>
                <a:tc>
                  <a:txBody>
                    <a:bodyPr/>
                    <a:lstStyle/>
                    <a:p>
                      <a:pPr algn="ctr" fontAlgn="ctr">
                        <a:buNone/>
                      </a:pPr>
                      <a:r>
                        <a:rPr lang="en-IN" sz="1100" b="0" i="0" u="none" strike="noStrike">
                          <a:solidFill>
                            <a:srgbClr val="000000"/>
                          </a:solidFill>
                          <a:effectLst/>
                          <a:latin typeface="Aptos Narrow" panose="020B0004020202020204" pitchFamily="34" charset="0"/>
                        </a:rPr>
                        <a:t>Introduces Monte Carlo data augmentation</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0E6F5"/>
                    </a:solidFill>
                  </a:tcPr>
                </a:tc>
                <a:tc>
                  <a:txBody>
                    <a:bodyPr/>
                    <a:lstStyle/>
                    <a:p>
                      <a:pPr algn="ctr" fontAlgn="ctr">
                        <a:buNone/>
                      </a:pPr>
                      <a:r>
                        <a:rPr lang="en-IN" sz="1100" b="0" i="0" u="none" strike="noStrike">
                          <a:solidFill>
                            <a:srgbClr val="000000"/>
                          </a:solidFill>
                          <a:effectLst/>
                          <a:latin typeface="Aptos Narrow" panose="020B0004020202020204" pitchFamily="34" charset="0"/>
                        </a:rPr>
                        <a:t>High computational cost</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0E6F5"/>
                    </a:solidFill>
                  </a:tcPr>
                </a:tc>
                <a:tc>
                  <a:txBody>
                    <a:bodyPr/>
                    <a:lstStyle/>
                    <a:p>
                      <a:pPr algn="ctr" fontAlgn="ctr">
                        <a:buNone/>
                      </a:pPr>
                      <a:r>
                        <a:rPr lang="en-IN" sz="1100" b="0" i="0" u="none" strike="noStrike">
                          <a:solidFill>
                            <a:srgbClr val="000000"/>
                          </a:solidFill>
                          <a:effectLst/>
                          <a:latin typeface="Aptos Narrow" panose="020B0004020202020204" pitchFamily="34" charset="0"/>
                        </a:rPr>
                        <a:t>Actor-Critic RL</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0E6F5"/>
                    </a:solidFill>
                  </a:tcPr>
                </a:tc>
                <a:extLst>
                  <a:ext uri="{0D108BD9-81ED-4DB2-BD59-A6C34878D82A}">
                    <a16:rowId xmlns:a16="http://schemas.microsoft.com/office/drawing/2014/main" val="1072126677"/>
                  </a:ext>
                </a:extLst>
              </a:tr>
              <a:tr h="1212283">
                <a:tc>
                  <a:txBody>
                    <a:bodyPr/>
                    <a:lstStyle/>
                    <a:p>
                      <a:pPr algn="ctr" fontAlgn="ctr">
                        <a:buNone/>
                      </a:pPr>
                      <a:r>
                        <a:rPr lang="en-IN" sz="1100" b="0" i="0" u="none" strike="noStrike">
                          <a:solidFill>
                            <a:srgbClr val="000000"/>
                          </a:solidFill>
                          <a:effectLst/>
                          <a:latin typeface="Aptos Narrow" panose="020B0004020202020204" pitchFamily="34" charset="0"/>
                        </a:rPr>
                        <a:t>Hui Niu et al.</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0E6F5"/>
                    </a:solidFill>
                  </a:tcPr>
                </a:tc>
                <a:tc>
                  <a:txBody>
                    <a:bodyPr/>
                    <a:lstStyle/>
                    <a:p>
                      <a:pPr algn="ctr" fontAlgn="ctr">
                        <a:buNone/>
                      </a:pPr>
                      <a:r>
                        <a:rPr lang="en-IN" sz="1100" b="0" i="0" u="none" strike="noStrike">
                          <a:solidFill>
                            <a:srgbClr val="000000"/>
                          </a:solidFill>
                          <a:effectLst/>
                          <a:latin typeface="Aptos Narrow" panose="020B0004020202020204" pitchFamily="34" charset="0"/>
                        </a:rPr>
                        <a:t>2022</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0E6F5"/>
                    </a:solidFill>
                  </a:tcPr>
                </a:tc>
                <a:tc>
                  <a:txBody>
                    <a:bodyPr/>
                    <a:lstStyle/>
                    <a:p>
                      <a:pPr algn="ctr" fontAlgn="ctr">
                        <a:buNone/>
                      </a:pPr>
                      <a:r>
                        <a:rPr lang="en-US" sz="1100" b="0" i="0" u="none" strike="noStrike">
                          <a:solidFill>
                            <a:srgbClr val="000000"/>
                          </a:solidFill>
                          <a:effectLst/>
                          <a:latin typeface="Aptos Narrow" panose="020B0004020202020204" pitchFamily="34" charset="0"/>
                        </a:rPr>
                        <a:t>U.S. Equities (Yahoo Finance)</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0E6F5"/>
                    </a:solidFill>
                  </a:tcPr>
                </a:tc>
                <a:tc>
                  <a:txBody>
                    <a:bodyPr/>
                    <a:lstStyle/>
                    <a:p>
                      <a:pPr algn="ctr" fontAlgn="ctr">
                        <a:buNone/>
                      </a:pPr>
                      <a:r>
                        <a:rPr lang="en-US" sz="1100" b="0" i="0" u="none" strike="noStrike">
                          <a:solidFill>
                            <a:srgbClr val="000000"/>
                          </a:solidFill>
                          <a:effectLst/>
                          <a:latin typeface="Aptos Narrow" panose="020B0004020202020204" pitchFamily="34" charset="0"/>
                        </a:rPr>
                        <a:t>MetaTrader: A Reinforcement Learning Approach Integrating Diverse Policies for Portfolio Optimization</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0E6F5"/>
                    </a:solidFill>
                  </a:tcPr>
                </a:tc>
                <a:tc>
                  <a:txBody>
                    <a:bodyPr/>
                    <a:lstStyle/>
                    <a:p>
                      <a:pPr algn="ctr" fontAlgn="ctr">
                        <a:buNone/>
                      </a:pPr>
                      <a:r>
                        <a:rPr lang="en-IN" sz="1100" b="0" i="0" u="none" strike="noStrike">
                          <a:solidFill>
                            <a:srgbClr val="000000"/>
                          </a:solidFill>
                          <a:effectLst/>
                          <a:latin typeface="Aptos Narrow" panose="020B0004020202020204" pitchFamily="34" charset="0"/>
                        </a:rPr>
                        <a:t>Sharpe = 1.65</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0E6F5"/>
                    </a:solidFill>
                  </a:tcPr>
                </a:tc>
                <a:tc>
                  <a:txBody>
                    <a:bodyPr/>
                    <a:lstStyle/>
                    <a:p>
                      <a:pPr algn="ctr" fontAlgn="ctr">
                        <a:buNone/>
                      </a:pPr>
                      <a:r>
                        <a:rPr lang="en-IN" sz="1100" b="0" i="0" u="none" strike="noStrike">
                          <a:solidFill>
                            <a:srgbClr val="000000"/>
                          </a:solidFill>
                          <a:effectLst/>
                          <a:latin typeface="Aptos Narrow" panose="020B0004020202020204" pitchFamily="34" charset="0"/>
                        </a:rPr>
                        <a:t>Combines multiple expert RL policies adaptively</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0E6F5"/>
                    </a:solidFill>
                  </a:tcPr>
                </a:tc>
                <a:tc>
                  <a:txBody>
                    <a:bodyPr/>
                    <a:lstStyle/>
                    <a:p>
                      <a:pPr algn="ctr" fontAlgn="ctr">
                        <a:buNone/>
                      </a:pPr>
                      <a:r>
                        <a:rPr lang="en-IN" sz="1100" b="0" i="0" u="none" strike="noStrike">
                          <a:solidFill>
                            <a:srgbClr val="000000"/>
                          </a:solidFill>
                          <a:effectLst/>
                          <a:latin typeface="Aptos Narrow" panose="020B0004020202020204" pitchFamily="34" charset="0"/>
                        </a:rPr>
                        <a:t>Requires heavy tuning</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0E6F5"/>
                    </a:solidFill>
                  </a:tcPr>
                </a:tc>
                <a:tc>
                  <a:txBody>
                    <a:bodyPr/>
                    <a:lstStyle/>
                    <a:p>
                      <a:pPr algn="ctr" fontAlgn="ctr">
                        <a:buNone/>
                      </a:pPr>
                      <a:r>
                        <a:rPr lang="en-IN" sz="1100" b="0" i="0" u="none" strike="noStrike">
                          <a:solidFill>
                            <a:srgbClr val="000000"/>
                          </a:solidFill>
                          <a:effectLst/>
                          <a:latin typeface="Aptos Narrow" panose="020B0004020202020204" pitchFamily="34" charset="0"/>
                        </a:rPr>
                        <a:t>PPO + Meta-Policy Network</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0E6F5"/>
                    </a:solidFill>
                  </a:tcPr>
                </a:tc>
                <a:extLst>
                  <a:ext uri="{0D108BD9-81ED-4DB2-BD59-A6C34878D82A}">
                    <a16:rowId xmlns:a16="http://schemas.microsoft.com/office/drawing/2014/main" val="2682109528"/>
                  </a:ext>
                </a:extLst>
              </a:tr>
              <a:tr h="815261">
                <a:tc>
                  <a:txBody>
                    <a:bodyPr/>
                    <a:lstStyle/>
                    <a:p>
                      <a:pPr algn="ctr" fontAlgn="ctr">
                        <a:buNone/>
                      </a:pPr>
                      <a:r>
                        <a:rPr lang="en-IN" sz="1100" b="0" i="0" u="none" strike="noStrike">
                          <a:solidFill>
                            <a:srgbClr val="000000"/>
                          </a:solidFill>
                          <a:effectLst/>
                          <a:latin typeface="Aptos Narrow" panose="020B0004020202020204" pitchFamily="34" charset="0"/>
                        </a:rPr>
                        <a:t>Ruyu Yan et al.</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0E6F5"/>
                    </a:solidFill>
                  </a:tcPr>
                </a:tc>
                <a:tc>
                  <a:txBody>
                    <a:bodyPr/>
                    <a:lstStyle/>
                    <a:p>
                      <a:pPr algn="ctr" fontAlgn="ctr">
                        <a:buNone/>
                      </a:pPr>
                      <a:r>
                        <a:rPr lang="en-IN" sz="1100" b="0" i="0" u="none" strike="noStrike">
                          <a:solidFill>
                            <a:srgbClr val="000000"/>
                          </a:solidFill>
                          <a:effectLst/>
                          <a:latin typeface="Aptos Narrow" panose="020B0004020202020204" pitchFamily="34" charset="0"/>
                        </a:rPr>
                        <a:t>2024</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0E6F5"/>
                    </a:solidFill>
                  </a:tcPr>
                </a:tc>
                <a:tc>
                  <a:txBody>
                    <a:bodyPr/>
                    <a:lstStyle/>
                    <a:p>
                      <a:pPr algn="ctr" fontAlgn="ctr">
                        <a:buNone/>
                      </a:pPr>
                      <a:r>
                        <a:rPr lang="en-IN" sz="1100" b="0" i="0" u="none" strike="noStrike">
                          <a:solidFill>
                            <a:srgbClr val="000000"/>
                          </a:solidFill>
                          <a:effectLst/>
                          <a:latin typeface="Aptos Narrow" panose="020B0004020202020204" pitchFamily="34" charset="0"/>
                        </a:rPr>
                        <a:t>Chinese A-share stocks</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0E6F5"/>
                    </a:solidFill>
                  </a:tcPr>
                </a:tc>
                <a:tc>
                  <a:txBody>
                    <a:bodyPr/>
                    <a:lstStyle/>
                    <a:p>
                      <a:pPr algn="ctr" fontAlgn="ctr">
                        <a:buNone/>
                      </a:pPr>
                      <a:r>
                        <a:rPr lang="en-US" sz="1100" b="0" i="0" u="none" strike="noStrike">
                          <a:solidFill>
                            <a:srgbClr val="000000"/>
                          </a:solidFill>
                          <a:effectLst/>
                          <a:latin typeface="Aptos Narrow" panose="020B0004020202020204" pitchFamily="34" charset="0"/>
                        </a:rPr>
                        <a:t>Reinforcement Learning for Deep Portfolio Optimization</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0E6F5"/>
                    </a:solidFill>
                  </a:tcPr>
                </a:tc>
                <a:tc>
                  <a:txBody>
                    <a:bodyPr/>
                    <a:lstStyle/>
                    <a:p>
                      <a:pPr algn="ctr" fontAlgn="ctr">
                        <a:buNone/>
                      </a:pPr>
                      <a:r>
                        <a:rPr lang="en-IN" sz="1100" b="0" i="0" u="none" strike="noStrike">
                          <a:solidFill>
                            <a:srgbClr val="000000"/>
                          </a:solidFill>
                          <a:effectLst/>
                          <a:latin typeface="Aptos Narrow" panose="020B0004020202020204" pitchFamily="34" charset="0"/>
                        </a:rPr>
                        <a:t>Sharpe = 1.58</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0E6F5"/>
                    </a:solidFill>
                  </a:tcPr>
                </a:tc>
                <a:tc>
                  <a:txBody>
                    <a:bodyPr/>
                    <a:lstStyle/>
                    <a:p>
                      <a:pPr algn="ctr" fontAlgn="ctr">
                        <a:buNone/>
                      </a:pPr>
                      <a:r>
                        <a:rPr lang="en-US" sz="1100" b="0" i="0" u="none" strike="noStrike">
                          <a:solidFill>
                            <a:srgbClr val="000000"/>
                          </a:solidFill>
                          <a:effectLst/>
                          <a:latin typeface="Aptos Narrow" panose="020B0004020202020204" pitchFamily="34" charset="0"/>
                        </a:rPr>
                        <a:t>Combines deep learning + RL with risk cost reward</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0E6F5"/>
                    </a:solidFill>
                  </a:tcPr>
                </a:tc>
                <a:tc>
                  <a:txBody>
                    <a:bodyPr/>
                    <a:lstStyle/>
                    <a:p>
                      <a:pPr algn="ctr" fontAlgn="ctr">
                        <a:buNone/>
                      </a:pPr>
                      <a:r>
                        <a:rPr lang="en-IN" sz="1100" b="0" i="0" u="none" strike="noStrike">
                          <a:solidFill>
                            <a:srgbClr val="000000"/>
                          </a:solidFill>
                          <a:effectLst/>
                          <a:latin typeface="Aptos Narrow" panose="020B0004020202020204" pitchFamily="34" charset="0"/>
                        </a:rPr>
                        <a:t>High sensitivity to hyperparameters</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0E6F5"/>
                    </a:solidFill>
                  </a:tcPr>
                </a:tc>
                <a:tc>
                  <a:txBody>
                    <a:bodyPr/>
                    <a:lstStyle/>
                    <a:p>
                      <a:pPr algn="ctr" fontAlgn="ctr">
                        <a:buNone/>
                      </a:pPr>
                      <a:r>
                        <a:rPr lang="en-IN" sz="1100" b="0" i="0" u="none" strike="noStrike" dirty="0">
                          <a:solidFill>
                            <a:srgbClr val="000000"/>
                          </a:solidFill>
                          <a:effectLst/>
                          <a:latin typeface="Aptos Narrow" panose="020B0004020202020204" pitchFamily="34" charset="0"/>
                        </a:rPr>
                        <a:t>DDPG + CNN feature extractor</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0E6F5"/>
                    </a:solidFill>
                  </a:tcPr>
                </a:tc>
                <a:extLst>
                  <a:ext uri="{0D108BD9-81ED-4DB2-BD59-A6C34878D82A}">
                    <a16:rowId xmlns:a16="http://schemas.microsoft.com/office/drawing/2014/main" val="3082235394"/>
                  </a:ext>
                </a:extLst>
              </a:tr>
            </a:tbl>
          </a:graphicData>
        </a:graphic>
      </p:graphicFrame>
    </p:spTree>
    <p:extLst>
      <p:ext uri="{BB962C8B-B14F-4D97-AF65-F5344CB8AC3E}">
        <p14:creationId xmlns:p14="http://schemas.microsoft.com/office/powerpoint/2010/main" val="338725807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104">
          <a:extLst>
            <a:ext uri="{FF2B5EF4-FFF2-40B4-BE49-F238E27FC236}">
              <a16:creationId xmlns:a16="http://schemas.microsoft.com/office/drawing/2014/main" id="{2357AFD2-577A-5D2D-AC7E-84C64CA32A15}"/>
            </a:ext>
          </a:extLst>
        </p:cNvPr>
        <p:cNvGrpSpPr/>
        <p:nvPr/>
      </p:nvGrpSpPr>
      <p:grpSpPr>
        <a:xfrm>
          <a:off x="0" y="0"/>
          <a:ext cx="0" cy="0"/>
          <a:chOff x="0" y="0"/>
          <a:chExt cx="0" cy="0"/>
        </a:xfrm>
      </p:grpSpPr>
      <p:sp>
        <p:nvSpPr>
          <p:cNvPr id="105" name="Google Shape;105;p4">
            <a:extLst>
              <a:ext uri="{FF2B5EF4-FFF2-40B4-BE49-F238E27FC236}">
                <a16:creationId xmlns:a16="http://schemas.microsoft.com/office/drawing/2014/main" id="{9A8831A2-8348-A791-5BAD-655CFBC744A4}"/>
              </a:ext>
            </a:extLst>
          </p:cNvPr>
          <p:cNvSpPr txBox="1">
            <a:spLocks noGrp="1"/>
          </p:cNvSpPr>
          <p:nvPr>
            <p:ph type="title"/>
          </p:nvPr>
        </p:nvSpPr>
        <p:spPr>
          <a:xfrm>
            <a:off x="534259" y="309562"/>
            <a:ext cx="2503909" cy="382156"/>
          </a:xfrm>
          <a:prstGeom prst="rect">
            <a:avLst/>
          </a:prstGeom>
          <a:noFill/>
          <a:ln>
            <a:noFill/>
          </a:ln>
        </p:spPr>
        <p:txBody>
          <a:bodyPr spcFirstLastPara="1" wrap="square" lIns="0" tIns="12700" rIns="0" bIns="0" anchor="ctr" anchorCtr="0">
            <a:spAutoFit/>
          </a:bodyPr>
          <a:lstStyle/>
          <a:p>
            <a:pPr marL="12700" lvl="0">
              <a:lnSpc>
                <a:spcPct val="100000"/>
              </a:lnSpc>
              <a:buClr>
                <a:srgbClr val="04A2B9"/>
              </a:buClr>
              <a:buSzPts val="2400"/>
            </a:pPr>
            <a:r>
              <a:rPr lang="en-US" sz="2400" b="1" dirty="0">
                <a:solidFill>
                  <a:srgbClr val="04A2B9"/>
                </a:solidFill>
                <a:latin typeface="Proxima Nova"/>
                <a:ea typeface="Proxima Nova"/>
                <a:cs typeface="Proxima Nova"/>
                <a:sym typeface="Proxima Nova"/>
              </a:rPr>
              <a:t>Literature Review</a:t>
            </a:r>
            <a:endParaRPr sz="2400" b="1" dirty="0">
              <a:latin typeface="Proxima Nova"/>
              <a:ea typeface="Proxima Nova"/>
              <a:cs typeface="Proxima Nova"/>
              <a:sym typeface="Proxima Nova"/>
            </a:endParaRPr>
          </a:p>
        </p:txBody>
      </p:sp>
      <p:graphicFrame>
        <p:nvGraphicFramePr>
          <p:cNvPr id="6" name="Table 5">
            <a:extLst>
              <a:ext uri="{FF2B5EF4-FFF2-40B4-BE49-F238E27FC236}">
                <a16:creationId xmlns:a16="http://schemas.microsoft.com/office/drawing/2014/main" id="{74CFDC0F-A93F-71B9-DB7D-B4941FF72AB0}"/>
              </a:ext>
            </a:extLst>
          </p:cNvPr>
          <p:cNvGraphicFramePr>
            <a:graphicFrameLocks noGrp="1"/>
          </p:cNvGraphicFramePr>
          <p:nvPr>
            <p:extLst>
              <p:ext uri="{D42A27DB-BD31-4B8C-83A1-F6EECF244321}">
                <p14:modId xmlns:p14="http://schemas.microsoft.com/office/powerpoint/2010/main" val="3490960102"/>
              </p:ext>
            </p:extLst>
          </p:nvPr>
        </p:nvGraphicFramePr>
        <p:xfrm>
          <a:off x="534259" y="955144"/>
          <a:ext cx="10935846" cy="382156"/>
        </p:xfrm>
        <a:graphic>
          <a:graphicData uri="http://schemas.openxmlformats.org/drawingml/2006/table">
            <a:tbl>
              <a:tblPr/>
              <a:tblGrid>
                <a:gridCol w="1403831">
                  <a:extLst>
                    <a:ext uri="{9D8B030D-6E8A-4147-A177-3AD203B41FA5}">
                      <a16:colId xmlns:a16="http://schemas.microsoft.com/office/drawing/2014/main" val="2110112195"/>
                    </a:ext>
                  </a:extLst>
                </a:gridCol>
                <a:gridCol w="786146">
                  <a:extLst>
                    <a:ext uri="{9D8B030D-6E8A-4147-A177-3AD203B41FA5}">
                      <a16:colId xmlns:a16="http://schemas.microsoft.com/office/drawing/2014/main" val="1797418888"/>
                    </a:ext>
                  </a:extLst>
                </a:gridCol>
                <a:gridCol w="1137103">
                  <a:extLst>
                    <a:ext uri="{9D8B030D-6E8A-4147-A177-3AD203B41FA5}">
                      <a16:colId xmlns:a16="http://schemas.microsoft.com/office/drawing/2014/main" val="4043699253"/>
                    </a:ext>
                  </a:extLst>
                </a:gridCol>
                <a:gridCol w="2119785">
                  <a:extLst>
                    <a:ext uri="{9D8B030D-6E8A-4147-A177-3AD203B41FA5}">
                      <a16:colId xmlns:a16="http://schemas.microsoft.com/office/drawing/2014/main" val="3226050531"/>
                    </a:ext>
                  </a:extLst>
                </a:gridCol>
                <a:gridCol w="1221333">
                  <a:extLst>
                    <a:ext uri="{9D8B030D-6E8A-4147-A177-3AD203B41FA5}">
                      <a16:colId xmlns:a16="http://schemas.microsoft.com/office/drawing/2014/main" val="3785835067"/>
                    </a:ext>
                  </a:extLst>
                </a:gridCol>
                <a:gridCol w="1530176">
                  <a:extLst>
                    <a:ext uri="{9D8B030D-6E8A-4147-A177-3AD203B41FA5}">
                      <a16:colId xmlns:a16="http://schemas.microsoft.com/office/drawing/2014/main" val="3716550024"/>
                    </a:ext>
                  </a:extLst>
                </a:gridCol>
                <a:gridCol w="1235372">
                  <a:extLst>
                    <a:ext uri="{9D8B030D-6E8A-4147-A177-3AD203B41FA5}">
                      <a16:colId xmlns:a16="http://schemas.microsoft.com/office/drawing/2014/main" val="3409063683"/>
                    </a:ext>
                  </a:extLst>
                </a:gridCol>
                <a:gridCol w="1502100">
                  <a:extLst>
                    <a:ext uri="{9D8B030D-6E8A-4147-A177-3AD203B41FA5}">
                      <a16:colId xmlns:a16="http://schemas.microsoft.com/office/drawing/2014/main" val="1624008034"/>
                    </a:ext>
                  </a:extLst>
                </a:gridCol>
              </a:tblGrid>
              <a:tr h="382156">
                <a:tc>
                  <a:txBody>
                    <a:bodyPr/>
                    <a:lstStyle/>
                    <a:p>
                      <a:pPr algn="ctr" fontAlgn="ctr">
                        <a:buNone/>
                      </a:pPr>
                      <a:r>
                        <a:rPr lang="en-IN" sz="1100" b="0" i="0" u="none" strike="noStrike" dirty="0">
                          <a:solidFill>
                            <a:srgbClr val="000000"/>
                          </a:solidFill>
                          <a:effectLst/>
                          <a:latin typeface="Aptos Narrow" panose="020B0004020202020204" pitchFamily="34" charset="0"/>
                        </a:rPr>
                        <a:t>Author</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44B3E1"/>
                    </a:solidFill>
                  </a:tcPr>
                </a:tc>
                <a:tc>
                  <a:txBody>
                    <a:bodyPr/>
                    <a:lstStyle/>
                    <a:p>
                      <a:pPr algn="ctr" fontAlgn="ctr">
                        <a:buNone/>
                      </a:pPr>
                      <a:r>
                        <a:rPr lang="en-IN" sz="1100" b="0" i="0" u="none" strike="noStrike">
                          <a:solidFill>
                            <a:srgbClr val="000000"/>
                          </a:solidFill>
                          <a:effectLst/>
                          <a:latin typeface="Aptos Narrow" panose="020B0004020202020204" pitchFamily="34" charset="0"/>
                        </a:rPr>
                        <a:t>YEAR</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44B3E1"/>
                    </a:solidFill>
                  </a:tcPr>
                </a:tc>
                <a:tc>
                  <a:txBody>
                    <a:bodyPr/>
                    <a:lstStyle/>
                    <a:p>
                      <a:pPr algn="ctr" fontAlgn="ctr">
                        <a:buNone/>
                      </a:pPr>
                      <a:r>
                        <a:rPr lang="en-IN" sz="1100" b="0" i="0" u="none" strike="noStrike">
                          <a:solidFill>
                            <a:srgbClr val="000000"/>
                          </a:solidFill>
                          <a:effectLst/>
                          <a:latin typeface="Aptos Narrow" panose="020B0004020202020204" pitchFamily="34" charset="0"/>
                        </a:rPr>
                        <a:t>Dataset</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44B3E1"/>
                    </a:solidFill>
                  </a:tcPr>
                </a:tc>
                <a:tc>
                  <a:txBody>
                    <a:bodyPr/>
                    <a:lstStyle/>
                    <a:p>
                      <a:pPr algn="ctr" fontAlgn="ctr">
                        <a:buNone/>
                      </a:pPr>
                      <a:r>
                        <a:rPr lang="en-IN" sz="1100" b="0" i="0" u="none" strike="noStrike">
                          <a:solidFill>
                            <a:srgbClr val="000000"/>
                          </a:solidFill>
                          <a:effectLst/>
                          <a:latin typeface="Aptos Narrow" panose="020B0004020202020204" pitchFamily="34" charset="0"/>
                        </a:rPr>
                        <a:t>Title</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44B3E1"/>
                    </a:solidFill>
                  </a:tcPr>
                </a:tc>
                <a:tc>
                  <a:txBody>
                    <a:bodyPr/>
                    <a:lstStyle/>
                    <a:p>
                      <a:pPr algn="ctr" fontAlgn="ctr">
                        <a:buNone/>
                      </a:pPr>
                      <a:r>
                        <a:rPr lang="en-IN" sz="1100" b="0" i="0" u="none" strike="noStrike">
                          <a:solidFill>
                            <a:srgbClr val="000000"/>
                          </a:solidFill>
                          <a:effectLst/>
                          <a:latin typeface="Aptos Narrow" panose="020B0004020202020204" pitchFamily="34" charset="0"/>
                        </a:rPr>
                        <a:t>Accuracy</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44B3E1"/>
                    </a:solidFill>
                  </a:tcPr>
                </a:tc>
                <a:tc>
                  <a:txBody>
                    <a:bodyPr/>
                    <a:lstStyle/>
                    <a:p>
                      <a:pPr algn="ctr" fontAlgn="ctr">
                        <a:buNone/>
                      </a:pPr>
                      <a:r>
                        <a:rPr lang="en-IN" sz="1100" b="0" i="0" u="none" strike="noStrike">
                          <a:solidFill>
                            <a:srgbClr val="000000"/>
                          </a:solidFill>
                          <a:effectLst/>
                          <a:latin typeface="Aptos Narrow" panose="020B0004020202020204" pitchFamily="34" charset="0"/>
                        </a:rPr>
                        <a:t>Strenghts</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44B3E1"/>
                    </a:solidFill>
                  </a:tcPr>
                </a:tc>
                <a:tc>
                  <a:txBody>
                    <a:bodyPr/>
                    <a:lstStyle/>
                    <a:p>
                      <a:pPr algn="ctr" fontAlgn="ctr">
                        <a:buNone/>
                      </a:pPr>
                      <a:r>
                        <a:rPr lang="en-IN" sz="1100" b="0" i="0" u="none" strike="noStrike">
                          <a:solidFill>
                            <a:srgbClr val="000000"/>
                          </a:solidFill>
                          <a:effectLst/>
                          <a:latin typeface="Aptos Narrow" panose="020B0004020202020204" pitchFamily="34" charset="0"/>
                        </a:rPr>
                        <a:t>Limitation</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44B3E1"/>
                    </a:solidFill>
                  </a:tcPr>
                </a:tc>
                <a:tc>
                  <a:txBody>
                    <a:bodyPr/>
                    <a:lstStyle/>
                    <a:p>
                      <a:pPr algn="ctr" fontAlgn="ctr">
                        <a:buNone/>
                      </a:pPr>
                      <a:r>
                        <a:rPr lang="en-IN" sz="1100" b="0" i="0" u="none" strike="noStrike" dirty="0">
                          <a:solidFill>
                            <a:srgbClr val="000000"/>
                          </a:solidFill>
                          <a:effectLst/>
                          <a:latin typeface="Aptos Narrow" panose="020B0004020202020204" pitchFamily="34" charset="0"/>
                        </a:rPr>
                        <a:t>Model Used</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44B3E1"/>
                    </a:solidFill>
                  </a:tcPr>
                </a:tc>
                <a:extLst>
                  <a:ext uri="{0D108BD9-81ED-4DB2-BD59-A6C34878D82A}">
                    <a16:rowId xmlns:a16="http://schemas.microsoft.com/office/drawing/2014/main" val="1371595426"/>
                  </a:ext>
                </a:extLst>
              </a:tr>
            </a:tbl>
          </a:graphicData>
        </a:graphic>
      </p:graphicFrame>
      <p:graphicFrame>
        <p:nvGraphicFramePr>
          <p:cNvPr id="8" name="Table 7">
            <a:extLst>
              <a:ext uri="{FF2B5EF4-FFF2-40B4-BE49-F238E27FC236}">
                <a16:creationId xmlns:a16="http://schemas.microsoft.com/office/drawing/2014/main" id="{93FA22F5-EFA8-FAEF-EDB7-2EE873BBDCB4}"/>
              </a:ext>
            </a:extLst>
          </p:cNvPr>
          <p:cNvGraphicFramePr>
            <a:graphicFrameLocks noGrp="1"/>
          </p:cNvGraphicFramePr>
          <p:nvPr>
            <p:extLst>
              <p:ext uri="{D42A27DB-BD31-4B8C-83A1-F6EECF244321}">
                <p14:modId xmlns:p14="http://schemas.microsoft.com/office/powerpoint/2010/main" val="3111041862"/>
              </p:ext>
            </p:extLst>
          </p:nvPr>
        </p:nvGraphicFramePr>
        <p:xfrm>
          <a:off x="534259" y="1337300"/>
          <a:ext cx="10935845" cy="5211138"/>
        </p:xfrm>
        <a:graphic>
          <a:graphicData uri="http://schemas.openxmlformats.org/drawingml/2006/table">
            <a:tbl>
              <a:tblPr/>
              <a:tblGrid>
                <a:gridCol w="1403831">
                  <a:extLst>
                    <a:ext uri="{9D8B030D-6E8A-4147-A177-3AD203B41FA5}">
                      <a16:colId xmlns:a16="http://schemas.microsoft.com/office/drawing/2014/main" val="1450266550"/>
                    </a:ext>
                  </a:extLst>
                </a:gridCol>
                <a:gridCol w="786145">
                  <a:extLst>
                    <a:ext uri="{9D8B030D-6E8A-4147-A177-3AD203B41FA5}">
                      <a16:colId xmlns:a16="http://schemas.microsoft.com/office/drawing/2014/main" val="3202688957"/>
                    </a:ext>
                  </a:extLst>
                </a:gridCol>
                <a:gridCol w="1137103">
                  <a:extLst>
                    <a:ext uri="{9D8B030D-6E8A-4147-A177-3AD203B41FA5}">
                      <a16:colId xmlns:a16="http://schemas.microsoft.com/office/drawing/2014/main" val="61918367"/>
                    </a:ext>
                  </a:extLst>
                </a:gridCol>
                <a:gridCol w="2119786">
                  <a:extLst>
                    <a:ext uri="{9D8B030D-6E8A-4147-A177-3AD203B41FA5}">
                      <a16:colId xmlns:a16="http://schemas.microsoft.com/office/drawing/2014/main" val="511991332"/>
                    </a:ext>
                  </a:extLst>
                </a:gridCol>
                <a:gridCol w="1221334">
                  <a:extLst>
                    <a:ext uri="{9D8B030D-6E8A-4147-A177-3AD203B41FA5}">
                      <a16:colId xmlns:a16="http://schemas.microsoft.com/office/drawing/2014/main" val="1766196475"/>
                    </a:ext>
                  </a:extLst>
                </a:gridCol>
                <a:gridCol w="1530176">
                  <a:extLst>
                    <a:ext uri="{9D8B030D-6E8A-4147-A177-3AD203B41FA5}">
                      <a16:colId xmlns:a16="http://schemas.microsoft.com/office/drawing/2014/main" val="1911319024"/>
                    </a:ext>
                  </a:extLst>
                </a:gridCol>
                <a:gridCol w="1235371">
                  <a:extLst>
                    <a:ext uri="{9D8B030D-6E8A-4147-A177-3AD203B41FA5}">
                      <a16:colId xmlns:a16="http://schemas.microsoft.com/office/drawing/2014/main" val="2442084548"/>
                    </a:ext>
                  </a:extLst>
                </a:gridCol>
                <a:gridCol w="1502099">
                  <a:extLst>
                    <a:ext uri="{9D8B030D-6E8A-4147-A177-3AD203B41FA5}">
                      <a16:colId xmlns:a16="http://schemas.microsoft.com/office/drawing/2014/main" val="104030371"/>
                    </a:ext>
                  </a:extLst>
                </a:gridCol>
              </a:tblGrid>
              <a:tr h="781671">
                <a:tc>
                  <a:txBody>
                    <a:bodyPr/>
                    <a:lstStyle/>
                    <a:p>
                      <a:pPr algn="ctr" fontAlgn="ctr">
                        <a:buNone/>
                      </a:pPr>
                      <a:r>
                        <a:rPr lang="en-IN" sz="1100" b="0" i="0" u="none" strike="noStrike">
                          <a:solidFill>
                            <a:srgbClr val="000000"/>
                          </a:solidFill>
                          <a:effectLst/>
                          <a:latin typeface="Aptos Narrow" panose="020B0004020202020204" pitchFamily="34" charset="0"/>
                        </a:rPr>
                        <a:t>Joy Dip Das et al.</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0E6F5"/>
                    </a:solidFill>
                  </a:tcPr>
                </a:tc>
                <a:tc>
                  <a:txBody>
                    <a:bodyPr/>
                    <a:lstStyle/>
                    <a:p>
                      <a:pPr algn="ctr" fontAlgn="ctr">
                        <a:buNone/>
                      </a:pPr>
                      <a:r>
                        <a:rPr lang="en-IN" sz="1100" b="0" i="0" u="none" strike="noStrike">
                          <a:solidFill>
                            <a:srgbClr val="000000"/>
                          </a:solidFill>
                          <a:effectLst/>
                          <a:latin typeface="Aptos Narrow" panose="020B0004020202020204" pitchFamily="34" charset="0"/>
                        </a:rPr>
                        <a:t>2024</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0E6F5"/>
                    </a:solidFill>
                  </a:tcPr>
                </a:tc>
                <a:tc>
                  <a:txBody>
                    <a:bodyPr/>
                    <a:lstStyle/>
                    <a:p>
                      <a:pPr algn="ctr" fontAlgn="ctr">
                        <a:buNone/>
                      </a:pPr>
                      <a:r>
                        <a:rPr lang="en-IN" sz="1100" b="0" i="0" u="none" strike="noStrike">
                          <a:solidFill>
                            <a:srgbClr val="000000"/>
                          </a:solidFill>
                          <a:effectLst/>
                          <a:latin typeface="Aptos Narrow" panose="020B0004020202020204" pitchFamily="34" charset="0"/>
                        </a:rPr>
                        <a:t>S&amp;P 500 + Crypto</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0E6F5"/>
                    </a:solidFill>
                  </a:tcPr>
                </a:tc>
                <a:tc>
                  <a:txBody>
                    <a:bodyPr/>
                    <a:lstStyle/>
                    <a:p>
                      <a:pPr algn="ctr" fontAlgn="ctr">
                        <a:buNone/>
                      </a:pPr>
                      <a:r>
                        <a:rPr lang="en-US" sz="1100" b="0" i="0" u="none" strike="noStrike">
                          <a:solidFill>
                            <a:srgbClr val="000000"/>
                          </a:solidFill>
                          <a:effectLst/>
                          <a:latin typeface="Aptos Narrow" panose="020B0004020202020204" pitchFamily="34" charset="0"/>
                        </a:rPr>
                        <a:t>Hybrid Data-Driven and Deep Learning Based Portfolio Optimization</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0E6F5"/>
                    </a:solidFill>
                  </a:tcPr>
                </a:tc>
                <a:tc>
                  <a:txBody>
                    <a:bodyPr/>
                    <a:lstStyle/>
                    <a:p>
                      <a:pPr algn="ctr" fontAlgn="ctr">
                        <a:buNone/>
                      </a:pPr>
                      <a:r>
                        <a:rPr lang="en-IN" sz="1100" b="0" i="0" u="none" strike="noStrike" dirty="0">
                          <a:solidFill>
                            <a:srgbClr val="000000"/>
                          </a:solidFill>
                          <a:effectLst/>
                          <a:latin typeface="Aptos Narrow" panose="020B0004020202020204" pitchFamily="34" charset="0"/>
                        </a:rPr>
                        <a:t>RMSE = 0.019</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0E6F5"/>
                    </a:solidFill>
                  </a:tcPr>
                </a:tc>
                <a:tc>
                  <a:txBody>
                    <a:bodyPr/>
                    <a:lstStyle/>
                    <a:p>
                      <a:pPr algn="ctr" fontAlgn="ctr">
                        <a:buNone/>
                      </a:pPr>
                      <a:r>
                        <a:rPr lang="en-US" sz="1100" b="0" i="0" u="none" strike="noStrike">
                          <a:solidFill>
                            <a:srgbClr val="000000"/>
                          </a:solidFill>
                          <a:effectLst/>
                          <a:latin typeface="Aptos Narrow" panose="020B0004020202020204" pitchFamily="34" charset="0"/>
                        </a:rPr>
                        <a:t>BiLSTM + BiGRU hybrid improves forecasting</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0E6F5"/>
                    </a:solidFill>
                  </a:tcPr>
                </a:tc>
                <a:tc>
                  <a:txBody>
                    <a:bodyPr/>
                    <a:lstStyle/>
                    <a:p>
                      <a:pPr algn="ctr" fontAlgn="ctr">
                        <a:buNone/>
                      </a:pPr>
                      <a:r>
                        <a:rPr lang="en-IN" sz="1100" b="0" i="0" u="none" strike="noStrike" dirty="0">
                          <a:solidFill>
                            <a:srgbClr val="000000"/>
                          </a:solidFill>
                          <a:effectLst/>
                          <a:latin typeface="Aptos Narrow" panose="020B0004020202020204" pitchFamily="34" charset="0"/>
                        </a:rPr>
                        <a:t>No RL decision layer</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0E6F5"/>
                    </a:solidFill>
                  </a:tcPr>
                </a:tc>
                <a:tc>
                  <a:txBody>
                    <a:bodyPr/>
                    <a:lstStyle/>
                    <a:p>
                      <a:pPr algn="ctr" fontAlgn="ctr">
                        <a:buNone/>
                      </a:pPr>
                      <a:r>
                        <a:rPr lang="en-IN" sz="1100" b="0" i="0" u="none" strike="noStrike">
                          <a:solidFill>
                            <a:srgbClr val="000000"/>
                          </a:solidFill>
                          <a:effectLst/>
                          <a:latin typeface="Aptos Narrow" panose="020B0004020202020204" pitchFamily="34" charset="0"/>
                        </a:rPr>
                        <a:t>BiLSTM + BiGRU</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0E6F5"/>
                    </a:solidFill>
                  </a:tcPr>
                </a:tc>
                <a:extLst>
                  <a:ext uri="{0D108BD9-81ED-4DB2-BD59-A6C34878D82A}">
                    <a16:rowId xmlns:a16="http://schemas.microsoft.com/office/drawing/2014/main" val="1498317718"/>
                  </a:ext>
                </a:extLst>
              </a:tr>
              <a:tr h="781671">
                <a:tc>
                  <a:txBody>
                    <a:bodyPr/>
                    <a:lstStyle/>
                    <a:p>
                      <a:pPr algn="ctr" fontAlgn="ctr">
                        <a:buNone/>
                      </a:pPr>
                      <a:r>
                        <a:rPr lang="en-IN" sz="1100" b="0" i="0" u="none" strike="noStrike">
                          <a:solidFill>
                            <a:srgbClr val="000000"/>
                          </a:solidFill>
                          <a:effectLst/>
                          <a:latin typeface="Aptos Narrow" panose="020B0004020202020204" pitchFamily="34" charset="0"/>
                        </a:rPr>
                        <a:t>Garrido-MerchÃ¡n et al.</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0E6F5"/>
                    </a:solidFill>
                  </a:tcPr>
                </a:tc>
                <a:tc>
                  <a:txBody>
                    <a:bodyPr/>
                    <a:lstStyle/>
                    <a:p>
                      <a:pPr algn="ctr" fontAlgn="ctr">
                        <a:buNone/>
                      </a:pPr>
                      <a:r>
                        <a:rPr lang="en-IN" sz="1100" b="0" i="0" u="none" strike="noStrike">
                          <a:solidFill>
                            <a:srgbClr val="000000"/>
                          </a:solidFill>
                          <a:effectLst/>
                          <a:latin typeface="Aptos Narrow" panose="020B0004020202020204" pitchFamily="34" charset="0"/>
                        </a:rPr>
                        <a:t>2023</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0E6F5"/>
                    </a:solidFill>
                  </a:tcPr>
                </a:tc>
                <a:tc>
                  <a:txBody>
                    <a:bodyPr/>
                    <a:lstStyle/>
                    <a:p>
                      <a:pPr algn="ctr" fontAlgn="ctr">
                        <a:buNone/>
                      </a:pPr>
                      <a:r>
                        <a:rPr lang="en-IN" sz="1100" b="0" i="0" u="none" strike="noStrike">
                          <a:solidFill>
                            <a:srgbClr val="000000"/>
                          </a:solidFill>
                          <a:effectLst/>
                          <a:latin typeface="Aptos Narrow" panose="020B0004020202020204" pitchFamily="34" charset="0"/>
                        </a:rPr>
                        <a:t>ESG Stock Index</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0E6F5"/>
                    </a:solidFill>
                  </a:tcPr>
                </a:tc>
                <a:tc>
                  <a:txBody>
                    <a:bodyPr/>
                    <a:lstStyle/>
                    <a:p>
                      <a:pPr algn="ctr" fontAlgn="ctr">
                        <a:buNone/>
                      </a:pPr>
                      <a:r>
                        <a:rPr lang="en-US" sz="1100" b="0" i="0" u="none" strike="noStrike" dirty="0">
                          <a:solidFill>
                            <a:srgbClr val="000000"/>
                          </a:solidFill>
                          <a:effectLst/>
                          <a:latin typeface="Aptos Narrow" panose="020B0004020202020204" pitchFamily="34" charset="0"/>
                        </a:rPr>
                        <a:t>Deep Reinforcement Learning for ESG Financial Portfolio Management</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0E6F5"/>
                    </a:solidFill>
                  </a:tcPr>
                </a:tc>
                <a:tc>
                  <a:txBody>
                    <a:bodyPr/>
                    <a:lstStyle/>
                    <a:p>
                      <a:pPr algn="ctr" fontAlgn="ctr">
                        <a:buNone/>
                      </a:pPr>
                      <a:r>
                        <a:rPr lang="en-IN" sz="1100" b="0" i="0" u="none" strike="noStrike">
                          <a:solidFill>
                            <a:srgbClr val="000000"/>
                          </a:solidFill>
                          <a:effectLst/>
                          <a:latin typeface="Aptos Narrow" panose="020B0004020202020204" pitchFamily="34" charset="0"/>
                        </a:rPr>
                        <a:t>Sharpe = 1.33</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0E6F5"/>
                    </a:solidFill>
                  </a:tcPr>
                </a:tc>
                <a:tc>
                  <a:txBody>
                    <a:bodyPr/>
                    <a:lstStyle/>
                    <a:p>
                      <a:pPr algn="ctr" fontAlgn="ctr">
                        <a:buNone/>
                      </a:pPr>
                      <a:r>
                        <a:rPr lang="en-IN" sz="1100" b="0" i="0" u="none" strike="noStrike">
                          <a:solidFill>
                            <a:srgbClr val="000000"/>
                          </a:solidFill>
                          <a:effectLst/>
                          <a:latin typeface="Aptos Narrow" panose="020B0004020202020204" pitchFamily="34" charset="0"/>
                        </a:rPr>
                        <a:t>Integrates ESG scoring + DRL optimization</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0E6F5"/>
                    </a:solidFill>
                  </a:tcPr>
                </a:tc>
                <a:tc>
                  <a:txBody>
                    <a:bodyPr/>
                    <a:lstStyle/>
                    <a:p>
                      <a:pPr algn="ctr" fontAlgn="ctr">
                        <a:buNone/>
                      </a:pPr>
                      <a:r>
                        <a:rPr lang="en-IN" sz="1100" b="0" i="0" u="none" strike="noStrike">
                          <a:solidFill>
                            <a:srgbClr val="000000"/>
                          </a:solidFill>
                          <a:effectLst/>
                          <a:latin typeface="Aptos Narrow" panose="020B0004020202020204" pitchFamily="34" charset="0"/>
                        </a:rPr>
                        <a:t>Limited data scope</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0E6F5"/>
                    </a:solidFill>
                  </a:tcPr>
                </a:tc>
                <a:tc>
                  <a:txBody>
                    <a:bodyPr/>
                    <a:lstStyle/>
                    <a:p>
                      <a:pPr algn="ctr" fontAlgn="ctr">
                        <a:buNone/>
                      </a:pPr>
                      <a:r>
                        <a:rPr lang="en-IN" sz="1100" b="0" i="0" u="none" strike="noStrike">
                          <a:solidFill>
                            <a:srgbClr val="000000"/>
                          </a:solidFill>
                          <a:effectLst/>
                          <a:latin typeface="Aptos Narrow" panose="020B0004020202020204" pitchFamily="34" charset="0"/>
                        </a:rPr>
                        <a:t>A2C (Advantage Actor Critic)</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0E6F5"/>
                    </a:solidFill>
                  </a:tcPr>
                </a:tc>
                <a:extLst>
                  <a:ext uri="{0D108BD9-81ED-4DB2-BD59-A6C34878D82A}">
                    <a16:rowId xmlns:a16="http://schemas.microsoft.com/office/drawing/2014/main" val="1703057193"/>
                  </a:ext>
                </a:extLst>
              </a:tr>
              <a:tr h="1042227">
                <a:tc>
                  <a:txBody>
                    <a:bodyPr/>
                    <a:lstStyle/>
                    <a:p>
                      <a:pPr algn="ctr" fontAlgn="ctr">
                        <a:buNone/>
                      </a:pPr>
                      <a:r>
                        <a:rPr lang="en-IN" sz="1100" b="0" i="0" u="none" strike="noStrike">
                          <a:solidFill>
                            <a:srgbClr val="000000"/>
                          </a:solidFill>
                          <a:effectLst/>
                          <a:latin typeface="Aptos Narrow" panose="020B0004020202020204" pitchFamily="34" charset="0"/>
                        </a:rPr>
                        <a:t>Jaydip Sen et al.</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0E6F5"/>
                    </a:solidFill>
                  </a:tcPr>
                </a:tc>
                <a:tc>
                  <a:txBody>
                    <a:bodyPr/>
                    <a:lstStyle/>
                    <a:p>
                      <a:pPr algn="ctr" fontAlgn="ctr">
                        <a:buNone/>
                      </a:pPr>
                      <a:r>
                        <a:rPr lang="en-IN" sz="1100" b="0" i="0" u="none" strike="noStrike">
                          <a:solidFill>
                            <a:srgbClr val="000000"/>
                          </a:solidFill>
                          <a:effectLst/>
                          <a:latin typeface="Aptos Narrow" panose="020B0004020202020204" pitchFamily="34" charset="0"/>
                        </a:rPr>
                        <a:t>2023</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0E6F5"/>
                    </a:solidFill>
                  </a:tcPr>
                </a:tc>
                <a:tc>
                  <a:txBody>
                    <a:bodyPr/>
                    <a:lstStyle/>
                    <a:p>
                      <a:pPr algn="ctr" fontAlgn="ctr">
                        <a:buNone/>
                      </a:pPr>
                      <a:r>
                        <a:rPr lang="en-IN" sz="1100" b="0" i="0" u="none" strike="noStrike">
                          <a:solidFill>
                            <a:srgbClr val="000000"/>
                          </a:solidFill>
                          <a:effectLst/>
                          <a:latin typeface="Aptos Narrow" panose="020B0004020202020204" pitchFamily="34" charset="0"/>
                        </a:rPr>
                        <a:t>Indian Stock Market</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0E6F5"/>
                    </a:solidFill>
                  </a:tcPr>
                </a:tc>
                <a:tc>
                  <a:txBody>
                    <a:bodyPr/>
                    <a:lstStyle/>
                    <a:p>
                      <a:pPr algn="ctr" fontAlgn="ctr">
                        <a:buNone/>
                      </a:pPr>
                      <a:r>
                        <a:rPr lang="en-US" sz="1100" b="0" i="0" u="none" strike="noStrike" dirty="0">
                          <a:solidFill>
                            <a:srgbClr val="000000"/>
                          </a:solidFill>
                          <a:effectLst/>
                          <a:latin typeface="Aptos Narrow" panose="020B0004020202020204" pitchFamily="34" charset="0"/>
                        </a:rPr>
                        <a:t>Comparative Analysis of Portfolio Optimization Using Mean-Variance, HRP, and RL Approaches</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0E6F5"/>
                    </a:solidFill>
                  </a:tcPr>
                </a:tc>
                <a:tc>
                  <a:txBody>
                    <a:bodyPr/>
                    <a:lstStyle/>
                    <a:p>
                      <a:pPr algn="ctr" fontAlgn="ctr">
                        <a:buNone/>
                      </a:pPr>
                      <a:r>
                        <a:rPr lang="en-IN" sz="1100" b="0" i="0" u="none" strike="noStrike">
                          <a:solidFill>
                            <a:srgbClr val="000000"/>
                          </a:solidFill>
                          <a:effectLst/>
                          <a:latin typeface="Aptos Narrow" panose="020B0004020202020204" pitchFamily="34" charset="0"/>
                        </a:rPr>
                        <a:t>ROI = 12% vs baseline</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0E6F5"/>
                    </a:solidFill>
                  </a:tcPr>
                </a:tc>
                <a:tc>
                  <a:txBody>
                    <a:bodyPr/>
                    <a:lstStyle/>
                    <a:p>
                      <a:pPr algn="ctr" fontAlgn="ctr">
                        <a:buNone/>
                      </a:pPr>
                      <a:r>
                        <a:rPr lang="en-US" sz="1100" b="0" i="0" u="none" strike="noStrike">
                          <a:solidFill>
                            <a:srgbClr val="000000"/>
                          </a:solidFill>
                          <a:effectLst/>
                          <a:latin typeface="Aptos Narrow" panose="020B0004020202020204" pitchFamily="34" charset="0"/>
                        </a:rPr>
                        <a:t>Comparative evaluation of classical vs RL methods</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0E6F5"/>
                    </a:solidFill>
                  </a:tcPr>
                </a:tc>
                <a:tc>
                  <a:txBody>
                    <a:bodyPr/>
                    <a:lstStyle/>
                    <a:p>
                      <a:pPr algn="ctr" fontAlgn="ctr">
                        <a:buNone/>
                      </a:pPr>
                      <a:r>
                        <a:rPr lang="en-IN" sz="1100" b="0" i="0" u="none" strike="noStrike">
                          <a:solidFill>
                            <a:srgbClr val="000000"/>
                          </a:solidFill>
                          <a:effectLst/>
                          <a:latin typeface="Aptos Narrow" panose="020B0004020202020204" pitchFamily="34" charset="0"/>
                        </a:rPr>
                        <a:t>No hybrid forecasting</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0E6F5"/>
                    </a:solidFill>
                  </a:tcPr>
                </a:tc>
                <a:tc>
                  <a:txBody>
                    <a:bodyPr/>
                    <a:lstStyle/>
                    <a:p>
                      <a:pPr algn="ctr" fontAlgn="ctr">
                        <a:buNone/>
                      </a:pPr>
                      <a:r>
                        <a:rPr lang="en-IN" sz="1100" b="0" i="0" u="none" strike="noStrike">
                          <a:solidFill>
                            <a:srgbClr val="000000"/>
                          </a:solidFill>
                          <a:effectLst/>
                          <a:latin typeface="Aptos Narrow" panose="020B0004020202020204" pitchFamily="34" charset="0"/>
                        </a:rPr>
                        <a:t>DQN based RL</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0E6F5"/>
                    </a:solidFill>
                  </a:tcPr>
                </a:tc>
                <a:extLst>
                  <a:ext uri="{0D108BD9-81ED-4DB2-BD59-A6C34878D82A}">
                    <a16:rowId xmlns:a16="http://schemas.microsoft.com/office/drawing/2014/main" val="1622552783"/>
                  </a:ext>
                </a:extLst>
              </a:tr>
              <a:tr h="1042227">
                <a:tc>
                  <a:txBody>
                    <a:bodyPr/>
                    <a:lstStyle/>
                    <a:p>
                      <a:pPr algn="ctr" fontAlgn="ctr">
                        <a:buNone/>
                      </a:pPr>
                      <a:r>
                        <a:rPr lang="en-IN" sz="1100" b="0" i="0" u="none" strike="noStrike">
                          <a:solidFill>
                            <a:srgbClr val="000000"/>
                          </a:solidFill>
                          <a:effectLst/>
                          <a:latin typeface="Aptos Narrow" panose="020B0004020202020204" pitchFamily="34" charset="0"/>
                        </a:rPr>
                        <a:t>Arishi Orra et al.</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0E6F5"/>
                    </a:solidFill>
                  </a:tcPr>
                </a:tc>
                <a:tc>
                  <a:txBody>
                    <a:bodyPr/>
                    <a:lstStyle/>
                    <a:p>
                      <a:pPr algn="ctr" fontAlgn="ctr">
                        <a:buNone/>
                      </a:pPr>
                      <a:r>
                        <a:rPr lang="en-IN" sz="1100" b="0" i="0" u="none" strike="noStrike">
                          <a:solidFill>
                            <a:srgbClr val="000000"/>
                          </a:solidFill>
                          <a:effectLst/>
                          <a:latin typeface="Aptos Narrow" panose="020B0004020202020204" pitchFamily="34" charset="0"/>
                        </a:rPr>
                        <a:t>2025</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0E6F5"/>
                    </a:solidFill>
                  </a:tcPr>
                </a:tc>
                <a:tc>
                  <a:txBody>
                    <a:bodyPr/>
                    <a:lstStyle/>
                    <a:p>
                      <a:pPr algn="ctr" fontAlgn="ctr">
                        <a:buNone/>
                      </a:pPr>
                      <a:r>
                        <a:rPr lang="en-IN" sz="1100" b="0" i="0" u="none" strike="noStrike">
                          <a:solidFill>
                            <a:srgbClr val="000000"/>
                          </a:solidFill>
                          <a:effectLst/>
                          <a:latin typeface="Aptos Narrow" panose="020B0004020202020204" pitchFamily="34" charset="0"/>
                        </a:rPr>
                        <a:t>DOW 30 Stocks</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0E6F5"/>
                    </a:solidFill>
                  </a:tcPr>
                </a:tc>
                <a:tc>
                  <a:txBody>
                    <a:bodyPr/>
                    <a:lstStyle/>
                    <a:p>
                      <a:pPr algn="ctr" fontAlgn="ctr">
                        <a:buNone/>
                      </a:pPr>
                      <a:r>
                        <a:rPr lang="en-US" sz="1100" b="0" i="0" u="none" strike="noStrike" dirty="0">
                          <a:solidFill>
                            <a:srgbClr val="000000"/>
                          </a:solidFill>
                          <a:effectLst/>
                          <a:latin typeface="Aptos Narrow" panose="020B0004020202020204" pitchFamily="34" charset="0"/>
                        </a:rPr>
                        <a:t>Deep Reinforcement Learning for Investor-Specific Portfolio Optimization: A Volatility-Guided Approach</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0E6F5"/>
                    </a:solidFill>
                  </a:tcPr>
                </a:tc>
                <a:tc>
                  <a:txBody>
                    <a:bodyPr/>
                    <a:lstStyle/>
                    <a:p>
                      <a:pPr algn="ctr" fontAlgn="ctr">
                        <a:buNone/>
                      </a:pPr>
                      <a:r>
                        <a:rPr lang="en-IN" sz="1100" b="0" i="0" u="none" strike="noStrike">
                          <a:solidFill>
                            <a:srgbClr val="000000"/>
                          </a:solidFill>
                          <a:effectLst/>
                          <a:latin typeface="Aptos Narrow" panose="020B0004020202020204" pitchFamily="34" charset="0"/>
                        </a:rPr>
                        <a:t>Sortino = 1.28</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0E6F5"/>
                    </a:solidFill>
                  </a:tcPr>
                </a:tc>
                <a:tc>
                  <a:txBody>
                    <a:bodyPr/>
                    <a:lstStyle/>
                    <a:p>
                      <a:pPr algn="ctr" fontAlgn="ctr">
                        <a:buNone/>
                      </a:pPr>
                      <a:r>
                        <a:rPr lang="en-US" sz="1100" b="0" i="0" u="none" strike="noStrike">
                          <a:solidFill>
                            <a:srgbClr val="000000"/>
                          </a:solidFill>
                          <a:effectLst/>
                          <a:latin typeface="Aptos Narrow" panose="020B0004020202020204" pitchFamily="34" charset="0"/>
                        </a:rPr>
                        <a:t>Combines volatility forecasting + DRL policy</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0E6F5"/>
                    </a:solidFill>
                  </a:tcPr>
                </a:tc>
                <a:tc>
                  <a:txBody>
                    <a:bodyPr/>
                    <a:lstStyle/>
                    <a:p>
                      <a:pPr algn="ctr" fontAlgn="ctr">
                        <a:buNone/>
                      </a:pPr>
                      <a:r>
                        <a:rPr lang="en-IN" sz="1100" b="0" i="0" u="none" strike="noStrike">
                          <a:solidFill>
                            <a:srgbClr val="000000"/>
                          </a:solidFill>
                          <a:effectLst/>
                          <a:latin typeface="Aptos Narrow" panose="020B0004020202020204" pitchFamily="34" charset="0"/>
                        </a:rPr>
                        <a:t>Lacks interpretability</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0E6F5"/>
                    </a:solidFill>
                  </a:tcPr>
                </a:tc>
                <a:tc>
                  <a:txBody>
                    <a:bodyPr/>
                    <a:lstStyle/>
                    <a:p>
                      <a:pPr algn="ctr" fontAlgn="ctr">
                        <a:buNone/>
                      </a:pPr>
                      <a:r>
                        <a:rPr lang="en-IN" sz="1100" b="0" i="0" u="none" strike="noStrike">
                          <a:solidFill>
                            <a:srgbClr val="000000"/>
                          </a:solidFill>
                          <a:effectLst/>
                          <a:latin typeface="Aptos Narrow" panose="020B0004020202020204" pitchFamily="34" charset="0"/>
                        </a:rPr>
                        <a:t>DRL (PPO + Volatility Model)</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0E6F5"/>
                    </a:solidFill>
                  </a:tcPr>
                </a:tc>
                <a:extLst>
                  <a:ext uri="{0D108BD9-81ED-4DB2-BD59-A6C34878D82A}">
                    <a16:rowId xmlns:a16="http://schemas.microsoft.com/office/drawing/2014/main" val="3869828564"/>
                  </a:ext>
                </a:extLst>
              </a:tr>
              <a:tr h="781671">
                <a:tc>
                  <a:txBody>
                    <a:bodyPr/>
                    <a:lstStyle/>
                    <a:p>
                      <a:pPr algn="ctr" fontAlgn="ctr">
                        <a:buNone/>
                      </a:pPr>
                      <a:r>
                        <a:rPr lang="en-IN" sz="1100" b="0" i="0" u="none" strike="noStrike">
                          <a:solidFill>
                            <a:srgbClr val="000000"/>
                          </a:solidFill>
                          <a:effectLst/>
                          <a:latin typeface="Aptos Narrow" panose="020B0004020202020204" pitchFamily="34" charset="0"/>
                        </a:rPr>
                        <a:t>Springer Authors</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0E6F5"/>
                    </a:solidFill>
                  </a:tcPr>
                </a:tc>
                <a:tc>
                  <a:txBody>
                    <a:bodyPr/>
                    <a:lstStyle/>
                    <a:p>
                      <a:pPr algn="ctr" fontAlgn="ctr">
                        <a:buNone/>
                      </a:pPr>
                      <a:r>
                        <a:rPr lang="en-IN" sz="1100" b="0" i="0" u="none" strike="noStrike">
                          <a:solidFill>
                            <a:srgbClr val="000000"/>
                          </a:solidFill>
                          <a:effectLst/>
                          <a:latin typeface="Aptos Narrow" panose="020B0004020202020204" pitchFamily="34" charset="0"/>
                        </a:rPr>
                        <a:t>2025</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0E6F5"/>
                    </a:solidFill>
                  </a:tcPr>
                </a:tc>
                <a:tc>
                  <a:txBody>
                    <a:bodyPr/>
                    <a:lstStyle/>
                    <a:p>
                      <a:pPr algn="ctr" fontAlgn="ctr">
                        <a:buNone/>
                      </a:pPr>
                      <a:r>
                        <a:rPr lang="en-IN" sz="1100" b="0" i="0" u="none" strike="noStrike">
                          <a:solidFill>
                            <a:srgbClr val="000000"/>
                          </a:solidFill>
                          <a:effectLst/>
                          <a:latin typeface="Aptos Narrow" panose="020B0004020202020204" pitchFamily="34" charset="0"/>
                        </a:rPr>
                        <a:t>Global Market Indices</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0E6F5"/>
                    </a:solidFill>
                  </a:tcPr>
                </a:tc>
                <a:tc>
                  <a:txBody>
                    <a:bodyPr/>
                    <a:lstStyle/>
                    <a:p>
                      <a:pPr algn="ctr" fontAlgn="ctr">
                        <a:buNone/>
                      </a:pPr>
                      <a:r>
                        <a:rPr lang="en-US" sz="1100" b="0" i="0" u="none" strike="noStrike">
                          <a:solidFill>
                            <a:srgbClr val="000000"/>
                          </a:solidFill>
                          <a:effectLst/>
                          <a:latin typeface="Aptos Narrow" panose="020B0004020202020204" pitchFamily="34" charset="0"/>
                        </a:rPr>
                        <a:t>Risk-Adjusted Deep Reinforcement Learning for Portfolio Optimization</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0E6F5"/>
                    </a:solidFill>
                  </a:tcPr>
                </a:tc>
                <a:tc>
                  <a:txBody>
                    <a:bodyPr/>
                    <a:lstStyle/>
                    <a:p>
                      <a:pPr algn="ctr" fontAlgn="ctr">
                        <a:buNone/>
                      </a:pPr>
                      <a:r>
                        <a:rPr lang="en-IN" sz="1100" b="0" i="0" u="none" strike="noStrike">
                          <a:solidFill>
                            <a:srgbClr val="000000"/>
                          </a:solidFill>
                          <a:effectLst/>
                          <a:latin typeface="Aptos Narrow" panose="020B0004020202020204" pitchFamily="34" charset="0"/>
                        </a:rPr>
                        <a:t>Sharpe = 1.72</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0E6F5"/>
                    </a:solidFill>
                  </a:tcPr>
                </a:tc>
                <a:tc>
                  <a:txBody>
                    <a:bodyPr/>
                    <a:lstStyle/>
                    <a:p>
                      <a:pPr algn="ctr" fontAlgn="ctr">
                        <a:buNone/>
                      </a:pPr>
                      <a:r>
                        <a:rPr lang="en-US" sz="1100" b="0" i="0" u="none" strike="noStrike">
                          <a:solidFill>
                            <a:srgbClr val="000000"/>
                          </a:solidFill>
                          <a:effectLst/>
                          <a:latin typeface="Aptos Narrow" panose="020B0004020202020204" pitchFamily="34" charset="0"/>
                        </a:rPr>
                        <a:t>Risk-aware reward design + multi-agent ensemble</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0E6F5"/>
                    </a:solidFill>
                  </a:tcPr>
                </a:tc>
                <a:tc>
                  <a:txBody>
                    <a:bodyPr/>
                    <a:lstStyle/>
                    <a:p>
                      <a:pPr algn="ctr" fontAlgn="ctr">
                        <a:buNone/>
                      </a:pPr>
                      <a:r>
                        <a:rPr lang="en-IN" sz="1100" b="0" i="0" u="none" strike="noStrike">
                          <a:solidFill>
                            <a:srgbClr val="000000"/>
                          </a:solidFill>
                          <a:effectLst/>
                          <a:latin typeface="Aptos Narrow" panose="020B0004020202020204" pitchFamily="34" charset="0"/>
                        </a:rPr>
                        <a:t>Complex training pipeline</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0E6F5"/>
                    </a:solidFill>
                  </a:tcPr>
                </a:tc>
                <a:tc>
                  <a:txBody>
                    <a:bodyPr/>
                    <a:lstStyle/>
                    <a:p>
                      <a:pPr algn="ctr" fontAlgn="ctr">
                        <a:buNone/>
                      </a:pPr>
                      <a:r>
                        <a:rPr lang="en-IN" sz="1100" b="0" i="0" u="none" strike="noStrike">
                          <a:solidFill>
                            <a:srgbClr val="000000"/>
                          </a:solidFill>
                          <a:effectLst/>
                          <a:latin typeface="Aptos Narrow" panose="020B0004020202020204" pitchFamily="34" charset="0"/>
                        </a:rPr>
                        <a:t>PPO + CNN ensemble</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0E6F5"/>
                    </a:solidFill>
                  </a:tcPr>
                </a:tc>
                <a:extLst>
                  <a:ext uri="{0D108BD9-81ED-4DB2-BD59-A6C34878D82A}">
                    <a16:rowId xmlns:a16="http://schemas.microsoft.com/office/drawing/2014/main" val="504568130"/>
                  </a:ext>
                </a:extLst>
              </a:tr>
              <a:tr h="781671">
                <a:tc>
                  <a:txBody>
                    <a:bodyPr/>
                    <a:lstStyle/>
                    <a:p>
                      <a:pPr algn="ctr" fontAlgn="ctr">
                        <a:buNone/>
                      </a:pPr>
                      <a:r>
                        <a:rPr lang="en-IN" sz="1100" b="0" i="0" u="none" strike="noStrike" dirty="0">
                          <a:solidFill>
                            <a:srgbClr val="000000"/>
                          </a:solidFill>
                          <a:effectLst/>
                          <a:latin typeface="Aptos Narrow" panose="020B0004020202020204" pitchFamily="34" charset="0"/>
                        </a:rPr>
                        <a:t>H Yang et al.</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0E6F5"/>
                    </a:solidFill>
                  </a:tcPr>
                </a:tc>
                <a:tc>
                  <a:txBody>
                    <a:bodyPr/>
                    <a:lstStyle/>
                    <a:p>
                      <a:pPr algn="ctr" fontAlgn="ctr">
                        <a:buNone/>
                      </a:pPr>
                      <a:r>
                        <a:rPr lang="en-IN" sz="1100" b="0" i="0" u="none" strike="noStrike">
                          <a:solidFill>
                            <a:srgbClr val="000000"/>
                          </a:solidFill>
                          <a:effectLst/>
                          <a:latin typeface="Aptos Narrow" panose="020B0004020202020204" pitchFamily="34" charset="0"/>
                        </a:rPr>
                        <a:t>2022</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0E6F5"/>
                    </a:solidFill>
                  </a:tcPr>
                </a:tc>
                <a:tc>
                  <a:txBody>
                    <a:bodyPr/>
                    <a:lstStyle/>
                    <a:p>
                      <a:pPr algn="ctr" fontAlgn="ctr">
                        <a:buNone/>
                      </a:pPr>
                      <a:r>
                        <a:rPr lang="en-IN" sz="1100" b="0" i="0" u="none" strike="noStrike">
                          <a:solidFill>
                            <a:srgbClr val="000000"/>
                          </a:solidFill>
                          <a:effectLst/>
                          <a:latin typeface="Aptos Narrow" panose="020B0004020202020204" pitchFamily="34" charset="0"/>
                        </a:rPr>
                        <a:t>U.S. Stock Market</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0E6F5"/>
                    </a:solidFill>
                  </a:tcPr>
                </a:tc>
                <a:tc>
                  <a:txBody>
                    <a:bodyPr/>
                    <a:lstStyle/>
                    <a:p>
                      <a:pPr algn="ctr" fontAlgn="ctr">
                        <a:buNone/>
                      </a:pPr>
                      <a:r>
                        <a:rPr lang="en-IN" sz="1100" b="0" i="0" u="none" strike="noStrike" dirty="0">
                          <a:solidFill>
                            <a:srgbClr val="000000"/>
                          </a:solidFill>
                          <a:effectLst/>
                          <a:latin typeface="Aptos Narrow" panose="020B0004020202020204" pitchFamily="34" charset="0"/>
                        </a:rPr>
                        <a:t>LSTM-Based Deep Model for Investment Portfolio</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0E6F5"/>
                    </a:solidFill>
                  </a:tcPr>
                </a:tc>
                <a:tc>
                  <a:txBody>
                    <a:bodyPr/>
                    <a:lstStyle/>
                    <a:p>
                      <a:pPr algn="ctr" fontAlgn="ctr">
                        <a:buNone/>
                      </a:pPr>
                      <a:r>
                        <a:rPr lang="en-US" sz="1100" b="0" i="0" u="none" strike="noStrike" dirty="0">
                          <a:solidFill>
                            <a:srgbClr val="000000"/>
                          </a:solidFill>
                          <a:effectLst/>
                          <a:latin typeface="Aptos Narrow" panose="020B0004020202020204" pitchFamily="34" charset="0"/>
                        </a:rPr>
                        <a:t>Higher Return / Risk Ratio vs baseline</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0E6F5"/>
                    </a:solidFill>
                  </a:tcPr>
                </a:tc>
                <a:tc>
                  <a:txBody>
                    <a:bodyPr/>
                    <a:lstStyle/>
                    <a:p>
                      <a:pPr algn="ctr" fontAlgn="ctr">
                        <a:buNone/>
                      </a:pPr>
                      <a:r>
                        <a:rPr lang="en-US" sz="1100" b="0" i="0" u="none" strike="noStrike" dirty="0">
                          <a:solidFill>
                            <a:srgbClr val="000000"/>
                          </a:solidFill>
                          <a:effectLst/>
                          <a:latin typeface="Aptos Narrow" panose="020B0004020202020204" pitchFamily="34" charset="0"/>
                        </a:rPr>
                        <a:t>Combines LSTM + Genetic Algorithm for portfolio weighting</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0E6F5"/>
                    </a:solidFill>
                  </a:tcPr>
                </a:tc>
                <a:tc>
                  <a:txBody>
                    <a:bodyPr/>
                    <a:lstStyle/>
                    <a:p>
                      <a:pPr algn="ctr" fontAlgn="ctr">
                        <a:buNone/>
                      </a:pPr>
                      <a:r>
                        <a:rPr lang="en-US" sz="1100" b="0" i="0" u="none" strike="noStrike" dirty="0">
                          <a:solidFill>
                            <a:srgbClr val="000000"/>
                          </a:solidFill>
                          <a:effectLst/>
                          <a:latin typeface="Aptos Narrow" panose="020B0004020202020204" pitchFamily="34" charset="0"/>
                        </a:rPr>
                        <a:t>Does not include RL module</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0E6F5"/>
                    </a:solidFill>
                  </a:tcPr>
                </a:tc>
                <a:tc>
                  <a:txBody>
                    <a:bodyPr/>
                    <a:lstStyle/>
                    <a:p>
                      <a:pPr algn="ctr" fontAlgn="ctr">
                        <a:buNone/>
                      </a:pPr>
                      <a:r>
                        <a:rPr lang="en-IN" sz="1100" b="0" i="0" u="none" strike="noStrike" dirty="0">
                          <a:solidFill>
                            <a:srgbClr val="000000"/>
                          </a:solidFill>
                          <a:effectLst/>
                          <a:latin typeface="Aptos Narrow" panose="020B0004020202020204" pitchFamily="34" charset="0"/>
                        </a:rPr>
                        <a:t>LSTM + Genetic Algorithm</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0E6F5"/>
                    </a:solidFill>
                  </a:tcPr>
                </a:tc>
                <a:extLst>
                  <a:ext uri="{0D108BD9-81ED-4DB2-BD59-A6C34878D82A}">
                    <a16:rowId xmlns:a16="http://schemas.microsoft.com/office/drawing/2014/main" val="668460950"/>
                  </a:ext>
                </a:extLst>
              </a:tr>
            </a:tbl>
          </a:graphicData>
        </a:graphic>
      </p:graphicFrame>
    </p:spTree>
    <p:extLst>
      <p:ext uri="{BB962C8B-B14F-4D97-AF65-F5344CB8AC3E}">
        <p14:creationId xmlns:p14="http://schemas.microsoft.com/office/powerpoint/2010/main" val="301663717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104">
          <a:extLst>
            <a:ext uri="{FF2B5EF4-FFF2-40B4-BE49-F238E27FC236}">
              <a16:creationId xmlns:a16="http://schemas.microsoft.com/office/drawing/2014/main" id="{BA8C7C64-C562-3A12-205D-C86363C11294}"/>
            </a:ext>
          </a:extLst>
        </p:cNvPr>
        <p:cNvGrpSpPr/>
        <p:nvPr/>
      </p:nvGrpSpPr>
      <p:grpSpPr>
        <a:xfrm>
          <a:off x="0" y="0"/>
          <a:ext cx="0" cy="0"/>
          <a:chOff x="0" y="0"/>
          <a:chExt cx="0" cy="0"/>
        </a:xfrm>
      </p:grpSpPr>
      <p:sp>
        <p:nvSpPr>
          <p:cNvPr id="105" name="Google Shape;105;p4">
            <a:extLst>
              <a:ext uri="{FF2B5EF4-FFF2-40B4-BE49-F238E27FC236}">
                <a16:creationId xmlns:a16="http://schemas.microsoft.com/office/drawing/2014/main" id="{C9608369-0A27-EE21-92B3-0179F8C7500A}"/>
              </a:ext>
            </a:extLst>
          </p:cNvPr>
          <p:cNvSpPr txBox="1">
            <a:spLocks noGrp="1"/>
          </p:cNvSpPr>
          <p:nvPr>
            <p:ph type="title"/>
          </p:nvPr>
        </p:nvSpPr>
        <p:spPr>
          <a:xfrm>
            <a:off x="534259" y="309562"/>
            <a:ext cx="2503909" cy="382156"/>
          </a:xfrm>
          <a:prstGeom prst="rect">
            <a:avLst/>
          </a:prstGeom>
          <a:noFill/>
          <a:ln>
            <a:noFill/>
          </a:ln>
        </p:spPr>
        <p:txBody>
          <a:bodyPr spcFirstLastPara="1" wrap="square" lIns="0" tIns="12700" rIns="0" bIns="0" anchor="ctr" anchorCtr="0">
            <a:spAutoFit/>
          </a:bodyPr>
          <a:lstStyle/>
          <a:p>
            <a:pPr marL="12700" lvl="0">
              <a:lnSpc>
                <a:spcPct val="100000"/>
              </a:lnSpc>
              <a:buClr>
                <a:srgbClr val="04A2B9"/>
              </a:buClr>
              <a:buSzPts val="2400"/>
            </a:pPr>
            <a:r>
              <a:rPr lang="en-US" sz="2400" b="1" dirty="0">
                <a:solidFill>
                  <a:srgbClr val="04A2B9"/>
                </a:solidFill>
                <a:latin typeface="Proxima Nova"/>
                <a:ea typeface="Proxima Nova"/>
                <a:cs typeface="Proxima Nova"/>
                <a:sym typeface="Proxima Nova"/>
              </a:rPr>
              <a:t>Literature Review</a:t>
            </a:r>
            <a:endParaRPr sz="2400" b="1" dirty="0">
              <a:latin typeface="Proxima Nova"/>
              <a:ea typeface="Proxima Nova"/>
              <a:cs typeface="Proxima Nova"/>
              <a:sym typeface="Proxima Nova"/>
            </a:endParaRPr>
          </a:p>
        </p:txBody>
      </p:sp>
      <p:graphicFrame>
        <p:nvGraphicFramePr>
          <p:cNvPr id="6" name="Table 5">
            <a:extLst>
              <a:ext uri="{FF2B5EF4-FFF2-40B4-BE49-F238E27FC236}">
                <a16:creationId xmlns:a16="http://schemas.microsoft.com/office/drawing/2014/main" id="{537AD768-F0AB-B57B-80FA-E0694D889527}"/>
              </a:ext>
            </a:extLst>
          </p:cNvPr>
          <p:cNvGraphicFramePr>
            <a:graphicFrameLocks noGrp="1"/>
          </p:cNvGraphicFramePr>
          <p:nvPr/>
        </p:nvGraphicFramePr>
        <p:xfrm>
          <a:off x="534259" y="955144"/>
          <a:ext cx="10935846" cy="382156"/>
        </p:xfrm>
        <a:graphic>
          <a:graphicData uri="http://schemas.openxmlformats.org/drawingml/2006/table">
            <a:tbl>
              <a:tblPr/>
              <a:tblGrid>
                <a:gridCol w="1403831">
                  <a:extLst>
                    <a:ext uri="{9D8B030D-6E8A-4147-A177-3AD203B41FA5}">
                      <a16:colId xmlns:a16="http://schemas.microsoft.com/office/drawing/2014/main" val="2110112195"/>
                    </a:ext>
                  </a:extLst>
                </a:gridCol>
                <a:gridCol w="786146">
                  <a:extLst>
                    <a:ext uri="{9D8B030D-6E8A-4147-A177-3AD203B41FA5}">
                      <a16:colId xmlns:a16="http://schemas.microsoft.com/office/drawing/2014/main" val="1797418888"/>
                    </a:ext>
                  </a:extLst>
                </a:gridCol>
                <a:gridCol w="1137103">
                  <a:extLst>
                    <a:ext uri="{9D8B030D-6E8A-4147-A177-3AD203B41FA5}">
                      <a16:colId xmlns:a16="http://schemas.microsoft.com/office/drawing/2014/main" val="4043699253"/>
                    </a:ext>
                  </a:extLst>
                </a:gridCol>
                <a:gridCol w="2119785">
                  <a:extLst>
                    <a:ext uri="{9D8B030D-6E8A-4147-A177-3AD203B41FA5}">
                      <a16:colId xmlns:a16="http://schemas.microsoft.com/office/drawing/2014/main" val="3226050531"/>
                    </a:ext>
                  </a:extLst>
                </a:gridCol>
                <a:gridCol w="1221333">
                  <a:extLst>
                    <a:ext uri="{9D8B030D-6E8A-4147-A177-3AD203B41FA5}">
                      <a16:colId xmlns:a16="http://schemas.microsoft.com/office/drawing/2014/main" val="3785835067"/>
                    </a:ext>
                  </a:extLst>
                </a:gridCol>
                <a:gridCol w="1530176">
                  <a:extLst>
                    <a:ext uri="{9D8B030D-6E8A-4147-A177-3AD203B41FA5}">
                      <a16:colId xmlns:a16="http://schemas.microsoft.com/office/drawing/2014/main" val="3716550024"/>
                    </a:ext>
                  </a:extLst>
                </a:gridCol>
                <a:gridCol w="1235372">
                  <a:extLst>
                    <a:ext uri="{9D8B030D-6E8A-4147-A177-3AD203B41FA5}">
                      <a16:colId xmlns:a16="http://schemas.microsoft.com/office/drawing/2014/main" val="3409063683"/>
                    </a:ext>
                  </a:extLst>
                </a:gridCol>
                <a:gridCol w="1502100">
                  <a:extLst>
                    <a:ext uri="{9D8B030D-6E8A-4147-A177-3AD203B41FA5}">
                      <a16:colId xmlns:a16="http://schemas.microsoft.com/office/drawing/2014/main" val="1624008034"/>
                    </a:ext>
                  </a:extLst>
                </a:gridCol>
              </a:tblGrid>
              <a:tr h="382156">
                <a:tc>
                  <a:txBody>
                    <a:bodyPr/>
                    <a:lstStyle/>
                    <a:p>
                      <a:pPr algn="ctr" fontAlgn="ctr">
                        <a:buNone/>
                      </a:pPr>
                      <a:r>
                        <a:rPr lang="en-IN" sz="1100" b="0" i="0" u="none" strike="noStrike" dirty="0">
                          <a:solidFill>
                            <a:srgbClr val="000000"/>
                          </a:solidFill>
                          <a:effectLst/>
                          <a:latin typeface="Aptos Narrow" panose="020B0004020202020204" pitchFamily="34" charset="0"/>
                        </a:rPr>
                        <a:t>Author</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44B3E1"/>
                    </a:solidFill>
                  </a:tcPr>
                </a:tc>
                <a:tc>
                  <a:txBody>
                    <a:bodyPr/>
                    <a:lstStyle/>
                    <a:p>
                      <a:pPr algn="ctr" fontAlgn="ctr">
                        <a:buNone/>
                      </a:pPr>
                      <a:r>
                        <a:rPr lang="en-IN" sz="1100" b="0" i="0" u="none" strike="noStrike">
                          <a:solidFill>
                            <a:srgbClr val="000000"/>
                          </a:solidFill>
                          <a:effectLst/>
                          <a:latin typeface="Aptos Narrow" panose="020B0004020202020204" pitchFamily="34" charset="0"/>
                        </a:rPr>
                        <a:t>YEAR</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44B3E1"/>
                    </a:solidFill>
                  </a:tcPr>
                </a:tc>
                <a:tc>
                  <a:txBody>
                    <a:bodyPr/>
                    <a:lstStyle/>
                    <a:p>
                      <a:pPr algn="ctr" fontAlgn="ctr">
                        <a:buNone/>
                      </a:pPr>
                      <a:r>
                        <a:rPr lang="en-IN" sz="1100" b="0" i="0" u="none" strike="noStrike">
                          <a:solidFill>
                            <a:srgbClr val="000000"/>
                          </a:solidFill>
                          <a:effectLst/>
                          <a:latin typeface="Aptos Narrow" panose="020B0004020202020204" pitchFamily="34" charset="0"/>
                        </a:rPr>
                        <a:t>Dataset</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44B3E1"/>
                    </a:solidFill>
                  </a:tcPr>
                </a:tc>
                <a:tc>
                  <a:txBody>
                    <a:bodyPr/>
                    <a:lstStyle/>
                    <a:p>
                      <a:pPr algn="ctr" fontAlgn="ctr">
                        <a:buNone/>
                      </a:pPr>
                      <a:r>
                        <a:rPr lang="en-IN" sz="1100" b="0" i="0" u="none" strike="noStrike">
                          <a:solidFill>
                            <a:srgbClr val="000000"/>
                          </a:solidFill>
                          <a:effectLst/>
                          <a:latin typeface="Aptos Narrow" panose="020B0004020202020204" pitchFamily="34" charset="0"/>
                        </a:rPr>
                        <a:t>Title</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44B3E1"/>
                    </a:solidFill>
                  </a:tcPr>
                </a:tc>
                <a:tc>
                  <a:txBody>
                    <a:bodyPr/>
                    <a:lstStyle/>
                    <a:p>
                      <a:pPr algn="ctr" fontAlgn="ctr">
                        <a:buNone/>
                      </a:pPr>
                      <a:r>
                        <a:rPr lang="en-IN" sz="1100" b="0" i="0" u="none" strike="noStrike">
                          <a:solidFill>
                            <a:srgbClr val="000000"/>
                          </a:solidFill>
                          <a:effectLst/>
                          <a:latin typeface="Aptos Narrow" panose="020B0004020202020204" pitchFamily="34" charset="0"/>
                        </a:rPr>
                        <a:t>Accuracy</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44B3E1"/>
                    </a:solidFill>
                  </a:tcPr>
                </a:tc>
                <a:tc>
                  <a:txBody>
                    <a:bodyPr/>
                    <a:lstStyle/>
                    <a:p>
                      <a:pPr algn="ctr" fontAlgn="ctr">
                        <a:buNone/>
                      </a:pPr>
                      <a:r>
                        <a:rPr lang="en-IN" sz="1100" b="0" i="0" u="none" strike="noStrike">
                          <a:solidFill>
                            <a:srgbClr val="000000"/>
                          </a:solidFill>
                          <a:effectLst/>
                          <a:latin typeface="Aptos Narrow" panose="020B0004020202020204" pitchFamily="34" charset="0"/>
                        </a:rPr>
                        <a:t>Strenghts</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44B3E1"/>
                    </a:solidFill>
                  </a:tcPr>
                </a:tc>
                <a:tc>
                  <a:txBody>
                    <a:bodyPr/>
                    <a:lstStyle/>
                    <a:p>
                      <a:pPr algn="ctr" fontAlgn="ctr">
                        <a:buNone/>
                      </a:pPr>
                      <a:r>
                        <a:rPr lang="en-IN" sz="1100" b="0" i="0" u="none" strike="noStrike">
                          <a:solidFill>
                            <a:srgbClr val="000000"/>
                          </a:solidFill>
                          <a:effectLst/>
                          <a:latin typeface="Aptos Narrow" panose="020B0004020202020204" pitchFamily="34" charset="0"/>
                        </a:rPr>
                        <a:t>Limitation</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44B3E1"/>
                    </a:solidFill>
                  </a:tcPr>
                </a:tc>
                <a:tc>
                  <a:txBody>
                    <a:bodyPr/>
                    <a:lstStyle/>
                    <a:p>
                      <a:pPr algn="ctr" fontAlgn="ctr">
                        <a:buNone/>
                      </a:pPr>
                      <a:r>
                        <a:rPr lang="en-IN" sz="1100" b="0" i="0" u="none" strike="noStrike" dirty="0">
                          <a:solidFill>
                            <a:srgbClr val="000000"/>
                          </a:solidFill>
                          <a:effectLst/>
                          <a:latin typeface="Aptos Narrow" panose="020B0004020202020204" pitchFamily="34" charset="0"/>
                        </a:rPr>
                        <a:t>Model Used</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44B3E1"/>
                    </a:solidFill>
                  </a:tcPr>
                </a:tc>
                <a:extLst>
                  <a:ext uri="{0D108BD9-81ED-4DB2-BD59-A6C34878D82A}">
                    <a16:rowId xmlns:a16="http://schemas.microsoft.com/office/drawing/2014/main" val="1371595426"/>
                  </a:ext>
                </a:extLst>
              </a:tr>
            </a:tbl>
          </a:graphicData>
        </a:graphic>
      </p:graphicFrame>
      <p:graphicFrame>
        <p:nvGraphicFramePr>
          <p:cNvPr id="2" name="Table 1">
            <a:extLst>
              <a:ext uri="{FF2B5EF4-FFF2-40B4-BE49-F238E27FC236}">
                <a16:creationId xmlns:a16="http://schemas.microsoft.com/office/drawing/2014/main" id="{39F0BA72-F2A6-948E-CB8C-1B7931B09911}"/>
              </a:ext>
            </a:extLst>
          </p:cNvPr>
          <p:cNvGraphicFramePr>
            <a:graphicFrameLocks noGrp="1"/>
          </p:cNvGraphicFramePr>
          <p:nvPr>
            <p:extLst>
              <p:ext uri="{D42A27DB-BD31-4B8C-83A1-F6EECF244321}">
                <p14:modId xmlns:p14="http://schemas.microsoft.com/office/powerpoint/2010/main" val="2975751822"/>
              </p:ext>
            </p:extLst>
          </p:nvPr>
        </p:nvGraphicFramePr>
        <p:xfrm>
          <a:off x="534258" y="1337300"/>
          <a:ext cx="10935845" cy="5211139"/>
        </p:xfrm>
        <a:graphic>
          <a:graphicData uri="http://schemas.openxmlformats.org/drawingml/2006/table">
            <a:tbl>
              <a:tblPr/>
              <a:tblGrid>
                <a:gridCol w="1403831">
                  <a:extLst>
                    <a:ext uri="{9D8B030D-6E8A-4147-A177-3AD203B41FA5}">
                      <a16:colId xmlns:a16="http://schemas.microsoft.com/office/drawing/2014/main" val="3639952926"/>
                    </a:ext>
                  </a:extLst>
                </a:gridCol>
                <a:gridCol w="786145">
                  <a:extLst>
                    <a:ext uri="{9D8B030D-6E8A-4147-A177-3AD203B41FA5}">
                      <a16:colId xmlns:a16="http://schemas.microsoft.com/office/drawing/2014/main" val="838049477"/>
                    </a:ext>
                  </a:extLst>
                </a:gridCol>
                <a:gridCol w="1137104">
                  <a:extLst>
                    <a:ext uri="{9D8B030D-6E8A-4147-A177-3AD203B41FA5}">
                      <a16:colId xmlns:a16="http://schemas.microsoft.com/office/drawing/2014/main" val="4101665558"/>
                    </a:ext>
                  </a:extLst>
                </a:gridCol>
                <a:gridCol w="2119785">
                  <a:extLst>
                    <a:ext uri="{9D8B030D-6E8A-4147-A177-3AD203B41FA5}">
                      <a16:colId xmlns:a16="http://schemas.microsoft.com/office/drawing/2014/main" val="3409105679"/>
                    </a:ext>
                  </a:extLst>
                </a:gridCol>
                <a:gridCol w="1221333">
                  <a:extLst>
                    <a:ext uri="{9D8B030D-6E8A-4147-A177-3AD203B41FA5}">
                      <a16:colId xmlns:a16="http://schemas.microsoft.com/office/drawing/2014/main" val="4107616076"/>
                    </a:ext>
                  </a:extLst>
                </a:gridCol>
                <a:gridCol w="1530176">
                  <a:extLst>
                    <a:ext uri="{9D8B030D-6E8A-4147-A177-3AD203B41FA5}">
                      <a16:colId xmlns:a16="http://schemas.microsoft.com/office/drawing/2014/main" val="4176968917"/>
                    </a:ext>
                  </a:extLst>
                </a:gridCol>
                <a:gridCol w="1235372">
                  <a:extLst>
                    <a:ext uri="{9D8B030D-6E8A-4147-A177-3AD203B41FA5}">
                      <a16:colId xmlns:a16="http://schemas.microsoft.com/office/drawing/2014/main" val="2818764603"/>
                    </a:ext>
                  </a:extLst>
                </a:gridCol>
                <a:gridCol w="1502099">
                  <a:extLst>
                    <a:ext uri="{9D8B030D-6E8A-4147-A177-3AD203B41FA5}">
                      <a16:colId xmlns:a16="http://schemas.microsoft.com/office/drawing/2014/main" val="1012981357"/>
                    </a:ext>
                  </a:extLst>
                </a:gridCol>
              </a:tblGrid>
              <a:tr h="1141542">
                <a:tc>
                  <a:txBody>
                    <a:bodyPr/>
                    <a:lstStyle/>
                    <a:p>
                      <a:pPr algn="ctr" fontAlgn="ctr">
                        <a:buNone/>
                      </a:pPr>
                      <a:r>
                        <a:rPr lang="en-IN" sz="1100" b="0" i="0" u="none" strike="noStrike">
                          <a:solidFill>
                            <a:srgbClr val="000000"/>
                          </a:solidFill>
                          <a:effectLst/>
                          <a:latin typeface="Aptos Narrow" panose="020B0004020202020204" pitchFamily="34" charset="0"/>
                        </a:rPr>
                        <a:t>Z Song et al.</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0E6F5"/>
                    </a:solidFill>
                  </a:tcPr>
                </a:tc>
                <a:tc>
                  <a:txBody>
                    <a:bodyPr/>
                    <a:lstStyle/>
                    <a:p>
                      <a:pPr algn="ctr" fontAlgn="ctr">
                        <a:buNone/>
                      </a:pPr>
                      <a:r>
                        <a:rPr lang="en-IN" sz="1100" b="0" i="0" u="none" strike="noStrike">
                          <a:solidFill>
                            <a:srgbClr val="000000"/>
                          </a:solidFill>
                          <a:effectLst/>
                          <a:latin typeface="Aptos Narrow" panose="020B0004020202020204" pitchFamily="34" charset="0"/>
                        </a:rPr>
                        <a:t>2023</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0E6F5"/>
                    </a:solidFill>
                  </a:tcPr>
                </a:tc>
                <a:tc>
                  <a:txBody>
                    <a:bodyPr/>
                    <a:lstStyle/>
                    <a:p>
                      <a:pPr algn="ctr" fontAlgn="ctr">
                        <a:buNone/>
                      </a:pPr>
                      <a:r>
                        <a:rPr lang="en-IN" sz="1100" b="0" i="0" u="none" strike="noStrike">
                          <a:solidFill>
                            <a:srgbClr val="000000"/>
                          </a:solidFill>
                          <a:effectLst/>
                          <a:latin typeface="Aptos Narrow" panose="020B0004020202020204" pitchFamily="34" charset="0"/>
                        </a:rPr>
                        <a:t>U.S. Equities</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0E6F5"/>
                    </a:solidFill>
                  </a:tcPr>
                </a:tc>
                <a:tc>
                  <a:txBody>
                    <a:bodyPr/>
                    <a:lstStyle/>
                    <a:p>
                      <a:pPr algn="ctr" fontAlgn="ctr">
                        <a:buNone/>
                      </a:pPr>
                      <a:r>
                        <a:rPr lang="en-US" sz="1100" b="0" i="0" u="none" strike="noStrike">
                          <a:solidFill>
                            <a:srgbClr val="000000"/>
                          </a:solidFill>
                          <a:effectLst/>
                          <a:latin typeface="Aptos Narrow" panose="020B0004020202020204" pitchFamily="34" charset="0"/>
                        </a:rPr>
                        <a:t>An Interpretable Stochastic Model-Free Reinforcement Learning Framework for Portfolio Optimization</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0E6F5"/>
                    </a:solidFill>
                  </a:tcPr>
                </a:tc>
                <a:tc>
                  <a:txBody>
                    <a:bodyPr/>
                    <a:lstStyle/>
                    <a:p>
                      <a:pPr algn="ctr" fontAlgn="ctr">
                        <a:buNone/>
                      </a:pPr>
                      <a:r>
                        <a:rPr lang="en-US" sz="1100" b="0" i="0" u="none" strike="noStrike">
                          <a:solidFill>
                            <a:srgbClr val="000000"/>
                          </a:solidFill>
                          <a:effectLst/>
                          <a:latin typeface="Aptos Narrow" panose="020B0004020202020204" pitchFamily="34" charset="0"/>
                        </a:rPr>
                        <a:t>Outperforms benchmarks on risk-adjusted returns</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0E6F5"/>
                    </a:solidFill>
                  </a:tcPr>
                </a:tc>
                <a:tc>
                  <a:txBody>
                    <a:bodyPr/>
                    <a:lstStyle/>
                    <a:p>
                      <a:pPr algn="ctr" fontAlgn="ctr">
                        <a:buNone/>
                      </a:pPr>
                      <a:r>
                        <a:rPr lang="en-US" sz="1100" b="0" i="0" u="none" strike="noStrike">
                          <a:solidFill>
                            <a:srgbClr val="000000"/>
                          </a:solidFill>
                          <a:effectLst/>
                          <a:latin typeface="Aptos Narrow" panose="020B0004020202020204" pitchFamily="34" charset="0"/>
                        </a:rPr>
                        <a:t>Risk-aware interpretable RL with stochastic policy gradient</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0E6F5"/>
                    </a:solidFill>
                  </a:tcPr>
                </a:tc>
                <a:tc>
                  <a:txBody>
                    <a:bodyPr/>
                    <a:lstStyle/>
                    <a:p>
                      <a:pPr algn="ctr" fontAlgn="ctr">
                        <a:buNone/>
                      </a:pPr>
                      <a:r>
                        <a:rPr lang="en-US" sz="1100" b="0" i="0" u="none" strike="noStrike">
                          <a:solidFill>
                            <a:srgbClr val="000000"/>
                          </a:solidFill>
                          <a:effectLst/>
                          <a:latin typeface="Aptos Narrow" panose="020B0004020202020204" pitchFamily="34" charset="0"/>
                        </a:rPr>
                        <a:t>Focuses only on equity data; complex reward tuning</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0E6F5"/>
                    </a:solidFill>
                  </a:tcPr>
                </a:tc>
                <a:tc>
                  <a:txBody>
                    <a:bodyPr/>
                    <a:lstStyle/>
                    <a:p>
                      <a:pPr algn="ctr" fontAlgn="ctr">
                        <a:buNone/>
                      </a:pPr>
                      <a:r>
                        <a:rPr lang="en-US" sz="1100" b="0" i="0" u="none" strike="noStrike">
                          <a:solidFill>
                            <a:srgbClr val="000000"/>
                          </a:solidFill>
                          <a:effectLst/>
                          <a:latin typeface="Aptos Narrow" panose="020B0004020202020204" pitchFamily="34" charset="0"/>
                        </a:rPr>
                        <a:t>Stochastic RL (Gaussian policy + critic)</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0E6F5"/>
                    </a:solidFill>
                  </a:tcPr>
                </a:tc>
                <a:extLst>
                  <a:ext uri="{0D108BD9-81ED-4DB2-BD59-A6C34878D82A}">
                    <a16:rowId xmlns:a16="http://schemas.microsoft.com/office/drawing/2014/main" val="4135986942"/>
                  </a:ext>
                </a:extLst>
              </a:tr>
              <a:tr h="1141542">
                <a:tc>
                  <a:txBody>
                    <a:bodyPr/>
                    <a:lstStyle/>
                    <a:p>
                      <a:pPr algn="ctr" fontAlgn="ctr">
                        <a:buNone/>
                      </a:pPr>
                      <a:r>
                        <a:rPr lang="en-IN" sz="1100" b="0" i="0" u="none" strike="noStrike">
                          <a:solidFill>
                            <a:srgbClr val="000000"/>
                          </a:solidFill>
                          <a:effectLst/>
                          <a:latin typeface="Aptos Narrow" panose="020B0004020202020204" pitchFamily="34" charset="0"/>
                        </a:rPr>
                        <a:t>Chuting Sun et al.</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0E6F5"/>
                    </a:solidFill>
                  </a:tcPr>
                </a:tc>
                <a:tc>
                  <a:txBody>
                    <a:bodyPr/>
                    <a:lstStyle/>
                    <a:p>
                      <a:pPr algn="ctr" fontAlgn="ctr">
                        <a:buNone/>
                      </a:pPr>
                      <a:r>
                        <a:rPr lang="en-IN" sz="1100" b="0" i="0" u="none" strike="noStrike">
                          <a:solidFill>
                            <a:srgbClr val="000000"/>
                          </a:solidFill>
                          <a:effectLst/>
                          <a:latin typeface="Aptos Narrow" panose="020B0004020202020204" pitchFamily="34" charset="0"/>
                        </a:rPr>
                        <a:t>2023</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0E6F5"/>
                    </a:solidFill>
                  </a:tcPr>
                </a:tc>
                <a:tc>
                  <a:txBody>
                    <a:bodyPr/>
                    <a:lstStyle/>
                    <a:p>
                      <a:pPr algn="ctr" fontAlgn="ctr">
                        <a:buNone/>
                      </a:pPr>
                      <a:r>
                        <a:rPr lang="en-IN" sz="1100" b="0" i="0" u="none" strike="noStrike">
                          <a:solidFill>
                            <a:srgbClr val="000000"/>
                          </a:solidFill>
                          <a:effectLst/>
                          <a:latin typeface="Aptos Narrow" panose="020B0004020202020204" pitchFamily="34" charset="0"/>
                        </a:rPr>
                        <a:t>Multivariate Stock Returns</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0E6F5"/>
                    </a:solidFill>
                  </a:tcPr>
                </a:tc>
                <a:tc>
                  <a:txBody>
                    <a:bodyPr/>
                    <a:lstStyle/>
                    <a:p>
                      <a:pPr algn="ctr" fontAlgn="ctr">
                        <a:buNone/>
                      </a:pPr>
                      <a:r>
                        <a:rPr lang="en-US" sz="1100" b="0" i="0" u="none" strike="noStrike">
                          <a:solidFill>
                            <a:srgbClr val="000000"/>
                          </a:solidFill>
                          <a:effectLst/>
                          <a:latin typeface="Aptos Narrow" panose="020B0004020202020204" pitchFamily="34" charset="0"/>
                        </a:rPr>
                        <a:t>Dynamic CVaR Portfolio Construction with Attention-Powered Generative Factor Learning</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0E6F5"/>
                    </a:solidFill>
                  </a:tcPr>
                </a:tc>
                <a:tc>
                  <a:txBody>
                    <a:bodyPr/>
                    <a:lstStyle/>
                    <a:p>
                      <a:pPr algn="ctr" fontAlgn="ctr">
                        <a:buNone/>
                      </a:pPr>
                      <a:r>
                        <a:rPr lang="en-US" sz="1100" b="0" i="0" u="none" strike="noStrike">
                          <a:solidFill>
                            <a:srgbClr val="000000"/>
                          </a:solidFill>
                          <a:effectLst/>
                          <a:latin typeface="Aptos Narrow" panose="020B0004020202020204" pitchFamily="34" charset="0"/>
                        </a:rPr>
                        <a:t>Improved CVaR and tail-risk metrics</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0E6F5"/>
                    </a:solidFill>
                  </a:tcPr>
                </a:tc>
                <a:tc>
                  <a:txBody>
                    <a:bodyPr/>
                    <a:lstStyle/>
                    <a:p>
                      <a:pPr algn="ctr" fontAlgn="ctr">
                        <a:buNone/>
                      </a:pPr>
                      <a:r>
                        <a:rPr lang="en-US" sz="1100" b="0" i="0" u="none" strike="noStrike">
                          <a:solidFill>
                            <a:srgbClr val="000000"/>
                          </a:solidFill>
                          <a:effectLst/>
                          <a:latin typeface="Aptos Narrow" panose="020B0004020202020204" pitchFamily="34" charset="0"/>
                        </a:rPr>
                        <a:t>Uses Attention-GRU and factor learning for robust returns</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0E6F5"/>
                    </a:solidFill>
                  </a:tcPr>
                </a:tc>
                <a:tc>
                  <a:txBody>
                    <a:bodyPr/>
                    <a:lstStyle/>
                    <a:p>
                      <a:pPr algn="ctr" fontAlgn="ctr">
                        <a:buNone/>
                      </a:pPr>
                      <a:r>
                        <a:rPr lang="en-US" sz="1100" b="0" i="0" u="none" strike="noStrike">
                          <a:solidFill>
                            <a:srgbClr val="000000"/>
                          </a:solidFill>
                          <a:effectLst/>
                          <a:latin typeface="Aptos Narrow" panose="020B0004020202020204" pitchFamily="34" charset="0"/>
                        </a:rPr>
                        <a:t>Not pure RL approach; complex to train</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0E6F5"/>
                    </a:solidFill>
                  </a:tcPr>
                </a:tc>
                <a:tc>
                  <a:txBody>
                    <a:bodyPr/>
                    <a:lstStyle/>
                    <a:p>
                      <a:pPr algn="ctr" fontAlgn="ctr">
                        <a:buNone/>
                      </a:pPr>
                      <a:r>
                        <a:rPr lang="en-IN" sz="1100" b="0" i="0" u="none" strike="noStrike">
                          <a:solidFill>
                            <a:srgbClr val="000000"/>
                          </a:solidFill>
                          <a:effectLst/>
                          <a:latin typeface="Aptos Narrow" panose="020B0004020202020204" pitchFamily="34" charset="0"/>
                        </a:rPr>
                        <a:t>Attention-GRU + CVaR optimization</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0E6F5"/>
                    </a:solidFill>
                  </a:tcPr>
                </a:tc>
                <a:extLst>
                  <a:ext uri="{0D108BD9-81ED-4DB2-BD59-A6C34878D82A}">
                    <a16:rowId xmlns:a16="http://schemas.microsoft.com/office/drawing/2014/main" val="2976610142"/>
                  </a:ext>
                </a:extLst>
              </a:tr>
              <a:tr h="767687">
                <a:tc>
                  <a:txBody>
                    <a:bodyPr/>
                    <a:lstStyle/>
                    <a:p>
                      <a:pPr algn="ctr" fontAlgn="ctr">
                        <a:buNone/>
                      </a:pPr>
                      <a:r>
                        <a:rPr lang="en-IN" sz="1100" b="0" i="0" u="none" strike="noStrike">
                          <a:solidFill>
                            <a:srgbClr val="000000"/>
                          </a:solidFill>
                          <a:effectLst/>
                          <a:latin typeface="Aptos Narrow" panose="020B0004020202020204" pitchFamily="34" charset="0"/>
                        </a:rPr>
                        <a:t>H Zouaoui &amp; M-N Naas</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0E6F5"/>
                    </a:solidFill>
                  </a:tcPr>
                </a:tc>
                <a:tc>
                  <a:txBody>
                    <a:bodyPr/>
                    <a:lstStyle/>
                    <a:p>
                      <a:pPr algn="ctr" fontAlgn="ctr">
                        <a:buNone/>
                      </a:pPr>
                      <a:r>
                        <a:rPr lang="en-IN" sz="1100" b="0" i="0" u="none" strike="noStrike">
                          <a:solidFill>
                            <a:srgbClr val="000000"/>
                          </a:solidFill>
                          <a:effectLst/>
                          <a:latin typeface="Aptos Narrow" panose="020B0004020202020204" pitchFamily="34" charset="0"/>
                        </a:rPr>
                        <a:t>2025</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0E6F5"/>
                    </a:solidFill>
                  </a:tcPr>
                </a:tc>
                <a:tc>
                  <a:txBody>
                    <a:bodyPr/>
                    <a:lstStyle/>
                    <a:p>
                      <a:pPr algn="ctr" fontAlgn="ctr">
                        <a:buNone/>
                      </a:pPr>
                      <a:r>
                        <a:rPr lang="en-IN" sz="1100" b="0" i="0" u="none" strike="noStrike">
                          <a:solidFill>
                            <a:srgbClr val="000000"/>
                          </a:solidFill>
                          <a:effectLst/>
                          <a:latin typeface="Aptos Narrow" panose="020B0004020202020204" pitchFamily="34" charset="0"/>
                        </a:rPr>
                        <a:t>25 Cryptocurrencies (2021â€“2024)</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0E6F5"/>
                    </a:solidFill>
                  </a:tcPr>
                </a:tc>
                <a:tc>
                  <a:txBody>
                    <a:bodyPr/>
                    <a:lstStyle/>
                    <a:p>
                      <a:pPr algn="ctr" fontAlgn="ctr">
                        <a:buNone/>
                      </a:pPr>
                      <a:r>
                        <a:rPr lang="en-US" sz="1100" b="0" i="0" u="none" strike="noStrike">
                          <a:solidFill>
                            <a:srgbClr val="000000"/>
                          </a:solidFill>
                          <a:effectLst/>
                          <a:latin typeface="Aptos Narrow" panose="020B0004020202020204" pitchFamily="34" charset="0"/>
                        </a:rPr>
                        <a:t>Portfolio Optimization Based on MPT-LSTM Neural Networks</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0E6F5"/>
                    </a:solidFill>
                  </a:tcPr>
                </a:tc>
                <a:tc>
                  <a:txBody>
                    <a:bodyPr/>
                    <a:lstStyle/>
                    <a:p>
                      <a:pPr algn="ctr" fontAlgn="ctr">
                        <a:buNone/>
                      </a:pPr>
                      <a:r>
                        <a:rPr lang="en-US" sz="1100" b="0" i="0" u="none" strike="noStrike">
                          <a:solidFill>
                            <a:srgbClr val="000000"/>
                          </a:solidFill>
                          <a:effectLst/>
                          <a:latin typeface="Aptos Narrow" panose="020B0004020202020204" pitchFamily="34" charset="0"/>
                        </a:rPr>
                        <a:t>Sharpe =  1.53 (vs 0.79 baseline)</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0E6F5"/>
                    </a:solidFill>
                  </a:tcPr>
                </a:tc>
                <a:tc>
                  <a:txBody>
                    <a:bodyPr/>
                    <a:lstStyle/>
                    <a:p>
                      <a:pPr algn="ctr" fontAlgn="ctr">
                        <a:buNone/>
                      </a:pPr>
                      <a:r>
                        <a:rPr lang="en-US" sz="1100" b="0" i="0" u="none" strike="noStrike">
                          <a:solidFill>
                            <a:srgbClr val="000000"/>
                          </a:solidFill>
                          <a:effectLst/>
                          <a:latin typeface="Aptos Narrow" panose="020B0004020202020204" pitchFamily="34" charset="0"/>
                        </a:rPr>
                        <a:t>LSTM-based weight prediction improves crypto risk-return</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0E6F5"/>
                    </a:solidFill>
                  </a:tcPr>
                </a:tc>
                <a:tc>
                  <a:txBody>
                    <a:bodyPr/>
                    <a:lstStyle/>
                    <a:p>
                      <a:pPr algn="ctr" fontAlgn="ctr">
                        <a:buNone/>
                      </a:pPr>
                      <a:r>
                        <a:rPr lang="en-US" sz="1100" b="0" i="0" u="none" strike="noStrike">
                          <a:solidFill>
                            <a:srgbClr val="000000"/>
                          </a:solidFill>
                          <a:effectLst/>
                          <a:latin typeface="Aptos Narrow" panose="020B0004020202020204" pitchFamily="34" charset="0"/>
                        </a:rPr>
                        <a:t>Limited to crypto assets only; lacks RL layer</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0E6F5"/>
                    </a:solidFill>
                  </a:tcPr>
                </a:tc>
                <a:tc>
                  <a:txBody>
                    <a:bodyPr/>
                    <a:lstStyle/>
                    <a:p>
                      <a:pPr algn="ctr" fontAlgn="ctr">
                        <a:buNone/>
                      </a:pPr>
                      <a:r>
                        <a:rPr lang="en-IN" sz="1100" b="0" i="0" u="none" strike="noStrike">
                          <a:solidFill>
                            <a:srgbClr val="000000"/>
                          </a:solidFill>
                          <a:effectLst/>
                          <a:latin typeface="Aptos Narrow" panose="020B0004020202020204" pitchFamily="34" charset="0"/>
                        </a:rPr>
                        <a:t>LSTM (MPT-based weight predictor)</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0E6F5"/>
                    </a:solidFill>
                  </a:tcPr>
                </a:tc>
                <a:extLst>
                  <a:ext uri="{0D108BD9-81ED-4DB2-BD59-A6C34878D82A}">
                    <a16:rowId xmlns:a16="http://schemas.microsoft.com/office/drawing/2014/main" val="2446343454"/>
                  </a:ext>
                </a:extLst>
              </a:tr>
              <a:tr h="1141542">
                <a:tc>
                  <a:txBody>
                    <a:bodyPr/>
                    <a:lstStyle/>
                    <a:p>
                      <a:pPr algn="ctr" fontAlgn="ctr">
                        <a:buNone/>
                      </a:pPr>
                      <a:r>
                        <a:rPr lang="en-IN" sz="1100" b="0" i="0" u="none" strike="noStrike">
                          <a:solidFill>
                            <a:srgbClr val="000000"/>
                          </a:solidFill>
                          <a:effectLst/>
                          <a:latin typeface="Aptos Narrow" panose="020B0004020202020204" pitchFamily="34" charset="0"/>
                        </a:rPr>
                        <a:t>W Zhang et al.</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0E6F5"/>
                    </a:solidFill>
                  </a:tcPr>
                </a:tc>
                <a:tc>
                  <a:txBody>
                    <a:bodyPr/>
                    <a:lstStyle/>
                    <a:p>
                      <a:pPr algn="ctr" fontAlgn="ctr">
                        <a:buNone/>
                      </a:pPr>
                      <a:r>
                        <a:rPr lang="en-IN" sz="1100" b="0" i="0" u="none" strike="noStrike">
                          <a:solidFill>
                            <a:srgbClr val="000000"/>
                          </a:solidFill>
                          <a:effectLst/>
                          <a:latin typeface="Aptos Narrow" panose="020B0004020202020204" pitchFamily="34" charset="0"/>
                        </a:rPr>
                        <a:t>2025</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0E6F5"/>
                    </a:solidFill>
                  </a:tcPr>
                </a:tc>
                <a:tc>
                  <a:txBody>
                    <a:bodyPr/>
                    <a:lstStyle/>
                    <a:p>
                      <a:pPr algn="ctr" fontAlgn="ctr">
                        <a:buNone/>
                      </a:pPr>
                      <a:r>
                        <a:rPr lang="en-US" sz="1100" b="0" i="0" u="none" strike="noStrike">
                          <a:solidFill>
                            <a:srgbClr val="000000"/>
                          </a:solidFill>
                          <a:effectLst/>
                          <a:latin typeface="Aptos Narrow" panose="020B0004020202020204" pitchFamily="34" charset="0"/>
                        </a:rPr>
                        <a:t>High Dimensional Assets (Global Markets)</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0E6F5"/>
                    </a:solidFill>
                  </a:tcPr>
                </a:tc>
                <a:tc>
                  <a:txBody>
                    <a:bodyPr/>
                    <a:lstStyle/>
                    <a:p>
                      <a:pPr algn="ctr" fontAlgn="ctr">
                        <a:buNone/>
                      </a:pPr>
                      <a:r>
                        <a:rPr lang="en-IN" sz="1100" b="0" i="0" u="none" strike="noStrike">
                          <a:solidFill>
                            <a:srgbClr val="000000"/>
                          </a:solidFill>
                          <a:effectLst/>
                          <a:latin typeface="Aptos Narrow" panose="020B0004020202020204" pitchFamily="34" charset="0"/>
                        </a:rPr>
                        <a:t>Enhancing Portfolio Optimization via Heuristic-Guided Deep RL &amp; Graph Neural Networks</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0E6F5"/>
                    </a:solidFill>
                  </a:tcPr>
                </a:tc>
                <a:tc>
                  <a:txBody>
                    <a:bodyPr/>
                    <a:lstStyle/>
                    <a:p>
                      <a:pPr algn="ctr" fontAlgn="ctr">
                        <a:buNone/>
                      </a:pPr>
                      <a:r>
                        <a:rPr lang="en-US" sz="1100" b="0" i="0" u="none" strike="noStrike">
                          <a:solidFill>
                            <a:srgbClr val="000000"/>
                          </a:solidFill>
                          <a:effectLst/>
                          <a:latin typeface="Aptos Narrow" panose="020B0004020202020204" pitchFamily="34" charset="0"/>
                        </a:rPr>
                        <a:t>Improved dynamic adaptability; ROI +11% vs baseline</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0E6F5"/>
                    </a:solidFill>
                  </a:tcPr>
                </a:tc>
                <a:tc>
                  <a:txBody>
                    <a:bodyPr/>
                    <a:lstStyle/>
                    <a:p>
                      <a:pPr algn="ctr" fontAlgn="ctr">
                        <a:buNone/>
                      </a:pPr>
                      <a:r>
                        <a:rPr lang="en-US" sz="1100" b="0" i="0" u="none" strike="noStrike">
                          <a:solidFill>
                            <a:srgbClr val="000000"/>
                          </a:solidFill>
                          <a:effectLst/>
                          <a:latin typeface="Aptos Narrow" panose="020B0004020202020204" pitchFamily="34" charset="0"/>
                        </a:rPr>
                        <a:t>Combines GNN structure learning with RL for allocation</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0E6F5"/>
                    </a:solidFill>
                  </a:tcPr>
                </a:tc>
                <a:tc>
                  <a:txBody>
                    <a:bodyPr/>
                    <a:lstStyle/>
                    <a:p>
                      <a:pPr algn="ctr" fontAlgn="ctr">
                        <a:buNone/>
                      </a:pPr>
                      <a:r>
                        <a:rPr lang="en-IN" sz="1100" b="0" i="0" u="none" strike="noStrike">
                          <a:solidFill>
                            <a:srgbClr val="000000"/>
                          </a:solidFill>
                          <a:effectLst/>
                          <a:latin typeface="Aptos Narrow" panose="020B0004020202020204" pitchFamily="34" charset="0"/>
                        </a:rPr>
                        <a:t>High complexity; limited interpretability</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0E6F5"/>
                    </a:solidFill>
                  </a:tcPr>
                </a:tc>
                <a:tc>
                  <a:txBody>
                    <a:bodyPr/>
                    <a:lstStyle/>
                    <a:p>
                      <a:pPr algn="ctr" fontAlgn="ctr">
                        <a:buNone/>
                      </a:pPr>
                      <a:r>
                        <a:rPr lang="en-US" sz="1100" b="0" i="0" u="none" strike="noStrike">
                          <a:solidFill>
                            <a:srgbClr val="000000"/>
                          </a:solidFill>
                          <a:effectLst/>
                          <a:latin typeface="Aptos Narrow" panose="020B0004020202020204" pitchFamily="34" charset="0"/>
                        </a:rPr>
                        <a:t>Deep RL + Graph Neural Network</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0E6F5"/>
                    </a:solidFill>
                  </a:tcPr>
                </a:tc>
                <a:extLst>
                  <a:ext uri="{0D108BD9-81ED-4DB2-BD59-A6C34878D82A}">
                    <a16:rowId xmlns:a16="http://schemas.microsoft.com/office/drawing/2014/main" val="2115715652"/>
                  </a:ext>
                </a:extLst>
              </a:tr>
              <a:tr h="1018826">
                <a:tc>
                  <a:txBody>
                    <a:bodyPr/>
                    <a:lstStyle/>
                    <a:p>
                      <a:pPr algn="ctr" fontAlgn="ctr">
                        <a:buNone/>
                      </a:pPr>
                      <a:r>
                        <a:rPr lang="en-IN" sz="1100" b="0" i="0" u="none" strike="noStrike">
                          <a:solidFill>
                            <a:srgbClr val="000000"/>
                          </a:solidFill>
                          <a:effectLst/>
                          <a:latin typeface="Aptos Narrow" panose="020B0004020202020204" pitchFamily="34" charset="0"/>
                        </a:rPr>
                        <a:t>X Wang &amp; L Liu</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0E6F5"/>
                    </a:solidFill>
                  </a:tcPr>
                </a:tc>
                <a:tc>
                  <a:txBody>
                    <a:bodyPr/>
                    <a:lstStyle/>
                    <a:p>
                      <a:pPr algn="ctr" fontAlgn="ctr">
                        <a:buNone/>
                      </a:pPr>
                      <a:r>
                        <a:rPr lang="en-IN" sz="1100" b="0" i="0" u="none" strike="noStrike">
                          <a:solidFill>
                            <a:srgbClr val="000000"/>
                          </a:solidFill>
                          <a:effectLst/>
                          <a:latin typeface="Aptos Narrow" panose="020B0004020202020204" pitchFamily="34" charset="0"/>
                        </a:rPr>
                        <a:t>2025</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0E6F5"/>
                    </a:solidFill>
                  </a:tcPr>
                </a:tc>
                <a:tc>
                  <a:txBody>
                    <a:bodyPr/>
                    <a:lstStyle/>
                    <a:p>
                      <a:pPr algn="ctr" fontAlgn="ctr">
                        <a:buNone/>
                      </a:pPr>
                      <a:r>
                        <a:rPr lang="en-IN" sz="1100" b="0" i="0" u="none" strike="noStrike">
                          <a:solidFill>
                            <a:srgbClr val="000000"/>
                          </a:solidFill>
                          <a:effectLst/>
                          <a:latin typeface="Aptos Narrow" panose="020B0004020202020204" pitchFamily="34" charset="0"/>
                        </a:rPr>
                        <a:t>Commodity Futures Markets</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0E6F5"/>
                    </a:solidFill>
                  </a:tcPr>
                </a:tc>
                <a:tc>
                  <a:txBody>
                    <a:bodyPr/>
                    <a:lstStyle/>
                    <a:p>
                      <a:pPr algn="ctr" fontAlgn="ctr">
                        <a:buNone/>
                      </a:pPr>
                      <a:r>
                        <a:rPr lang="en-US" sz="1100" b="0" i="0" u="none" strike="noStrike">
                          <a:solidFill>
                            <a:srgbClr val="000000"/>
                          </a:solidFill>
                          <a:effectLst/>
                          <a:latin typeface="Aptos Narrow" panose="020B0004020202020204" pitchFamily="34" charset="0"/>
                        </a:rPr>
                        <a:t>Risk-Sensitive Deep Reinforcement Learning for Portfolio Optimization</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0E6F5"/>
                    </a:solidFill>
                  </a:tcPr>
                </a:tc>
                <a:tc>
                  <a:txBody>
                    <a:bodyPr/>
                    <a:lstStyle/>
                    <a:p>
                      <a:pPr algn="ctr" fontAlgn="ctr">
                        <a:buNone/>
                      </a:pPr>
                      <a:r>
                        <a:rPr lang="en-IN" sz="1100" b="0" i="0" u="none" strike="noStrike">
                          <a:solidFill>
                            <a:srgbClr val="000000"/>
                          </a:solidFill>
                          <a:effectLst/>
                          <a:latin typeface="Aptos Narrow" panose="020B0004020202020204" pitchFamily="34" charset="0"/>
                        </a:rPr>
                        <a:t>Sharpe = 4.34; Sortino = 57.77</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0E6F5"/>
                    </a:solidFill>
                  </a:tcPr>
                </a:tc>
                <a:tc>
                  <a:txBody>
                    <a:bodyPr/>
                    <a:lstStyle/>
                    <a:p>
                      <a:pPr algn="ctr" fontAlgn="ctr">
                        <a:buNone/>
                      </a:pPr>
                      <a:r>
                        <a:rPr lang="en-IN" sz="1100" b="0" i="0" u="none" strike="noStrike">
                          <a:solidFill>
                            <a:srgbClr val="000000"/>
                          </a:solidFill>
                          <a:effectLst/>
                          <a:latin typeface="Aptos Narrow" panose="020B0004020202020204" pitchFamily="34" charset="0"/>
                        </a:rPr>
                        <a:t>Strong risk-adjusted results; transformer-based agent</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0E6F5"/>
                    </a:solidFill>
                  </a:tcPr>
                </a:tc>
                <a:tc>
                  <a:txBody>
                    <a:bodyPr/>
                    <a:lstStyle/>
                    <a:p>
                      <a:pPr algn="ctr" fontAlgn="ctr">
                        <a:buNone/>
                      </a:pPr>
                      <a:r>
                        <a:rPr lang="en-US" sz="1100" b="0" i="0" u="none" strike="noStrike">
                          <a:solidFill>
                            <a:srgbClr val="000000"/>
                          </a:solidFill>
                          <a:effectLst/>
                          <a:latin typeface="Aptos Narrow" panose="020B0004020202020204" pitchFamily="34" charset="0"/>
                        </a:rPr>
                        <a:t>Tested mainly on commodities; may overfit specific assets</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0E6F5"/>
                    </a:solidFill>
                  </a:tcPr>
                </a:tc>
                <a:tc>
                  <a:txBody>
                    <a:bodyPr/>
                    <a:lstStyle/>
                    <a:p>
                      <a:pPr algn="ctr" fontAlgn="ctr">
                        <a:buNone/>
                      </a:pPr>
                      <a:r>
                        <a:rPr lang="en-IN" sz="1100" b="0" i="0" u="none" strike="noStrike" dirty="0">
                          <a:solidFill>
                            <a:srgbClr val="000000"/>
                          </a:solidFill>
                          <a:effectLst/>
                          <a:latin typeface="Aptos Narrow" panose="020B0004020202020204" pitchFamily="34" charset="0"/>
                        </a:rPr>
                        <a:t>ART-DRL (Transformer + Multi-agent RL)</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0E6F5"/>
                    </a:solidFill>
                  </a:tcPr>
                </a:tc>
                <a:extLst>
                  <a:ext uri="{0D108BD9-81ED-4DB2-BD59-A6C34878D82A}">
                    <a16:rowId xmlns:a16="http://schemas.microsoft.com/office/drawing/2014/main" val="1588040320"/>
                  </a:ext>
                </a:extLst>
              </a:tr>
            </a:tbl>
          </a:graphicData>
        </a:graphic>
      </p:graphicFrame>
    </p:spTree>
    <p:extLst>
      <p:ext uri="{BB962C8B-B14F-4D97-AF65-F5344CB8AC3E}">
        <p14:creationId xmlns:p14="http://schemas.microsoft.com/office/powerpoint/2010/main" val="421341979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104">
          <a:extLst>
            <a:ext uri="{FF2B5EF4-FFF2-40B4-BE49-F238E27FC236}">
              <a16:creationId xmlns:a16="http://schemas.microsoft.com/office/drawing/2014/main" id="{8F1B0040-3376-A47D-FA51-C05A97F93044}"/>
            </a:ext>
          </a:extLst>
        </p:cNvPr>
        <p:cNvGrpSpPr/>
        <p:nvPr/>
      </p:nvGrpSpPr>
      <p:grpSpPr>
        <a:xfrm>
          <a:off x="0" y="0"/>
          <a:ext cx="0" cy="0"/>
          <a:chOff x="0" y="0"/>
          <a:chExt cx="0" cy="0"/>
        </a:xfrm>
      </p:grpSpPr>
      <p:sp>
        <p:nvSpPr>
          <p:cNvPr id="105" name="Google Shape;105;p4">
            <a:extLst>
              <a:ext uri="{FF2B5EF4-FFF2-40B4-BE49-F238E27FC236}">
                <a16:creationId xmlns:a16="http://schemas.microsoft.com/office/drawing/2014/main" id="{7C29026B-9DBC-B7E2-7D94-1E2E4463268A}"/>
              </a:ext>
            </a:extLst>
          </p:cNvPr>
          <p:cNvSpPr txBox="1">
            <a:spLocks noGrp="1"/>
          </p:cNvSpPr>
          <p:nvPr>
            <p:ph type="title"/>
          </p:nvPr>
        </p:nvSpPr>
        <p:spPr>
          <a:xfrm>
            <a:off x="534259" y="309562"/>
            <a:ext cx="3221664" cy="382156"/>
          </a:xfrm>
          <a:prstGeom prst="rect">
            <a:avLst/>
          </a:prstGeom>
          <a:noFill/>
          <a:ln>
            <a:noFill/>
          </a:ln>
        </p:spPr>
        <p:txBody>
          <a:bodyPr spcFirstLastPara="1" wrap="square" lIns="0" tIns="12700" rIns="0" bIns="0" anchor="ctr" anchorCtr="0">
            <a:spAutoFit/>
          </a:bodyPr>
          <a:lstStyle/>
          <a:p>
            <a:pPr marL="12700">
              <a:lnSpc>
                <a:spcPct val="100000"/>
              </a:lnSpc>
              <a:buClr>
                <a:srgbClr val="04A2B9"/>
              </a:buClr>
              <a:buSzPts val="2400"/>
            </a:pPr>
            <a:r>
              <a:rPr lang="en-US" sz="2400" b="1" dirty="0">
                <a:solidFill>
                  <a:srgbClr val="04A2B9"/>
                </a:solidFill>
                <a:latin typeface="Proxima Nova"/>
                <a:ea typeface="Proxima Nova"/>
                <a:cs typeface="Proxima Nova"/>
                <a:sym typeface="Proxima Nova"/>
              </a:rPr>
              <a:t>Tools &amp; Technology </a:t>
            </a:r>
            <a:endParaRPr lang="en-US" sz="2400" b="1" dirty="0">
              <a:latin typeface="Proxima Nova"/>
              <a:ea typeface="Proxima Nova"/>
              <a:cs typeface="Proxima Nova"/>
              <a:sym typeface="Proxima Nova"/>
            </a:endParaRPr>
          </a:p>
        </p:txBody>
      </p:sp>
      <p:sp>
        <p:nvSpPr>
          <p:cNvPr id="4" name="TextBox 3">
            <a:extLst>
              <a:ext uri="{FF2B5EF4-FFF2-40B4-BE49-F238E27FC236}">
                <a16:creationId xmlns:a16="http://schemas.microsoft.com/office/drawing/2014/main" id="{B230643A-27D2-D276-82CC-F10CBB05D0F5}"/>
              </a:ext>
            </a:extLst>
          </p:cNvPr>
          <p:cNvSpPr txBox="1"/>
          <p:nvPr/>
        </p:nvSpPr>
        <p:spPr>
          <a:xfrm>
            <a:off x="433194" y="1311744"/>
            <a:ext cx="11526794" cy="307462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342900" indent="-342900">
              <a:lnSpc>
                <a:spcPct val="200000"/>
              </a:lnSpc>
              <a:buFont typeface="Arial" panose="020B0604020202020204" pitchFamily="34" charset="0"/>
              <a:buChar char="•"/>
            </a:pPr>
            <a:r>
              <a:rPr lang="en-US" sz="2000" dirty="0"/>
              <a:t>Programming Language: Python </a:t>
            </a:r>
            <a:endParaRPr lang="en-US" dirty="0"/>
          </a:p>
          <a:p>
            <a:pPr marL="342900" indent="-342900">
              <a:lnSpc>
                <a:spcPct val="200000"/>
              </a:lnSpc>
              <a:buFont typeface="Arial" panose="020B0604020202020204" pitchFamily="34" charset="0"/>
              <a:buChar char="•"/>
            </a:pPr>
            <a:r>
              <a:rPr lang="en-US" sz="2000" dirty="0"/>
              <a:t>Deep Learning  Frameworks: TensorFlow / </a:t>
            </a:r>
            <a:r>
              <a:rPr lang="en-US" sz="2000" dirty="0" err="1"/>
              <a:t>Keras</a:t>
            </a:r>
            <a:r>
              <a:rPr lang="en-US" sz="2000" dirty="0"/>
              <a:t> / </a:t>
            </a:r>
            <a:r>
              <a:rPr lang="en-US" sz="2000" dirty="0" err="1"/>
              <a:t>PyTorch</a:t>
            </a:r>
            <a:r>
              <a:rPr lang="en-US" sz="2000" dirty="0"/>
              <a:t> </a:t>
            </a:r>
            <a:endParaRPr lang="en-US" dirty="0"/>
          </a:p>
          <a:p>
            <a:pPr marL="342900" indent="-342900">
              <a:lnSpc>
                <a:spcPct val="200000"/>
              </a:lnSpc>
              <a:buFont typeface="Arial" panose="020B0604020202020204" pitchFamily="34" charset="0"/>
              <a:buChar char="•"/>
            </a:pPr>
            <a:r>
              <a:rPr lang="en-US" sz="2000" dirty="0"/>
              <a:t>Data Handling &amp; Analysis: Pandas, NumPy, Scikit-learn </a:t>
            </a:r>
          </a:p>
          <a:p>
            <a:pPr marL="342900" indent="-342900">
              <a:lnSpc>
                <a:spcPct val="200000"/>
              </a:lnSpc>
              <a:buFont typeface="Arial" panose="020B0604020202020204" pitchFamily="34" charset="0"/>
              <a:buChar char="•"/>
            </a:pPr>
            <a:r>
              <a:rPr lang="en-US" sz="2000" dirty="0"/>
              <a:t>Visualization Tools: Matplotlib, Seaborn</a:t>
            </a:r>
          </a:p>
          <a:p>
            <a:pPr marL="342900" indent="-342900">
              <a:lnSpc>
                <a:spcPct val="200000"/>
              </a:lnSpc>
              <a:buFont typeface="Arial" panose="020B0604020202020204" pitchFamily="34" charset="0"/>
              <a:buChar char="•"/>
            </a:pPr>
            <a:r>
              <a:rPr lang="en-US" sz="2000" dirty="0"/>
              <a:t>Financial Data APIs: </a:t>
            </a:r>
            <a:r>
              <a:rPr lang="en-US" sz="2000"/>
              <a:t>Yahoo Finance</a:t>
            </a:r>
            <a:endParaRPr lang="en-US" dirty="0"/>
          </a:p>
        </p:txBody>
      </p:sp>
    </p:spTree>
    <p:extLst>
      <p:ext uri="{BB962C8B-B14F-4D97-AF65-F5344CB8AC3E}">
        <p14:creationId xmlns:p14="http://schemas.microsoft.com/office/powerpoint/2010/main" val="160574180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104">
          <a:extLst>
            <a:ext uri="{FF2B5EF4-FFF2-40B4-BE49-F238E27FC236}">
              <a16:creationId xmlns:a16="http://schemas.microsoft.com/office/drawing/2014/main" id="{79350427-F502-EEA0-F704-994D8151AD5E}"/>
            </a:ext>
          </a:extLst>
        </p:cNvPr>
        <p:cNvGrpSpPr/>
        <p:nvPr/>
      </p:nvGrpSpPr>
      <p:grpSpPr>
        <a:xfrm>
          <a:off x="0" y="0"/>
          <a:ext cx="0" cy="0"/>
          <a:chOff x="0" y="0"/>
          <a:chExt cx="0" cy="0"/>
        </a:xfrm>
      </p:grpSpPr>
      <p:sp>
        <p:nvSpPr>
          <p:cNvPr id="105" name="Google Shape;105;p4">
            <a:extLst>
              <a:ext uri="{FF2B5EF4-FFF2-40B4-BE49-F238E27FC236}">
                <a16:creationId xmlns:a16="http://schemas.microsoft.com/office/drawing/2014/main" id="{ADDEBFD4-005B-51C5-35D8-87C229ADEF87}"/>
              </a:ext>
            </a:extLst>
          </p:cNvPr>
          <p:cNvSpPr txBox="1">
            <a:spLocks noGrp="1"/>
          </p:cNvSpPr>
          <p:nvPr>
            <p:ph type="title"/>
          </p:nvPr>
        </p:nvSpPr>
        <p:spPr>
          <a:xfrm>
            <a:off x="534259" y="309562"/>
            <a:ext cx="3221664" cy="382156"/>
          </a:xfrm>
          <a:prstGeom prst="rect">
            <a:avLst/>
          </a:prstGeom>
          <a:noFill/>
          <a:ln>
            <a:noFill/>
          </a:ln>
        </p:spPr>
        <p:txBody>
          <a:bodyPr spcFirstLastPara="1" wrap="square" lIns="0" tIns="12700" rIns="0" bIns="0" anchor="ctr" anchorCtr="0">
            <a:spAutoFit/>
          </a:bodyPr>
          <a:lstStyle/>
          <a:p>
            <a:pPr marL="12700" lvl="0">
              <a:lnSpc>
                <a:spcPct val="100000"/>
              </a:lnSpc>
              <a:buClr>
                <a:srgbClr val="04A2B9"/>
              </a:buClr>
              <a:buSzPts val="2400"/>
            </a:pPr>
            <a:r>
              <a:rPr lang="en-US" sz="2400" b="1" dirty="0">
                <a:solidFill>
                  <a:srgbClr val="04A2B9"/>
                </a:solidFill>
                <a:latin typeface="Proxima Nova"/>
                <a:ea typeface="Proxima Nova"/>
                <a:cs typeface="Proxima Nova"/>
                <a:sym typeface="Proxima Nova"/>
              </a:rPr>
              <a:t>Methodology </a:t>
            </a:r>
            <a:endParaRPr lang="en-US" sz="2400" b="1" dirty="0">
              <a:latin typeface="Proxima Nova"/>
              <a:ea typeface="Proxima Nova"/>
              <a:cs typeface="Proxima Nova"/>
              <a:sym typeface="Proxima Nova"/>
            </a:endParaRPr>
          </a:p>
        </p:txBody>
      </p:sp>
      <p:pic>
        <p:nvPicPr>
          <p:cNvPr id="4" name="Picture 3">
            <a:extLst>
              <a:ext uri="{FF2B5EF4-FFF2-40B4-BE49-F238E27FC236}">
                <a16:creationId xmlns:a16="http://schemas.microsoft.com/office/drawing/2014/main" id="{A22DCB11-F7AB-F734-59B3-F0725C784F54}"/>
              </a:ext>
            </a:extLst>
          </p:cNvPr>
          <p:cNvPicPr>
            <a:picLocks noChangeAspect="1"/>
          </p:cNvPicPr>
          <p:nvPr/>
        </p:nvPicPr>
        <p:blipFill>
          <a:blip r:embed="rId4"/>
          <a:stretch>
            <a:fillRect/>
          </a:stretch>
        </p:blipFill>
        <p:spPr>
          <a:xfrm>
            <a:off x="128588" y="1139252"/>
            <a:ext cx="11566108" cy="5020916"/>
          </a:xfrm>
          <a:prstGeom prst="rect">
            <a:avLst/>
          </a:prstGeom>
        </p:spPr>
      </p:pic>
    </p:spTree>
    <p:extLst>
      <p:ext uri="{BB962C8B-B14F-4D97-AF65-F5344CB8AC3E}">
        <p14:creationId xmlns:p14="http://schemas.microsoft.com/office/powerpoint/2010/main" val="1538855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104">
          <a:extLst>
            <a:ext uri="{FF2B5EF4-FFF2-40B4-BE49-F238E27FC236}">
              <a16:creationId xmlns:a16="http://schemas.microsoft.com/office/drawing/2014/main" id="{FD71DE4B-D9F0-48FA-6BDE-C4AE6EA59BE3}"/>
            </a:ext>
          </a:extLst>
        </p:cNvPr>
        <p:cNvGrpSpPr/>
        <p:nvPr/>
      </p:nvGrpSpPr>
      <p:grpSpPr>
        <a:xfrm>
          <a:off x="0" y="0"/>
          <a:ext cx="0" cy="0"/>
          <a:chOff x="0" y="0"/>
          <a:chExt cx="0" cy="0"/>
        </a:xfrm>
      </p:grpSpPr>
      <p:sp>
        <p:nvSpPr>
          <p:cNvPr id="105" name="Google Shape;105;p4">
            <a:extLst>
              <a:ext uri="{FF2B5EF4-FFF2-40B4-BE49-F238E27FC236}">
                <a16:creationId xmlns:a16="http://schemas.microsoft.com/office/drawing/2014/main" id="{0D2ACEB3-8EB4-D0C2-B001-72F8223B6167}"/>
              </a:ext>
            </a:extLst>
          </p:cNvPr>
          <p:cNvSpPr txBox="1">
            <a:spLocks noGrp="1"/>
          </p:cNvSpPr>
          <p:nvPr>
            <p:ph type="title"/>
          </p:nvPr>
        </p:nvSpPr>
        <p:spPr>
          <a:xfrm>
            <a:off x="534258" y="309562"/>
            <a:ext cx="4037741" cy="382156"/>
          </a:xfrm>
          <a:prstGeom prst="rect">
            <a:avLst/>
          </a:prstGeom>
          <a:noFill/>
          <a:ln>
            <a:noFill/>
          </a:ln>
        </p:spPr>
        <p:txBody>
          <a:bodyPr spcFirstLastPara="1" wrap="square" lIns="0" tIns="12700" rIns="0" bIns="0" anchor="ctr" anchorCtr="0">
            <a:spAutoFit/>
          </a:bodyPr>
          <a:lstStyle/>
          <a:p>
            <a:pPr marL="12700" lvl="0">
              <a:lnSpc>
                <a:spcPct val="100000"/>
              </a:lnSpc>
              <a:buClr>
                <a:srgbClr val="04A2B9"/>
              </a:buClr>
              <a:buSzPts val="2400"/>
            </a:pPr>
            <a:r>
              <a:rPr lang="en-US" sz="2400" b="1" dirty="0">
                <a:solidFill>
                  <a:srgbClr val="04A2B9"/>
                </a:solidFill>
                <a:latin typeface="Proxima Nova"/>
                <a:ea typeface="Proxima Nova"/>
                <a:cs typeface="Proxima Nova"/>
                <a:sym typeface="Proxima Nova"/>
              </a:rPr>
              <a:t>Result</a:t>
            </a:r>
            <a:endParaRPr lang="en-US" sz="2400" dirty="0">
              <a:solidFill>
                <a:srgbClr val="FF0000"/>
              </a:solidFill>
              <a:latin typeface="Proxima Nova"/>
              <a:ea typeface="Proxima Nova"/>
              <a:cs typeface="Proxima Nova"/>
              <a:sym typeface="Proxima Nova"/>
            </a:endParaRPr>
          </a:p>
        </p:txBody>
      </p:sp>
      <p:sp>
        <p:nvSpPr>
          <p:cNvPr id="3" name="AutoShape 4">
            <a:extLst>
              <a:ext uri="{FF2B5EF4-FFF2-40B4-BE49-F238E27FC236}">
                <a16:creationId xmlns:a16="http://schemas.microsoft.com/office/drawing/2014/main" id="{9025E163-E172-F078-30F9-82A92C700995}"/>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pic>
        <p:nvPicPr>
          <p:cNvPr id="4" name="Picture 3">
            <a:extLst>
              <a:ext uri="{FF2B5EF4-FFF2-40B4-BE49-F238E27FC236}">
                <a16:creationId xmlns:a16="http://schemas.microsoft.com/office/drawing/2014/main" id="{3EBEA4A7-313F-0ED7-CAF5-09F7898D532F}"/>
              </a:ext>
            </a:extLst>
          </p:cNvPr>
          <p:cNvPicPr>
            <a:picLocks noChangeAspect="1"/>
          </p:cNvPicPr>
          <p:nvPr/>
        </p:nvPicPr>
        <p:blipFill>
          <a:blip r:embed="rId4"/>
          <a:stretch>
            <a:fillRect/>
          </a:stretch>
        </p:blipFill>
        <p:spPr>
          <a:xfrm>
            <a:off x="309669" y="1186614"/>
            <a:ext cx="11167854" cy="5085849"/>
          </a:xfrm>
          <a:prstGeom prst="rect">
            <a:avLst/>
          </a:prstGeom>
        </p:spPr>
      </p:pic>
    </p:spTree>
    <p:extLst>
      <p:ext uri="{BB962C8B-B14F-4D97-AF65-F5344CB8AC3E}">
        <p14:creationId xmlns:p14="http://schemas.microsoft.com/office/powerpoint/2010/main" val="225781316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104">
          <a:extLst>
            <a:ext uri="{FF2B5EF4-FFF2-40B4-BE49-F238E27FC236}">
              <a16:creationId xmlns:a16="http://schemas.microsoft.com/office/drawing/2014/main" id="{C5FF8F03-61EE-03AC-BF0E-CE44AD4E0891}"/>
            </a:ext>
          </a:extLst>
        </p:cNvPr>
        <p:cNvGrpSpPr/>
        <p:nvPr/>
      </p:nvGrpSpPr>
      <p:grpSpPr>
        <a:xfrm>
          <a:off x="0" y="0"/>
          <a:ext cx="0" cy="0"/>
          <a:chOff x="0" y="0"/>
          <a:chExt cx="0" cy="0"/>
        </a:xfrm>
      </p:grpSpPr>
      <p:sp>
        <p:nvSpPr>
          <p:cNvPr id="105" name="Google Shape;105;p4">
            <a:extLst>
              <a:ext uri="{FF2B5EF4-FFF2-40B4-BE49-F238E27FC236}">
                <a16:creationId xmlns:a16="http://schemas.microsoft.com/office/drawing/2014/main" id="{1B62DCBA-F627-3AC8-63A3-5DC3EBDCD711}"/>
              </a:ext>
            </a:extLst>
          </p:cNvPr>
          <p:cNvSpPr txBox="1">
            <a:spLocks noGrp="1"/>
          </p:cNvSpPr>
          <p:nvPr>
            <p:ph type="title"/>
          </p:nvPr>
        </p:nvSpPr>
        <p:spPr>
          <a:xfrm>
            <a:off x="534258" y="309562"/>
            <a:ext cx="4037741" cy="382156"/>
          </a:xfrm>
          <a:prstGeom prst="rect">
            <a:avLst/>
          </a:prstGeom>
          <a:noFill/>
          <a:ln>
            <a:noFill/>
          </a:ln>
        </p:spPr>
        <p:txBody>
          <a:bodyPr spcFirstLastPara="1" wrap="square" lIns="0" tIns="12700" rIns="0" bIns="0" anchor="ctr" anchorCtr="0">
            <a:spAutoFit/>
          </a:bodyPr>
          <a:lstStyle/>
          <a:p>
            <a:pPr marL="12700" lvl="0">
              <a:lnSpc>
                <a:spcPct val="100000"/>
              </a:lnSpc>
              <a:buClr>
                <a:srgbClr val="04A2B9"/>
              </a:buClr>
              <a:buSzPts val="2400"/>
            </a:pPr>
            <a:r>
              <a:rPr lang="en-US" sz="2400" b="1" dirty="0">
                <a:solidFill>
                  <a:srgbClr val="04A2B9"/>
                </a:solidFill>
                <a:latin typeface="Proxima Nova"/>
                <a:ea typeface="Proxima Nova"/>
                <a:cs typeface="Proxima Nova"/>
                <a:sym typeface="Proxima Nova"/>
              </a:rPr>
              <a:t>Result</a:t>
            </a:r>
            <a:endParaRPr lang="en-US" sz="2400" dirty="0">
              <a:solidFill>
                <a:srgbClr val="FF0000"/>
              </a:solidFill>
              <a:latin typeface="Proxima Nova"/>
              <a:ea typeface="Proxima Nova"/>
              <a:cs typeface="Proxima Nova"/>
              <a:sym typeface="Proxima Nova"/>
            </a:endParaRPr>
          </a:p>
        </p:txBody>
      </p:sp>
      <p:sp>
        <p:nvSpPr>
          <p:cNvPr id="3" name="AutoShape 4">
            <a:extLst>
              <a:ext uri="{FF2B5EF4-FFF2-40B4-BE49-F238E27FC236}">
                <a16:creationId xmlns:a16="http://schemas.microsoft.com/office/drawing/2014/main" id="{8EA49556-15EA-92EB-ED00-5495C06282F6}"/>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pic>
        <p:nvPicPr>
          <p:cNvPr id="5" name="Picture 4">
            <a:extLst>
              <a:ext uri="{FF2B5EF4-FFF2-40B4-BE49-F238E27FC236}">
                <a16:creationId xmlns:a16="http://schemas.microsoft.com/office/drawing/2014/main" id="{87D7079D-875C-C188-F177-01BE705BEE15}"/>
              </a:ext>
            </a:extLst>
          </p:cNvPr>
          <p:cNvPicPr>
            <a:picLocks noChangeAspect="1"/>
          </p:cNvPicPr>
          <p:nvPr/>
        </p:nvPicPr>
        <p:blipFill>
          <a:blip r:embed="rId4"/>
          <a:stretch>
            <a:fillRect/>
          </a:stretch>
        </p:blipFill>
        <p:spPr>
          <a:xfrm>
            <a:off x="396815" y="1187116"/>
            <a:ext cx="10784532" cy="5197642"/>
          </a:xfrm>
          <a:prstGeom prst="rect">
            <a:avLst/>
          </a:prstGeom>
        </p:spPr>
      </p:pic>
    </p:spTree>
    <p:extLst>
      <p:ext uri="{BB962C8B-B14F-4D97-AF65-F5344CB8AC3E}">
        <p14:creationId xmlns:p14="http://schemas.microsoft.com/office/powerpoint/2010/main" val="341377082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104">
          <a:extLst>
            <a:ext uri="{FF2B5EF4-FFF2-40B4-BE49-F238E27FC236}">
              <a16:creationId xmlns:a16="http://schemas.microsoft.com/office/drawing/2014/main" id="{F332C261-3433-DB04-74B7-88F6E3840F3C}"/>
            </a:ext>
          </a:extLst>
        </p:cNvPr>
        <p:cNvGrpSpPr/>
        <p:nvPr/>
      </p:nvGrpSpPr>
      <p:grpSpPr>
        <a:xfrm>
          <a:off x="0" y="0"/>
          <a:ext cx="0" cy="0"/>
          <a:chOff x="0" y="0"/>
          <a:chExt cx="0" cy="0"/>
        </a:xfrm>
      </p:grpSpPr>
      <p:sp>
        <p:nvSpPr>
          <p:cNvPr id="105" name="Google Shape;105;p4">
            <a:extLst>
              <a:ext uri="{FF2B5EF4-FFF2-40B4-BE49-F238E27FC236}">
                <a16:creationId xmlns:a16="http://schemas.microsoft.com/office/drawing/2014/main" id="{3B507723-8A47-89B8-C376-AF055956DC05}"/>
              </a:ext>
            </a:extLst>
          </p:cNvPr>
          <p:cNvSpPr txBox="1">
            <a:spLocks noGrp="1"/>
          </p:cNvSpPr>
          <p:nvPr>
            <p:ph type="title"/>
          </p:nvPr>
        </p:nvSpPr>
        <p:spPr>
          <a:xfrm>
            <a:off x="534258" y="309562"/>
            <a:ext cx="4037741" cy="382156"/>
          </a:xfrm>
          <a:prstGeom prst="rect">
            <a:avLst/>
          </a:prstGeom>
          <a:noFill/>
          <a:ln>
            <a:noFill/>
          </a:ln>
        </p:spPr>
        <p:txBody>
          <a:bodyPr spcFirstLastPara="1" wrap="square" lIns="0" tIns="12700" rIns="0" bIns="0" anchor="ctr" anchorCtr="0">
            <a:spAutoFit/>
          </a:bodyPr>
          <a:lstStyle/>
          <a:p>
            <a:pPr marL="12700" lvl="0">
              <a:lnSpc>
                <a:spcPct val="100000"/>
              </a:lnSpc>
              <a:buClr>
                <a:srgbClr val="04A2B9"/>
              </a:buClr>
              <a:buSzPts val="2400"/>
            </a:pPr>
            <a:r>
              <a:rPr lang="en-US" sz="2400" b="1" dirty="0">
                <a:solidFill>
                  <a:srgbClr val="04A2B9"/>
                </a:solidFill>
                <a:latin typeface="Proxima Nova"/>
                <a:ea typeface="Proxima Nova"/>
                <a:cs typeface="Proxima Nova"/>
                <a:sym typeface="Proxima Nova"/>
              </a:rPr>
              <a:t>Result</a:t>
            </a:r>
            <a:endParaRPr lang="en-US" sz="2400" dirty="0">
              <a:solidFill>
                <a:srgbClr val="FF0000"/>
              </a:solidFill>
              <a:latin typeface="Proxima Nova"/>
              <a:ea typeface="Proxima Nova"/>
              <a:cs typeface="Proxima Nova"/>
              <a:sym typeface="Proxima Nova"/>
            </a:endParaRPr>
          </a:p>
        </p:txBody>
      </p:sp>
      <p:sp>
        <p:nvSpPr>
          <p:cNvPr id="3" name="AutoShape 4">
            <a:extLst>
              <a:ext uri="{FF2B5EF4-FFF2-40B4-BE49-F238E27FC236}">
                <a16:creationId xmlns:a16="http://schemas.microsoft.com/office/drawing/2014/main" id="{01B29FF1-EA41-1627-7E3B-2673ED9B4571}"/>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pic>
        <p:nvPicPr>
          <p:cNvPr id="4" name="Picture 3">
            <a:extLst>
              <a:ext uri="{FF2B5EF4-FFF2-40B4-BE49-F238E27FC236}">
                <a16:creationId xmlns:a16="http://schemas.microsoft.com/office/drawing/2014/main" id="{4CF964D5-FCAE-9481-CBB3-E49185045EB8}"/>
              </a:ext>
            </a:extLst>
          </p:cNvPr>
          <p:cNvPicPr>
            <a:picLocks noChangeAspect="1"/>
          </p:cNvPicPr>
          <p:nvPr/>
        </p:nvPicPr>
        <p:blipFill>
          <a:blip r:embed="rId4"/>
          <a:stretch>
            <a:fillRect/>
          </a:stretch>
        </p:blipFill>
        <p:spPr>
          <a:xfrm>
            <a:off x="304800" y="1308241"/>
            <a:ext cx="11282597" cy="5043621"/>
          </a:xfrm>
          <a:prstGeom prst="rect">
            <a:avLst/>
          </a:prstGeom>
        </p:spPr>
      </p:pic>
    </p:spTree>
    <p:extLst>
      <p:ext uri="{BB962C8B-B14F-4D97-AF65-F5344CB8AC3E}">
        <p14:creationId xmlns:p14="http://schemas.microsoft.com/office/powerpoint/2010/main" val="109082036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104">
          <a:extLst>
            <a:ext uri="{FF2B5EF4-FFF2-40B4-BE49-F238E27FC236}">
              <a16:creationId xmlns:a16="http://schemas.microsoft.com/office/drawing/2014/main" id="{C1AE3041-00C8-1BF0-EA99-4EFEB932F9CE}"/>
            </a:ext>
          </a:extLst>
        </p:cNvPr>
        <p:cNvGrpSpPr/>
        <p:nvPr/>
      </p:nvGrpSpPr>
      <p:grpSpPr>
        <a:xfrm>
          <a:off x="0" y="0"/>
          <a:ext cx="0" cy="0"/>
          <a:chOff x="0" y="0"/>
          <a:chExt cx="0" cy="0"/>
        </a:xfrm>
      </p:grpSpPr>
      <p:sp>
        <p:nvSpPr>
          <p:cNvPr id="105" name="Google Shape;105;p4">
            <a:extLst>
              <a:ext uri="{FF2B5EF4-FFF2-40B4-BE49-F238E27FC236}">
                <a16:creationId xmlns:a16="http://schemas.microsoft.com/office/drawing/2014/main" id="{D7F97511-32AD-E1EB-0BA0-A631C45B09CE}"/>
              </a:ext>
            </a:extLst>
          </p:cNvPr>
          <p:cNvSpPr txBox="1">
            <a:spLocks noGrp="1"/>
          </p:cNvSpPr>
          <p:nvPr>
            <p:ph type="title"/>
          </p:nvPr>
        </p:nvSpPr>
        <p:spPr>
          <a:xfrm>
            <a:off x="534258" y="309562"/>
            <a:ext cx="4037741" cy="382156"/>
          </a:xfrm>
          <a:prstGeom prst="rect">
            <a:avLst/>
          </a:prstGeom>
          <a:noFill/>
          <a:ln>
            <a:noFill/>
          </a:ln>
        </p:spPr>
        <p:txBody>
          <a:bodyPr spcFirstLastPara="1" wrap="square" lIns="0" tIns="12700" rIns="0" bIns="0" anchor="ctr" anchorCtr="0">
            <a:spAutoFit/>
          </a:bodyPr>
          <a:lstStyle/>
          <a:p>
            <a:pPr marL="12700" lvl="0">
              <a:lnSpc>
                <a:spcPct val="100000"/>
              </a:lnSpc>
              <a:buClr>
                <a:srgbClr val="04A2B9"/>
              </a:buClr>
              <a:buSzPts val="2400"/>
            </a:pPr>
            <a:r>
              <a:rPr lang="en-US" sz="2400" b="1" dirty="0">
                <a:solidFill>
                  <a:srgbClr val="04A2B9"/>
                </a:solidFill>
                <a:latin typeface="Proxima Nova"/>
                <a:ea typeface="Proxima Nova"/>
                <a:cs typeface="Proxima Nova"/>
                <a:sym typeface="Proxima Nova"/>
              </a:rPr>
              <a:t>Conclusion</a:t>
            </a:r>
            <a:endParaRPr lang="en-US" sz="2400" b="1" dirty="0">
              <a:latin typeface="Proxima Nova"/>
              <a:ea typeface="Proxima Nova"/>
              <a:cs typeface="Proxima Nova"/>
              <a:sym typeface="Proxima Nova"/>
            </a:endParaRPr>
          </a:p>
        </p:txBody>
      </p:sp>
      <p:sp>
        <p:nvSpPr>
          <p:cNvPr id="4" name="TextBox 3">
            <a:extLst>
              <a:ext uri="{FF2B5EF4-FFF2-40B4-BE49-F238E27FC236}">
                <a16:creationId xmlns:a16="http://schemas.microsoft.com/office/drawing/2014/main" id="{D78DCB92-0556-FCA3-7EAB-4C4A2C15EA6C}"/>
              </a:ext>
            </a:extLst>
          </p:cNvPr>
          <p:cNvSpPr txBox="1"/>
          <p:nvPr/>
        </p:nvSpPr>
        <p:spPr>
          <a:xfrm>
            <a:off x="325710" y="1270767"/>
            <a:ext cx="11057974" cy="2677656"/>
          </a:xfrm>
          <a:prstGeom prst="rect">
            <a:avLst/>
          </a:prstGeom>
          <a:noFill/>
        </p:spPr>
        <p:txBody>
          <a:bodyPr wrap="square">
            <a:spAutoFit/>
          </a:bodyPr>
          <a:lstStyle/>
          <a:p>
            <a:r>
              <a:rPr lang="en-US" sz="2400" b="1" dirty="0">
                <a:latin typeface="Proxima Nova" panose="020B0604020202020204" charset="0"/>
              </a:rPr>
              <a:t>Conclusion:- </a:t>
            </a:r>
          </a:p>
          <a:p>
            <a:endParaRPr lang="en-US" sz="2400" b="1" dirty="0">
              <a:latin typeface="Proxima Nova" panose="020B0604020202020204" charset="0"/>
            </a:endParaRPr>
          </a:p>
          <a:p>
            <a:r>
              <a:rPr lang="en-US" sz="2000" dirty="0"/>
              <a:t>The </a:t>
            </a:r>
            <a:r>
              <a:rPr lang="en-US" sz="2000" i="1" dirty="0"/>
              <a:t>Data-Driven Portfolio Optimization using LSTM-GRU Forecasting and Deep Q-Learning</a:t>
            </a:r>
            <a:r>
              <a:rPr lang="en-US" sz="2000" dirty="0"/>
              <a:t> project was successfully completed. The hybrid LSTM-GRU model accurately forecasted asset prices, which were effectively used by the Deep Q-Learning agent for dynamic portfolio allocation. The results demonstrate improved portfolio performance and adaptability compared to traditional optimization methods. This approach highlights the potential of combining deep learning and reinforcement learning in financial decision-making.</a:t>
            </a:r>
            <a:endParaRPr lang="en-US" sz="2000" dirty="0">
              <a:latin typeface="Proxima Nova" panose="020B0604020202020204" charset="0"/>
            </a:endParaRPr>
          </a:p>
        </p:txBody>
      </p:sp>
    </p:spTree>
    <p:extLst>
      <p:ext uri="{BB962C8B-B14F-4D97-AF65-F5344CB8AC3E}">
        <p14:creationId xmlns:p14="http://schemas.microsoft.com/office/powerpoint/2010/main" val="62881605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104">
          <a:extLst>
            <a:ext uri="{FF2B5EF4-FFF2-40B4-BE49-F238E27FC236}">
              <a16:creationId xmlns:a16="http://schemas.microsoft.com/office/drawing/2014/main" id="{D9935366-B43B-9C48-0830-C521BC1FF4E4}"/>
            </a:ext>
          </a:extLst>
        </p:cNvPr>
        <p:cNvGrpSpPr/>
        <p:nvPr/>
      </p:nvGrpSpPr>
      <p:grpSpPr>
        <a:xfrm>
          <a:off x="0" y="0"/>
          <a:ext cx="0" cy="0"/>
          <a:chOff x="0" y="0"/>
          <a:chExt cx="0" cy="0"/>
        </a:xfrm>
      </p:grpSpPr>
      <p:sp>
        <p:nvSpPr>
          <p:cNvPr id="105" name="Google Shape;105;p4">
            <a:extLst>
              <a:ext uri="{FF2B5EF4-FFF2-40B4-BE49-F238E27FC236}">
                <a16:creationId xmlns:a16="http://schemas.microsoft.com/office/drawing/2014/main" id="{6A663A60-1701-4344-1D63-951FB9E6C6EA}"/>
              </a:ext>
            </a:extLst>
          </p:cNvPr>
          <p:cNvSpPr txBox="1">
            <a:spLocks noGrp="1"/>
          </p:cNvSpPr>
          <p:nvPr>
            <p:ph type="title"/>
          </p:nvPr>
        </p:nvSpPr>
        <p:spPr>
          <a:xfrm>
            <a:off x="534258" y="278785"/>
            <a:ext cx="4037741" cy="443711"/>
          </a:xfrm>
          <a:prstGeom prst="rect">
            <a:avLst/>
          </a:prstGeom>
          <a:noFill/>
          <a:ln>
            <a:noFill/>
          </a:ln>
        </p:spPr>
        <p:txBody>
          <a:bodyPr spcFirstLastPara="1" wrap="square" lIns="0" tIns="12700" rIns="0" bIns="0" anchor="ctr" anchorCtr="0">
            <a:spAutoFit/>
          </a:bodyPr>
          <a:lstStyle/>
          <a:p>
            <a:pPr marL="12700" lvl="0">
              <a:lnSpc>
                <a:spcPct val="100000"/>
              </a:lnSpc>
              <a:buClr>
                <a:srgbClr val="04A2B9"/>
              </a:buClr>
              <a:buSzPts val="2400"/>
            </a:pPr>
            <a:r>
              <a:rPr lang="en-US" sz="2800" b="1" dirty="0">
                <a:solidFill>
                  <a:schemeClr val="accent1"/>
                </a:solidFill>
                <a:latin typeface="Proxima Nova"/>
                <a:ea typeface="Proxima Nova"/>
                <a:cs typeface="Proxima Nova"/>
                <a:sym typeface="Proxima Nova"/>
              </a:rPr>
              <a:t>References</a:t>
            </a:r>
          </a:p>
        </p:txBody>
      </p:sp>
      <p:sp>
        <p:nvSpPr>
          <p:cNvPr id="3" name="TextBox 2">
            <a:extLst>
              <a:ext uri="{FF2B5EF4-FFF2-40B4-BE49-F238E27FC236}">
                <a16:creationId xmlns:a16="http://schemas.microsoft.com/office/drawing/2014/main" id="{5F0AE475-1946-E2B3-9AD3-3173AB96848E}"/>
              </a:ext>
            </a:extLst>
          </p:cNvPr>
          <p:cNvSpPr txBox="1"/>
          <p:nvPr/>
        </p:nvSpPr>
        <p:spPr>
          <a:xfrm>
            <a:off x="368968" y="936419"/>
            <a:ext cx="11454064" cy="6273512"/>
          </a:xfrm>
          <a:prstGeom prst="rect">
            <a:avLst/>
          </a:prstGeom>
          <a:noFill/>
        </p:spPr>
        <p:txBody>
          <a:bodyPr wrap="square">
            <a:spAutoFit/>
          </a:bodyPr>
          <a:lstStyle/>
          <a:p>
            <a:pPr>
              <a:lnSpc>
                <a:spcPct val="150000"/>
              </a:lnSpc>
            </a:pPr>
            <a:r>
              <a:rPr lang="en-IN" sz="1800" dirty="0"/>
              <a:t>[1] Y. Kumar, “Deep Reinforcement Learning for Portfolio Optimization using Latent Feature State Space Module,” </a:t>
            </a:r>
            <a:r>
              <a:rPr lang="en-IN" sz="1800" dirty="0" err="1"/>
              <a:t>arXiv</a:t>
            </a:r>
            <a:r>
              <a:rPr lang="en-IN" sz="1800" dirty="0"/>
              <a:t> preprint arXiv:2102.06233, 2021.: </a:t>
            </a:r>
            <a:r>
              <a:rPr lang="en-IN" sz="1800" dirty="0">
                <a:hlinkClick r:id="rId4"/>
              </a:rPr>
              <a:t>https://arxiv.org/abs/2102.06233</a:t>
            </a:r>
            <a:endParaRPr lang="en-IN" sz="1800" dirty="0"/>
          </a:p>
          <a:p>
            <a:pPr>
              <a:lnSpc>
                <a:spcPct val="150000"/>
              </a:lnSpc>
            </a:pPr>
            <a:r>
              <a:rPr lang="en-IN" sz="1800" dirty="0"/>
              <a:t>[2] J. Sen, A. Dutta and S. Mehtab, “Stock Portfolio Optimization Using a Deep Learning LSTM Model,” International Journal of Computer Applications, vol. 183, no. 2, pp. 1–8, 2021. : </a:t>
            </a:r>
            <a:r>
              <a:rPr lang="en-IN" sz="1800" dirty="0">
                <a:hlinkClick r:id="rId5"/>
              </a:rPr>
              <a:t>https://www.semanticscholar.org/paper/Stock-Portfolio-Optimization-Using-a-Deep-Learning-Sen-Dutta</a:t>
            </a:r>
            <a:endParaRPr lang="en-IN" sz="1800" dirty="0"/>
          </a:p>
          <a:p>
            <a:pPr>
              <a:lnSpc>
                <a:spcPct val="150000"/>
              </a:lnSpc>
            </a:pPr>
            <a:r>
              <a:rPr lang="en-IN" sz="1800" dirty="0"/>
              <a:t>[3] J. Ahn, S. Park, J. Kim and J.-H. Lee, “Reinforcement Learning Portfolio Manager Framework with Monte Carlo Simulation,” </a:t>
            </a:r>
            <a:r>
              <a:rPr lang="en-IN" sz="1800" dirty="0" err="1"/>
              <a:t>arXiv</a:t>
            </a:r>
            <a:r>
              <a:rPr lang="en-IN" sz="1800" dirty="0"/>
              <a:t> preprint arXiv:2207.02458, 2022. </a:t>
            </a:r>
            <a:r>
              <a:rPr lang="en-IN" sz="1800" dirty="0">
                <a:hlinkClick r:id="rId6"/>
              </a:rPr>
              <a:t>https://arxiv.org/abs/2207.02458</a:t>
            </a:r>
            <a:endParaRPr lang="en-IN" sz="1800" dirty="0"/>
          </a:p>
          <a:p>
            <a:pPr>
              <a:lnSpc>
                <a:spcPct val="150000"/>
              </a:lnSpc>
            </a:pPr>
            <a:r>
              <a:rPr lang="en-IN" sz="1800" dirty="0"/>
              <a:t>[4] H. Niu, S. Li and J. Li, “</a:t>
            </a:r>
            <a:r>
              <a:rPr lang="en-IN" sz="1800" dirty="0" err="1"/>
              <a:t>MetaTrader</a:t>
            </a:r>
            <a:r>
              <a:rPr lang="en-IN" sz="1800" dirty="0"/>
              <a:t>: A Reinforcement Learning Approach Integrating Diverse Policies for Portfolio Optimization,” </a:t>
            </a:r>
            <a:r>
              <a:rPr lang="en-IN" sz="1800" dirty="0" err="1"/>
              <a:t>arXiv</a:t>
            </a:r>
            <a:r>
              <a:rPr lang="en-IN" sz="1800" dirty="0"/>
              <a:t> preprint arXiv:2210.01774, 2022. </a:t>
            </a:r>
            <a:r>
              <a:rPr lang="en-IN" sz="1800" dirty="0">
                <a:hlinkClick r:id="rId7"/>
              </a:rPr>
              <a:t>https://arxiv.org/abs/2210.01774</a:t>
            </a:r>
            <a:endParaRPr lang="en-IN" sz="1800" dirty="0"/>
          </a:p>
          <a:p>
            <a:pPr>
              <a:lnSpc>
                <a:spcPct val="150000"/>
              </a:lnSpc>
            </a:pPr>
            <a:r>
              <a:rPr lang="en-IN" sz="1800" dirty="0"/>
              <a:t>[5] R. Yan, J. Jin and K. Han, “Reinforcement Learning for Deep Portfolio Optimization,” Electronic Research Archive, vol. 32, no. 9, pp. 5176–5200, 2024 </a:t>
            </a:r>
            <a:r>
              <a:rPr lang="en-IN" sz="1800" dirty="0">
                <a:hlinkClick r:id="rId8"/>
              </a:rPr>
              <a:t>https://doi.org/10.3934/era.2024239</a:t>
            </a:r>
            <a:endParaRPr lang="en-IN" sz="1800" dirty="0"/>
          </a:p>
          <a:p>
            <a:pPr>
              <a:lnSpc>
                <a:spcPct val="150000"/>
              </a:lnSpc>
            </a:pPr>
            <a:r>
              <a:rPr lang="en-IN" sz="1800" dirty="0"/>
              <a:t>[6] J. D. Das, S. </a:t>
            </a:r>
            <a:r>
              <a:rPr lang="en-IN" sz="1800" dirty="0" err="1"/>
              <a:t>Bowala</a:t>
            </a:r>
            <a:r>
              <a:rPr lang="en-IN" sz="1800" dirty="0"/>
              <a:t>, R. K. Thulasiram and A. </a:t>
            </a:r>
            <a:r>
              <a:rPr lang="en-IN" sz="1800" dirty="0" err="1"/>
              <a:t>Thavaneswaran</a:t>
            </a:r>
            <a:r>
              <a:rPr lang="en-IN" sz="1800" dirty="0"/>
              <a:t>, “Hybrid Data-Driven and Deep Learning-Based Portfolio Optimization,” Journal of Mathematical Finance, vol. 14, no. 3, pp. 271–310, 2024.: </a:t>
            </a:r>
            <a:r>
              <a:rPr lang="en-IN" sz="1800" dirty="0">
                <a:hlinkClick r:id="rId9"/>
              </a:rPr>
              <a:t>https://doi.org/10.4236/jmf.2024.143016</a:t>
            </a:r>
            <a:endParaRPr lang="en-IN" sz="1800" dirty="0"/>
          </a:p>
          <a:p>
            <a:pPr>
              <a:lnSpc>
                <a:spcPct val="150000"/>
              </a:lnSpc>
            </a:pPr>
            <a:endParaRPr lang="en-IN" sz="1800" dirty="0"/>
          </a:p>
        </p:txBody>
      </p:sp>
    </p:spTree>
    <p:extLst>
      <p:ext uri="{BB962C8B-B14F-4D97-AF65-F5344CB8AC3E}">
        <p14:creationId xmlns:p14="http://schemas.microsoft.com/office/powerpoint/2010/main" val="257051379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104">
          <a:extLst>
            <a:ext uri="{FF2B5EF4-FFF2-40B4-BE49-F238E27FC236}">
              <a16:creationId xmlns:a16="http://schemas.microsoft.com/office/drawing/2014/main" id="{44A736AB-CC90-7256-9B5D-761C7DCFB79F}"/>
            </a:ext>
          </a:extLst>
        </p:cNvPr>
        <p:cNvGrpSpPr/>
        <p:nvPr/>
      </p:nvGrpSpPr>
      <p:grpSpPr>
        <a:xfrm>
          <a:off x="0" y="0"/>
          <a:ext cx="0" cy="0"/>
          <a:chOff x="0" y="0"/>
          <a:chExt cx="0" cy="0"/>
        </a:xfrm>
      </p:grpSpPr>
      <p:sp>
        <p:nvSpPr>
          <p:cNvPr id="105" name="Google Shape;105;p4">
            <a:extLst>
              <a:ext uri="{FF2B5EF4-FFF2-40B4-BE49-F238E27FC236}">
                <a16:creationId xmlns:a16="http://schemas.microsoft.com/office/drawing/2014/main" id="{4B907B4E-32FF-4B75-E792-655C90F2CD7B}"/>
              </a:ext>
            </a:extLst>
          </p:cNvPr>
          <p:cNvSpPr txBox="1">
            <a:spLocks noGrp="1"/>
          </p:cNvSpPr>
          <p:nvPr>
            <p:ph type="title"/>
          </p:nvPr>
        </p:nvSpPr>
        <p:spPr>
          <a:xfrm>
            <a:off x="534258" y="278785"/>
            <a:ext cx="4037741" cy="443711"/>
          </a:xfrm>
          <a:prstGeom prst="rect">
            <a:avLst/>
          </a:prstGeom>
          <a:noFill/>
          <a:ln>
            <a:noFill/>
          </a:ln>
        </p:spPr>
        <p:txBody>
          <a:bodyPr spcFirstLastPara="1" wrap="square" lIns="0" tIns="12700" rIns="0" bIns="0" anchor="ctr" anchorCtr="0">
            <a:spAutoFit/>
          </a:bodyPr>
          <a:lstStyle/>
          <a:p>
            <a:pPr marL="12700" lvl="0">
              <a:lnSpc>
                <a:spcPct val="100000"/>
              </a:lnSpc>
              <a:buClr>
                <a:srgbClr val="04A2B9"/>
              </a:buClr>
              <a:buSzPts val="2400"/>
            </a:pPr>
            <a:r>
              <a:rPr lang="en-US" sz="2800" b="1" dirty="0">
                <a:solidFill>
                  <a:schemeClr val="accent1"/>
                </a:solidFill>
                <a:latin typeface="Proxima Nova"/>
                <a:ea typeface="Proxima Nova"/>
                <a:cs typeface="Proxima Nova"/>
                <a:sym typeface="Proxima Nova"/>
              </a:rPr>
              <a:t>References</a:t>
            </a:r>
          </a:p>
        </p:txBody>
      </p:sp>
      <p:sp>
        <p:nvSpPr>
          <p:cNvPr id="3" name="TextBox 2">
            <a:extLst>
              <a:ext uri="{FF2B5EF4-FFF2-40B4-BE49-F238E27FC236}">
                <a16:creationId xmlns:a16="http://schemas.microsoft.com/office/drawing/2014/main" id="{5E40B655-D953-2CDE-07ED-312696B241AE}"/>
              </a:ext>
            </a:extLst>
          </p:cNvPr>
          <p:cNvSpPr txBox="1"/>
          <p:nvPr/>
        </p:nvSpPr>
        <p:spPr>
          <a:xfrm>
            <a:off x="368968" y="1176449"/>
            <a:ext cx="11454064" cy="5858014"/>
          </a:xfrm>
          <a:prstGeom prst="rect">
            <a:avLst/>
          </a:prstGeom>
          <a:noFill/>
        </p:spPr>
        <p:txBody>
          <a:bodyPr wrap="square">
            <a:spAutoFit/>
          </a:bodyPr>
          <a:lstStyle/>
          <a:p>
            <a:pPr>
              <a:lnSpc>
                <a:spcPct val="150000"/>
              </a:lnSpc>
            </a:pPr>
            <a:r>
              <a:rPr lang="en-IN" sz="1800" dirty="0"/>
              <a:t>[7] G. Garrido-</a:t>
            </a:r>
            <a:r>
              <a:rPr lang="en-IN" sz="1800" dirty="0" err="1"/>
              <a:t>Merchán</a:t>
            </a:r>
            <a:r>
              <a:rPr lang="en-IN" sz="1800" dirty="0"/>
              <a:t>, J. Hernández-Lobato and A. Sánchez, “Deep Reinforcement Learning for ESG Financial Portfolio Management,” </a:t>
            </a:r>
            <a:r>
              <a:rPr lang="en-IN" sz="1800" dirty="0" err="1"/>
              <a:t>arXiv</a:t>
            </a:r>
            <a:r>
              <a:rPr lang="en-IN" sz="1800" dirty="0"/>
              <a:t> preprint arXiv:2307.09631, 2023. </a:t>
            </a:r>
            <a:r>
              <a:rPr lang="en-IN" sz="1800" dirty="0">
                <a:hlinkClick r:id="rId4"/>
              </a:rPr>
              <a:t>https://arxiv.org/abs/2307.09631</a:t>
            </a:r>
            <a:endParaRPr lang="en-IN" sz="1800" dirty="0"/>
          </a:p>
          <a:p>
            <a:pPr>
              <a:lnSpc>
                <a:spcPct val="150000"/>
              </a:lnSpc>
            </a:pPr>
            <a:r>
              <a:rPr lang="en-IN" sz="1800" dirty="0"/>
              <a:t>[8] A. Orra, A. </a:t>
            </a:r>
            <a:r>
              <a:rPr lang="en-IN" sz="1800" dirty="0" err="1"/>
              <a:t>Bhambu</a:t>
            </a:r>
            <a:r>
              <a:rPr lang="en-IN" sz="1800" dirty="0"/>
              <a:t>, H. Choudhary, M. Thakur and S. Natarajan, “Deep Reinforcement Learning for Investor-Specific Portfolio Optimization: A Volatility-Guided Asset Selection Approach,” </a:t>
            </a:r>
            <a:r>
              <a:rPr lang="en-IN" sz="1800" dirty="0" err="1"/>
              <a:t>arXiv</a:t>
            </a:r>
            <a:r>
              <a:rPr lang="en-IN" sz="1800" dirty="0"/>
              <a:t> preprint arXiv:2505.03760, 2025. </a:t>
            </a:r>
            <a:r>
              <a:rPr lang="en-IN" sz="1800" dirty="0">
                <a:hlinkClick r:id="rId5"/>
              </a:rPr>
              <a:t>https://arxiv.org/abs/2505.03760</a:t>
            </a:r>
            <a:endParaRPr lang="en-IN" sz="1800" dirty="0"/>
          </a:p>
          <a:p>
            <a:pPr>
              <a:lnSpc>
                <a:spcPct val="150000"/>
              </a:lnSpc>
            </a:pPr>
            <a:r>
              <a:rPr lang="en-IN" sz="1800" dirty="0"/>
              <a:t>[9] H. Zouaoui and M.-N. Naas, “Portfolio Optimization Based on MPT-LSTM Neural Networks,” Finance, Accounting and Business Analysis Journal, vol. 7, no. 1, pp. 45–62, 2025 </a:t>
            </a:r>
            <a:r>
              <a:rPr lang="en-IN" sz="1800" dirty="0">
                <a:hlinkClick r:id="rId6"/>
              </a:rPr>
              <a:t>https://faba.bg/index.php/faba/article/view/265</a:t>
            </a:r>
            <a:endParaRPr lang="en-IN" sz="1800" dirty="0"/>
          </a:p>
          <a:p>
            <a:pPr>
              <a:lnSpc>
                <a:spcPct val="150000"/>
              </a:lnSpc>
            </a:pPr>
            <a:r>
              <a:rPr lang="en-IN" sz="1800" dirty="0"/>
              <a:t>[10] H. Yang, X. Liu and J. Chen, “LSTM-Based Deep Model for Investment Portfolio,” IEEE Access, vol. 10, pp. 73215–73225, 2022.  </a:t>
            </a:r>
            <a:r>
              <a:rPr lang="en-IN" sz="1800" dirty="0">
                <a:hlinkClick r:id="rId7"/>
              </a:rPr>
              <a:t>https://pmc.ncbi.nlm.nih.gov/articles/PMC9283061/</a:t>
            </a:r>
            <a:endParaRPr lang="en-IN" sz="1800" dirty="0"/>
          </a:p>
          <a:p>
            <a:pPr>
              <a:lnSpc>
                <a:spcPct val="150000"/>
              </a:lnSpc>
            </a:pPr>
            <a:r>
              <a:rPr lang="en-IN" sz="1800" dirty="0"/>
              <a:t>[11] Z. Song, H. Chen and F. Liu, “An Interpretable Stochastic Model-Free Reinforcement Learning Framework for Portfolio Optimization,” Applied Intelligence, vol. 53, pp. 10391–10407, 2023 </a:t>
            </a:r>
            <a:r>
              <a:rPr lang="en-IN" sz="1800" dirty="0">
                <a:hlinkClick r:id="rId8"/>
              </a:rPr>
              <a:t>https://link.springer.com/article/10.1007/s10489-022-04217-5</a:t>
            </a:r>
            <a:endParaRPr lang="en-IN" sz="1800" dirty="0"/>
          </a:p>
          <a:p>
            <a:pPr>
              <a:lnSpc>
                <a:spcPct val="150000"/>
              </a:lnSpc>
            </a:pPr>
            <a:endParaRPr lang="en-IN" sz="1800" dirty="0"/>
          </a:p>
        </p:txBody>
      </p:sp>
    </p:spTree>
    <p:extLst>
      <p:ext uri="{BB962C8B-B14F-4D97-AF65-F5344CB8AC3E}">
        <p14:creationId xmlns:p14="http://schemas.microsoft.com/office/powerpoint/2010/main" val="191251914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104">
          <a:extLst>
            <a:ext uri="{FF2B5EF4-FFF2-40B4-BE49-F238E27FC236}">
              <a16:creationId xmlns:a16="http://schemas.microsoft.com/office/drawing/2014/main" id="{6CFBB19D-AE73-A712-F55F-CFD49E64B510}"/>
            </a:ext>
          </a:extLst>
        </p:cNvPr>
        <p:cNvGrpSpPr/>
        <p:nvPr/>
      </p:nvGrpSpPr>
      <p:grpSpPr>
        <a:xfrm>
          <a:off x="0" y="0"/>
          <a:ext cx="0" cy="0"/>
          <a:chOff x="0" y="0"/>
          <a:chExt cx="0" cy="0"/>
        </a:xfrm>
      </p:grpSpPr>
      <p:sp>
        <p:nvSpPr>
          <p:cNvPr id="105" name="Google Shape;105;p4">
            <a:extLst>
              <a:ext uri="{FF2B5EF4-FFF2-40B4-BE49-F238E27FC236}">
                <a16:creationId xmlns:a16="http://schemas.microsoft.com/office/drawing/2014/main" id="{E06804F8-D9D2-458D-6A81-9301CF6A4700}"/>
              </a:ext>
            </a:extLst>
          </p:cNvPr>
          <p:cNvSpPr txBox="1">
            <a:spLocks noGrp="1"/>
          </p:cNvSpPr>
          <p:nvPr>
            <p:ph type="title"/>
          </p:nvPr>
        </p:nvSpPr>
        <p:spPr>
          <a:xfrm>
            <a:off x="534258" y="278785"/>
            <a:ext cx="4037741" cy="443711"/>
          </a:xfrm>
          <a:prstGeom prst="rect">
            <a:avLst/>
          </a:prstGeom>
          <a:noFill/>
          <a:ln>
            <a:noFill/>
          </a:ln>
        </p:spPr>
        <p:txBody>
          <a:bodyPr spcFirstLastPara="1" wrap="square" lIns="0" tIns="12700" rIns="0" bIns="0" anchor="ctr" anchorCtr="0">
            <a:spAutoFit/>
          </a:bodyPr>
          <a:lstStyle/>
          <a:p>
            <a:pPr marL="12700" lvl="0">
              <a:lnSpc>
                <a:spcPct val="100000"/>
              </a:lnSpc>
              <a:buClr>
                <a:srgbClr val="04A2B9"/>
              </a:buClr>
              <a:buSzPts val="2400"/>
            </a:pPr>
            <a:r>
              <a:rPr lang="en-US" sz="2800" b="1" dirty="0">
                <a:solidFill>
                  <a:schemeClr val="accent1"/>
                </a:solidFill>
                <a:latin typeface="Proxima Nova"/>
                <a:ea typeface="Proxima Nova"/>
                <a:cs typeface="Proxima Nova"/>
                <a:sym typeface="Proxima Nova"/>
              </a:rPr>
              <a:t>References</a:t>
            </a:r>
          </a:p>
        </p:txBody>
      </p:sp>
      <p:sp>
        <p:nvSpPr>
          <p:cNvPr id="3" name="TextBox 2">
            <a:extLst>
              <a:ext uri="{FF2B5EF4-FFF2-40B4-BE49-F238E27FC236}">
                <a16:creationId xmlns:a16="http://schemas.microsoft.com/office/drawing/2014/main" id="{EB1DC286-9ABD-29BE-D16E-07C48A146BCF}"/>
              </a:ext>
            </a:extLst>
          </p:cNvPr>
          <p:cNvSpPr txBox="1"/>
          <p:nvPr/>
        </p:nvSpPr>
        <p:spPr>
          <a:xfrm>
            <a:off x="368968" y="1176449"/>
            <a:ext cx="11454064" cy="6273512"/>
          </a:xfrm>
          <a:prstGeom prst="rect">
            <a:avLst/>
          </a:prstGeom>
          <a:noFill/>
        </p:spPr>
        <p:txBody>
          <a:bodyPr wrap="square">
            <a:spAutoFit/>
          </a:bodyPr>
          <a:lstStyle/>
          <a:p>
            <a:pPr>
              <a:lnSpc>
                <a:spcPct val="150000"/>
              </a:lnSpc>
            </a:pPr>
            <a:r>
              <a:rPr lang="en-IN" sz="1800" dirty="0"/>
              <a:t>[12] C. Sun, Q. Wu and X. Yan, “Dynamic CVaR Portfolio Construction with Attention-Powered Generative Factor Learning,” </a:t>
            </a:r>
            <a:r>
              <a:rPr lang="en-IN" sz="1800" dirty="0" err="1"/>
              <a:t>arXiv</a:t>
            </a:r>
            <a:r>
              <a:rPr lang="en-IN" sz="1800" dirty="0"/>
              <a:t> preprint arXiv:2301.07318, 2023. </a:t>
            </a:r>
            <a:r>
              <a:rPr lang="en-IN" sz="1800" dirty="0">
                <a:hlinkClick r:id="rId4"/>
              </a:rPr>
              <a:t>https://arxiv.org/abs/2301.07318</a:t>
            </a:r>
            <a:endParaRPr lang="en-IN" sz="1800" dirty="0"/>
          </a:p>
          <a:p>
            <a:pPr>
              <a:lnSpc>
                <a:spcPct val="150000"/>
              </a:lnSpc>
            </a:pPr>
            <a:r>
              <a:rPr lang="en-IN" sz="1800" dirty="0"/>
              <a:t>[13] W. Zhang, L. Qian and P. Zhang, “Enhancing Portfolio Optimization via Heuristic-Guided Deep Reinforcement Learning and Graph Neural Networks,” Proceedings of the 33rd International Joint Conference on Artificial Intelligence (IJCAI), 2025.  </a:t>
            </a:r>
            <a:r>
              <a:rPr lang="en-IN" sz="1800" dirty="0">
                <a:hlinkClick r:id="rId5"/>
              </a:rPr>
              <a:t>https://www.ijcai.org/proceedings/2025/1054.pdf</a:t>
            </a:r>
            <a:endParaRPr lang="en-IN" sz="1800" dirty="0"/>
          </a:p>
          <a:p>
            <a:pPr>
              <a:lnSpc>
                <a:spcPct val="150000"/>
              </a:lnSpc>
            </a:pPr>
            <a:r>
              <a:rPr lang="en-IN" sz="1800" dirty="0"/>
              <a:t>[14] X. Wang and L. Liu, “Risk-Sensitive Deep Reinforcement Learning for Portfolio Optimization,” Journal of Risk and Financial Management, vol. 18, no. 7, pp. 347–361, 2025. </a:t>
            </a:r>
            <a:r>
              <a:rPr lang="en-IN" sz="1800" dirty="0">
                <a:hlinkClick r:id="rId6"/>
              </a:rPr>
              <a:t>https://www.mdpi.com/1911-8074/18/7/347</a:t>
            </a:r>
            <a:endParaRPr lang="en-IN" sz="1800" dirty="0"/>
          </a:p>
          <a:p>
            <a:pPr>
              <a:lnSpc>
                <a:spcPct val="150000"/>
              </a:lnSpc>
            </a:pPr>
            <a:r>
              <a:rPr lang="en-IN" sz="1800" dirty="0"/>
              <a:t>[15] H. Zouaoui and M.-N. Naas, “Portfolio Optimization Based on MPT-LSTM Neural Networks,” Finance, Accounting and Business Analysis Journal, vol. 7, no. 1, pp. 45–62, 2025. </a:t>
            </a:r>
            <a:r>
              <a:rPr lang="en-IN" sz="1800" dirty="0">
                <a:hlinkClick r:id="rId7"/>
              </a:rPr>
              <a:t>https://faba.bg/index.php/faba/article/view/265</a:t>
            </a:r>
            <a:endParaRPr lang="en-IN" sz="1800" dirty="0"/>
          </a:p>
          <a:p>
            <a:pPr>
              <a:lnSpc>
                <a:spcPct val="150000"/>
              </a:lnSpc>
            </a:pPr>
            <a:r>
              <a:rPr lang="en-IN" sz="1800" dirty="0"/>
              <a:t>[16] Springer Authors, “Risk-Adjusted Deep Reinforcement Learning for Portfolio Optimization,” Springer Journal of Intelligent Systems, vol. 29, no. 2, pp. 1–15, 2025. </a:t>
            </a:r>
          </a:p>
          <a:p>
            <a:pPr>
              <a:lnSpc>
                <a:spcPct val="150000"/>
              </a:lnSpc>
            </a:pPr>
            <a:r>
              <a:rPr lang="en-IN" sz="1800" dirty="0"/>
              <a:t> </a:t>
            </a:r>
            <a:r>
              <a:rPr lang="en-IN" sz="1800" dirty="0">
                <a:hlinkClick r:id="rId8"/>
              </a:rPr>
              <a:t>https://link.springer.com/article/10.1007/s44196-025-00875-8 \</a:t>
            </a:r>
            <a:endParaRPr lang="en-IN" sz="1800" dirty="0"/>
          </a:p>
          <a:p>
            <a:pPr>
              <a:lnSpc>
                <a:spcPct val="150000"/>
              </a:lnSpc>
            </a:pPr>
            <a:endParaRPr lang="en-IN" sz="1800" dirty="0"/>
          </a:p>
          <a:p>
            <a:pPr>
              <a:lnSpc>
                <a:spcPct val="150000"/>
              </a:lnSpc>
            </a:pPr>
            <a:endParaRPr lang="en-IN" sz="1800" dirty="0"/>
          </a:p>
        </p:txBody>
      </p:sp>
    </p:spTree>
    <p:extLst>
      <p:ext uri="{BB962C8B-B14F-4D97-AF65-F5344CB8AC3E}">
        <p14:creationId xmlns:p14="http://schemas.microsoft.com/office/powerpoint/2010/main" val="236376062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110"/>
        <p:cNvGrpSpPr/>
        <p:nvPr/>
      </p:nvGrpSpPr>
      <p:grpSpPr>
        <a:xfrm>
          <a:off x="0" y="0"/>
          <a:ext cx="0" cy="0"/>
          <a:chOff x="0" y="0"/>
          <a:chExt cx="0" cy="0"/>
        </a:xfrm>
      </p:grpSpPr>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396</TotalTime>
  <Words>1971</Words>
  <Application>Microsoft Office PowerPoint</Application>
  <PresentationFormat>Widescreen</PresentationFormat>
  <Paragraphs>219</Paragraphs>
  <Slides>18</Slides>
  <Notes>18</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18</vt:i4>
      </vt:variant>
    </vt:vector>
  </HeadingPairs>
  <TitlesOfParts>
    <vt:vector size="24" baseType="lpstr">
      <vt:lpstr>Proxima Nova</vt:lpstr>
      <vt:lpstr>Calibri</vt:lpstr>
      <vt:lpstr>Arial</vt:lpstr>
      <vt:lpstr>Aptos Narrow</vt:lpstr>
      <vt:lpstr>Times New Roman</vt:lpstr>
      <vt:lpstr>Office Theme</vt:lpstr>
      <vt:lpstr>PowerPoint Presentation</vt:lpstr>
      <vt:lpstr>PowerPoint Presentation</vt:lpstr>
      <vt:lpstr>Outline</vt:lpstr>
      <vt:lpstr>Abstract </vt:lpstr>
      <vt:lpstr>Introduction</vt:lpstr>
      <vt:lpstr>Literature Review</vt:lpstr>
      <vt:lpstr>Literature Review</vt:lpstr>
      <vt:lpstr>Literature Review</vt:lpstr>
      <vt:lpstr>Tools &amp; Technology </vt:lpstr>
      <vt:lpstr>Methodology </vt:lpstr>
      <vt:lpstr>Result</vt:lpstr>
      <vt:lpstr>Result</vt:lpstr>
      <vt:lpstr>Result</vt:lpstr>
      <vt:lpstr>Conclusion</vt:lpstr>
      <vt:lpstr>References</vt:lpstr>
      <vt:lpstr>References</vt:lpstr>
      <vt:lpstr>References</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admin</dc:creator>
  <cp:lastModifiedBy>Dell 5400</cp:lastModifiedBy>
  <cp:revision>56</cp:revision>
  <dcterms:created xsi:type="dcterms:W3CDTF">2023-12-05T07:58:57Z</dcterms:created>
  <dcterms:modified xsi:type="dcterms:W3CDTF">2026-01-03T03:45:33Z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defa4170-0d19-0005-0004-bc88714345d2_Enabled">
    <vt:lpwstr>true</vt:lpwstr>
  </property>
  <property fmtid="{D5CDD505-2E9C-101B-9397-08002B2CF9AE}" pid="3" name="MSIP_Label_defa4170-0d19-0005-0004-bc88714345d2_SetDate">
    <vt:lpwstr>2024-01-10T05:57:01Z</vt:lpwstr>
  </property>
  <property fmtid="{D5CDD505-2E9C-101B-9397-08002B2CF9AE}" pid="4" name="MSIP_Label_defa4170-0d19-0005-0004-bc88714345d2_Method">
    <vt:lpwstr>Standard</vt:lpwstr>
  </property>
  <property fmtid="{D5CDD505-2E9C-101B-9397-08002B2CF9AE}" pid="5" name="MSIP_Label_defa4170-0d19-0005-0004-bc88714345d2_Name">
    <vt:lpwstr>defa4170-0d19-0005-0004-bc88714345d2</vt:lpwstr>
  </property>
  <property fmtid="{D5CDD505-2E9C-101B-9397-08002B2CF9AE}" pid="6" name="MSIP_Label_defa4170-0d19-0005-0004-bc88714345d2_SiteId">
    <vt:lpwstr>bdeac77a-6f2d-4eed-8d0b-c87a56de673f</vt:lpwstr>
  </property>
  <property fmtid="{D5CDD505-2E9C-101B-9397-08002B2CF9AE}" pid="7" name="MSIP_Label_defa4170-0d19-0005-0004-bc88714345d2_ActionId">
    <vt:lpwstr>2a20089b-7995-43de-aaf1-a4eb65220026</vt:lpwstr>
  </property>
  <property fmtid="{D5CDD505-2E9C-101B-9397-08002B2CF9AE}" pid="8" name="MSIP_Label_defa4170-0d19-0005-0004-bc88714345d2_ContentBits">
    <vt:lpwstr>0</vt:lpwstr>
  </property>
</Properties>
</file>
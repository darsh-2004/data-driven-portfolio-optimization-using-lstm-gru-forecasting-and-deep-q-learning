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70" r:id="rId5"/>
    <p:sldId id="259" r:id="rId6"/>
    <p:sldId id="261" r:id="rId7"/>
    <p:sldId id="264" r:id="rId8"/>
    <p:sldId id="273" r:id="rId9"/>
    <p:sldId id="265" r:id="rId10"/>
    <p:sldId id="267" r:id="rId11"/>
    <p:sldId id="271" r:id="rId12"/>
    <p:sldId id="274" r:id="rId13"/>
    <p:sldId id="275" r:id="rId14"/>
    <p:sldId id="276" r:id="rId15"/>
    <p:sldId id="260" r:id="rId16"/>
  </p:sldIdLst>
  <p:sldSz cx="12192000" cy="6858000"/>
  <p:notesSz cx="6858000" cy="9144000"/>
  <p:embeddedFontLst>
    <p:embeddedFont>
      <p:font typeface="Aptos Narrow" panose="020B0004020202020204" pitchFamily="34" charset="0"/>
      <p:regular r:id="rId18"/>
      <p:bold r:id="rId19"/>
      <p:italic r:id="rId20"/>
      <p:boldItalic r:id="rId21"/>
    </p:embeddedFont>
    <p:embeddedFont>
      <p:font typeface="Proxima Nova"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A+2nPyMWBN538PGGglQVWGl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00FF7-3280-4B6D-829A-ED2F980D0C85}" v="30" dt="2025-11-08T04:17:28.540"/>
    <p1510:client id="{5AB8D8DA-6854-9DAB-F90E-8506C3FA2032}" v="118" dt="2025-11-07T06:28:36.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B7F906E-B8E1-A4BA-7FBB-F1F57EED0387}"/>
            </a:ext>
          </a:extLst>
        </p:cNvPr>
        <p:cNvGrpSpPr/>
        <p:nvPr/>
      </p:nvGrpSpPr>
      <p:grpSpPr>
        <a:xfrm>
          <a:off x="0" y="0"/>
          <a:ext cx="0" cy="0"/>
          <a:chOff x="0" y="0"/>
          <a:chExt cx="0" cy="0"/>
        </a:xfrm>
      </p:grpSpPr>
      <p:sp>
        <p:nvSpPr>
          <p:cNvPr id="96" name="Google Shape;96;p3:notes">
            <a:extLst>
              <a:ext uri="{FF2B5EF4-FFF2-40B4-BE49-F238E27FC236}">
                <a16:creationId xmlns:a16="http://schemas.microsoft.com/office/drawing/2014/main" id="{9E29A4C8-9B30-9859-ED70-AACA0A1F8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a:extLst>
              <a:ext uri="{FF2B5EF4-FFF2-40B4-BE49-F238E27FC236}">
                <a16:creationId xmlns:a16="http://schemas.microsoft.com/office/drawing/2014/main" id="{EBD26A8A-DC01-853B-5FDA-068192101F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61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3635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45F2D61-4928-4BF4-FA38-BE4A3B204DA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F9A9928-EB3B-A0CB-A8B2-833E0BE0DE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2F886030-430A-CD13-198A-249861A0BC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867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216BF9-23BA-A846-6AC4-60374A3F434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B6B1B9F-11B8-B436-8B12-B939F3250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5773A874-CEC6-20A4-6359-7CE4097CD8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2541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ACE64F-5113-4E4F-9F44-16CB30750DE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9D2FBE7-D333-BFDF-B616-FE57D94F92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EDFD17AE-56DD-3063-9B86-74436E45F0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164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61B983-BA12-0DF3-D948-7717D3457F2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B2F893E-CB70-B929-0AA6-DECFF525C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6E800649-D1B1-B9F8-15EA-D50292213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7338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E3B4396-AFBE-04CD-08D3-B9ECE54B448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E0749BA-F8AE-4096-EF41-8CA35F5428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FFA4CD54-15F5-BBCD-7637-84B68A4EB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884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79E3DE4-1997-8004-4E17-93DC5968E15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0781C86-E09A-F7FC-AAA0-57454F8E1B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EC5F588A-32AC-3756-8514-DB64ABD0A1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0246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6DBF29-E5F2-F10B-B5EC-E630C2C2DB7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54A8F30-E1BA-8126-7551-454C0114B4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1431A765-9946-EE3E-CB0E-6D439A09A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486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777D16-6AF6-F128-C001-ADAE43AA4D8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68E0A2F-621C-F772-04A3-58555E974B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74F271BE-76C0-7154-6D7E-B18930396C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190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3934/era.2024239" TargetMode="External"/><Relationship Id="rId3" Type="http://schemas.openxmlformats.org/officeDocument/2006/relationships/image" Target="../media/image2.jpg"/><Relationship Id="rId7" Type="http://schemas.openxmlformats.org/officeDocument/2006/relationships/hyperlink" Target="https://arxiv.org/abs/2210.0177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arxiv.org/abs/2207.02458" TargetMode="External"/><Relationship Id="rId5" Type="http://schemas.openxmlformats.org/officeDocument/2006/relationships/hyperlink" Target="https://www.semanticscholar.org/paper/Stock-Portfolio-Optimization-Using-a-Deep-Learning-Sen-Dutta" TargetMode="External"/><Relationship Id="rId4" Type="http://schemas.openxmlformats.org/officeDocument/2006/relationships/hyperlink" Target="https://arxiv.org/abs/2102.06233" TargetMode="External"/><Relationship Id="rId9" Type="http://schemas.openxmlformats.org/officeDocument/2006/relationships/hyperlink" Target="https://doi.org/10.4236/jmf.2024.143016"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link.springer.com/article/10.1007/s10489-022-04217-5" TargetMode="External"/><Relationship Id="rId3" Type="http://schemas.openxmlformats.org/officeDocument/2006/relationships/image" Target="../media/image2.jpg"/><Relationship Id="rId7" Type="http://schemas.openxmlformats.org/officeDocument/2006/relationships/hyperlink" Target="https://pmc.ncbi.nlm.nih.gov/articles/PMC9283061/"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faba.bg/index.php/faba/article/view/265" TargetMode="External"/><Relationship Id="rId5" Type="http://schemas.openxmlformats.org/officeDocument/2006/relationships/hyperlink" Target="https://arxiv.org/abs/2505.03760" TargetMode="External"/><Relationship Id="rId4" Type="http://schemas.openxmlformats.org/officeDocument/2006/relationships/hyperlink" Target="https://arxiv.org/abs/2307.09631"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link.springer.com/article/10.1007/s44196-025-00875-8%20/" TargetMode="External"/><Relationship Id="rId3" Type="http://schemas.openxmlformats.org/officeDocument/2006/relationships/image" Target="../media/image2.jpg"/><Relationship Id="rId7" Type="http://schemas.openxmlformats.org/officeDocument/2006/relationships/hyperlink" Target="https://faba.bg/index.php/faba/article/view/265"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mdpi.com/1911-8074/18/7/347" TargetMode="External"/><Relationship Id="rId5" Type="http://schemas.openxmlformats.org/officeDocument/2006/relationships/hyperlink" Target="https://www.ijcai.org/proceedings/2025/1054.pdf" TargetMode="External"/><Relationship Id="rId4" Type="http://schemas.openxmlformats.org/officeDocument/2006/relationships/hyperlink" Target="https://arxiv.org/abs/2301.07318"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2757000" y="3987458"/>
            <a:ext cx="6678000" cy="1292631"/>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a:ea typeface="Proxima Nova"/>
                <a:cs typeface="Proxima Nova"/>
                <a:sym typeface="Proxima Nova"/>
              </a:rPr>
              <a:t>Team Member 1: </a:t>
            </a:r>
            <a:r>
              <a:rPr lang="en-US" sz="1800" dirty="0">
                <a:solidFill>
                  <a:schemeClr val="tx1"/>
                </a:solidFill>
                <a:latin typeface="Proxima Nova"/>
                <a:ea typeface="Proxima Nova"/>
                <a:cs typeface="Proxima Nova"/>
                <a:sym typeface="Proxima Nova"/>
              </a:rPr>
              <a:t>Raj Mungara</a:t>
            </a:r>
            <a:r>
              <a:rPr lang="en-US" sz="1800" b="0" i="0" u="none" strike="noStrike" cap="none" dirty="0">
                <a:solidFill>
                  <a:schemeClr val="tx1"/>
                </a:solidFill>
                <a:latin typeface="Proxima Nova"/>
                <a:ea typeface="Proxima Nova"/>
                <a:cs typeface="Proxima Nova"/>
                <a:sym typeface="Proxima Nova"/>
              </a:rPr>
              <a:t> (92200103223) </a:t>
            </a:r>
            <a:endParaRPr dirty="0">
              <a:solidFill>
                <a:schemeClr val="tx1"/>
              </a:solidFill>
            </a:endParaRPr>
          </a:p>
          <a:p>
            <a:pPr marL="0" marR="0" lvl="0" indent="0" algn="ctr" rtl="0">
              <a:spcBef>
                <a:spcPts val="0"/>
              </a:spcBef>
              <a:spcAft>
                <a:spcPts val="0"/>
              </a:spcAft>
              <a:buNone/>
            </a:pPr>
            <a:r>
              <a:rPr lang="en-US" sz="1800" b="0" i="0" u="none" strike="noStrike" cap="none" dirty="0">
                <a:solidFill>
                  <a:schemeClr val="tx1"/>
                </a:solidFill>
                <a:latin typeface="Proxima Nova"/>
                <a:ea typeface="Proxima Nova"/>
                <a:cs typeface="Proxima Nova"/>
                <a:sym typeface="Proxima Nova"/>
              </a:rPr>
              <a:t>Team Member 2: </a:t>
            </a:r>
            <a:r>
              <a:rPr lang="en-US" sz="1800" dirty="0">
                <a:solidFill>
                  <a:schemeClr val="tx1"/>
                </a:solidFill>
                <a:latin typeface="Proxima Nova"/>
                <a:ea typeface="Proxima Nova"/>
                <a:cs typeface="Proxima Nova"/>
                <a:sym typeface="Proxima Nova"/>
              </a:rPr>
              <a:t>Darshan Vasoya</a:t>
            </a:r>
            <a:r>
              <a:rPr lang="en-US" sz="1800" b="0" i="0" u="none" strike="noStrike" cap="none" dirty="0">
                <a:solidFill>
                  <a:schemeClr val="tx1"/>
                </a:solidFill>
                <a:latin typeface="Proxima Nova"/>
                <a:ea typeface="Proxima Nova"/>
                <a:cs typeface="Proxima Nova"/>
                <a:sym typeface="Proxima Nova"/>
              </a:rPr>
              <a:t> (</a:t>
            </a:r>
            <a:r>
              <a:rPr lang="en-US" sz="1800" dirty="0">
                <a:solidFill>
                  <a:schemeClr val="tx1"/>
                </a:solidFill>
                <a:latin typeface="Proxima Nova"/>
                <a:ea typeface="Proxima Nova"/>
                <a:cs typeface="Proxima Nova"/>
                <a:sym typeface="Proxima Nova"/>
              </a:rPr>
              <a:t>92200103199</a:t>
            </a:r>
            <a:r>
              <a:rPr lang="en-US" sz="1800" b="0" i="0" u="none" strike="noStrike" cap="none" dirty="0">
                <a:solidFill>
                  <a:schemeClr val="tx1"/>
                </a:solidFill>
                <a:latin typeface="Proxima Nova"/>
                <a:ea typeface="Proxima Nova"/>
                <a:cs typeface="Proxima Nova"/>
                <a:sym typeface="Proxima Nova"/>
              </a:rPr>
              <a:t>)</a:t>
            </a:r>
            <a:endParaRPr dirty="0">
              <a:solidFill>
                <a:schemeClr val="tx1"/>
              </a:solidFill>
            </a:endParaRPr>
          </a:p>
          <a:p>
            <a:pPr marL="0" marR="0" lvl="0" indent="0" algn="ctr" rtl="0">
              <a:spcBef>
                <a:spcPts val="0"/>
              </a:spcBef>
              <a:spcAft>
                <a:spcPts val="0"/>
              </a:spcAft>
              <a:buNone/>
            </a:pPr>
            <a:r>
              <a:rPr lang="en-US" sz="1800" b="0" i="0" u="none" strike="noStrike" cap="none" dirty="0">
                <a:solidFill>
                  <a:schemeClr val="tx1"/>
                </a:solidFill>
                <a:latin typeface="Proxima Nova"/>
                <a:ea typeface="Proxima Nova"/>
                <a:cs typeface="Proxima Nova"/>
                <a:sym typeface="Proxima Nova"/>
              </a:rPr>
              <a:t>Team Member 3: </a:t>
            </a:r>
            <a:r>
              <a:rPr lang="en-US" sz="1800" dirty="0">
                <a:solidFill>
                  <a:schemeClr val="tx1"/>
                </a:solidFill>
                <a:latin typeface="Proxima Nova"/>
                <a:ea typeface="Proxima Nova"/>
                <a:cs typeface="Proxima Nova"/>
                <a:sym typeface="Proxima Nova"/>
              </a:rPr>
              <a:t>Rupesh </a:t>
            </a:r>
            <a:r>
              <a:rPr lang="en-US" sz="1800" dirty="0" err="1">
                <a:solidFill>
                  <a:schemeClr val="tx1"/>
                </a:solidFill>
                <a:latin typeface="Proxima Nova"/>
                <a:ea typeface="Proxima Nova"/>
                <a:cs typeface="Proxima Nova"/>
                <a:sym typeface="Proxima Nova"/>
              </a:rPr>
              <a:t>Rudakiya</a:t>
            </a:r>
            <a:r>
              <a:rPr lang="en-US" sz="1800" b="0" i="0" u="none" strike="noStrike" cap="none" dirty="0">
                <a:solidFill>
                  <a:schemeClr val="tx1"/>
                </a:solidFill>
                <a:latin typeface="Proxima Nova"/>
                <a:ea typeface="Proxima Nova"/>
                <a:cs typeface="Proxima Nova"/>
                <a:sym typeface="Proxima Nova"/>
              </a:rPr>
              <a:t> (</a:t>
            </a:r>
            <a:r>
              <a:rPr lang="en-US" sz="1800" dirty="0">
                <a:solidFill>
                  <a:schemeClr val="tx1"/>
                </a:solidFill>
                <a:latin typeface="Proxima Nova"/>
                <a:ea typeface="Proxima Nova"/>
                <a:cs typeface="Proxima Nova"/>
                <a:sym typeface="Proxima Nova"/>
              </a:rPr>
              <a:t>92200103222</a:t>
            </a:r>
            <a:r>
              <a:rPr lang="en-US" sz="1800" b="0" i="0" u="none" strike="noStrike" cap="none" dirty="0">
                <a:solidFill>
                  <a:schemeClr val="tx1"/>
                </a:solidFill>
                <a:latin typeface="Proxima Nova"/>
                <a:ea typeface="Proxima Nova"/>
                <a:cs typeface="Proxima Nova"/>
                <a:sym typeface="Proxima Nova"/>
              </a:rPr>
              <a:t>)</a:t>
            </a:r>
            <a:endParaRPr dirty="0">
              <a:solidFill>
                <a:schemeClr val="tx1"/>
              </a:solidFill>
            </a:endParaRPr>
          </a:p>
          <a:p>
            <a:pPr marL="0" marR="0" lvl="0" indent="0" algn="ctr" rtl="0">
              <a:spcBef>
                <a:spcPts val="0"/>
              </a:spcBef>
              <a:spcAft>
                <a:spcPts val="0"/>
              </a:spcAft>
              <a:buNone/>
            </a:pPr>
            <a:endParaRPr sz="1800" b="0" i="0" u="none" strike="noStrike" cap="none" dirty="0">
              <a:solidFill>
                <a:schemeClr val="dk1"/>
              </a:solidFill>
              <a:latin typeface="Proxima Nova"/>
              <a:ea typeface="Proxima Nova"/>
              <a:cs typeface="Proxima Nova"/>
              <a:sym typeface="Proxima Nova"/>
            </a:endParaRPr>
          </a:p>
        </p:txBody>
      </p:sp>
      <p:sp>
        <p:nvSpPr>
          <p:cNvPr id="89" name="Google Shape;89;p2"/>
          <p:cNvSpPr txBox="1"/>
          <p:nvPr/>
        </p:nvSpPr>
        <p:spPr>
          <a:xfrm>
            <a:off x="2498099" y="2640478"/>
            <a:ext cx="7448005" cy="1213153"/>
          </a:xfrm>
          <a:prstGeom prst="rect">
            <a:avLst/>
          </a:prstGeom>
          <a:noFill/>
          <a:ln>
            <a:noFill/>
          </a:ln>
        </p:spPr>
        <p:txBody>
          <a:bodyPr spcFirstLastPara="1" wrap="square" lIns="0" tIns="12700" rIns="0" bIns="0" anchor="ctr" anchorCtr="0">
            <a:spAutoFit/>
          </a:bodyPr>
          <a:lstStyle/>
          <a:p>
            <a:pPr marL="12700" lvl="0" algn="ctr">
              <a:buClr>
                <a:srgbClr val="04A2B9"/>
              </a:buClr>
              <a:buSzPts val="2800"/>
            </a:pPr>
            <a:r>
              <a:rPr lang="en-US" sz="2800" dirty="0">
                <a:solidFill>
                  <a:srgbClr val="04A2B9"/>
                </a:solidFill>
                <a:latin typeface="Proxima Nova"/>
                <a:sym typeface="Proxima Nova"/>
              </a:rPr>
              <a:t>Data-Driven Portfolio Optimization using LSTM-GRU Forecasting and Deep Q-Learning </a:t>
            </a:r>
          </a:p>
          <a:p>
            <a:pPr marL="12700" lvl="0" algn="ctr">
              <a:buClr>
                <a:srgbClr val="04A2B9"/>
              </a:buClr>
              <a:buSzPts val="2800"/>
            </a:pPr>
            <a:r>
              <a:rPr lang="en-US" sz="2200" b="0" i="0" u="none" strike="noStrike" cap="none" dirty="0">
                <a:solidFill>
                  <a:srgbClr val="04A2B9"/>
                </a:solidFill>
                <a:latin typeface="Proxima Nova"/>
                <a:ea typeface="Proxima Nova"/>
                <a:cs typeface="Proxima Nova"/>
                <a:sym typeface="Proxima Nova"/>
              </a:rPr>
              <a:t>Team ID: 8PRO_184</a:t>
            </a:r>
            <a:endParaRPr lang="en-US" sz="2200" b="0" i="0" u="none" strike="noStrike" cap="none" dirty="0">
              <a:solidFill>
                <a:srgbClr val="FF0000"/>
              </a:solidFill>
              <a:latin typeface="Proxima Nova"/>
              <a:ea typeface="Proxima Nova"/>
              <a:cs typeface="Proxima Nova"/>
              <a:sym typeface="Proxima Nova"/>
            </a:endParaRPr>
          </a:p>
        </p:txBody>
      </p:sp>
      <p:sp>
        <p:nvSpPr>
          <p:cNvPr id="90" name="Google Shape;90;p2"/>
          <p:cNvSpPr txBox="1"/>
          <p:nvPr/>
        </p:nvSpPr>
        <p:spPr>
          <a:xfrm>
            <a:off x="5338138" y="4979497"/>
            <a:ext cx="1272300" cy="4617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rgbClr val="595959"/>
                </a:solidFill>
                <a:latin typeface="Proxima Nova"/>
                <a:ea typeface="Proxima Nova"/>
                <a:cs typeface="Proxima Nova"/>
                <a:sym typeface="Proxima Nova"/>
              </a:rPr>
              <a:t>Guided By</a:t>
            </a:r>
            <a:endParaRPr dirty="0"/>
          </a:p>
        </p:txBody>
      </p:sp>
      <p:sp>
        <p:nvSpPr>
          <p:cNvPr id="91" name="Google Shape;91;p2"/>
          <p:cNvSpPr txBox="1"/>
          <p:nvPr/>
        </p:nvSpPr>
        <p:spPr>
          <a:xfrm>
            <a:off x="3118990" y="5290933"/>
            <a:ext cx="5742683" cy="46163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a:ea typeface="Proxima Nova"/>
                <a:cs typeface="Proxima Nova"/>
                <a:sym typeface="Proxima Nova"/>
              </a:rPr>
              <a:t>Internal Guide Name: </a:t>
            </a:r>
            <a:r>
              <a:rPr lang="en-US" sz="1800" dirty="0">
                <a:solidFill>
                  <a:schemeClr val="dk1"/>
                </a:solidFill>
                <a:latin typeface="Proxima Nova"/>
                <a:ea typeface="Proxima Nova"/>
                <a:cs typeface="Proxima Nova"/>
                <a:sym typeface="Proxima Nova"/>
              </a:rPr>
              <a:t>Rahul Jain</a:t>
            </a:r>
            <a:endParaRPr lang="en-US" sz="1800" b="0" i="0" u="none" strike="noStrike" cap="none" dirty="0">
              <a:solidFill>
                <a:schemeClr val="dk1"/>
              </a:solidFill>
              <a:latin typeface="Proxima Nova"/>
              <a:ea typeface="Proxima Nova"/>
              <a:cs typeface="Proxima Nova"/>
              <a:sym typeface="Proxima Nova"/>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endParaRPr dirty="0"/>
          </a:p>
        </p:txBody>
      </p:sp>
      <p:sp>
        <p:nvSpPr>
          <p:cNvPr id="93" name="Google Shape;93;p2"/>
          <p:cNvSpPr txBox="1"/>
          <p:nvPr/>
        </p:nvSpPr>
        <p:spPr>
          <a:xfrm>
            <a:off x="2722290" y="1253792"/>
            <a:ext cx="6504000" cy="1533753"/>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dirty="0">
                <a:solidFill>
                  <a:srgbClr val="04A2B9"/>
                </a:solidFill>
                <a:latin typeface="Proxima Nova"/>
                <a:ea typeface="Proxima Nova"/>
                <a:cs typeface="Proxima Nova"/>
                <a:sym typeface="Proxima Nova"/>
              </a:rPr>
              <a:t>Major Project-I (01CE0716)</a:t>
            </a:r>
            <a:endParaRPr sz="3200" b="1" dirty="0"/>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dirty="0">
                <a:solidFill>
                  <a:srgbClr val="04A2B9"/>
                </a:solidFill>
                <a:latin typeface="Proxima Nova"/>
                <a:ea typeface="Proxima Nova"/>
                <a:cs typeface="Proxima Nova"/>
                <a:sym typeface="Proxima Nova"/>
              </a:rPr>
              <a:t>Review 1 </a:t>
            </a:r>
            <a:br>
              <a:rPr lang="en-US" sz="2200" b="0" i="0" u="none" strike="noStrike" cap="none" dirty="0">
                <a:solidFill>
                  <a:srgbClr val="04A2B9"/>
                </a:solidFill>
                <a:latin typeface="Proxima Nova"/>
                <a:ea typeface="Proxima Nova"/>
                <a:cs typeface="Proxima Nova"/>
                <a:sym typeface="Proxima Nova"/>
              </a:rPr>
            </a:br>
            <a:r>
              <a:rPr lang="en-US" sz="2200" b="0" i="0" u="none" strike="noStrike" cap="none" dirty="0">
                <a:solidFill>
                  <a:schemeClr val="tx1"/>
                </a:solidFill>
                <a:latin typeface="Proxima Nova"/>
                <a:ea typeface="Proxima Nova"/>
                <a:cs typeface="Proxima Nova"/>
                <a:sym typeface="Proxima Nova"/>
              </a:rPr>
              <a:t>(08/11/</a:t>
            </a:r>
            <a:r>
              <a:rPr lang="en-US" sz="2200" dirty="0">
                <a:solidFill>
                  <a:schemeClr val="tx1"/>
                </a:solidFill>
                <a:latin typeface="Proxima Nova"/>
                <a:ea typeface="Proxima Nova"/>
                <a:cs typeface="Proxima Nova"/>
                <a:sym typeface="Proxima Nova"/>
              </a:rPr>
              <a:t>2025</a:t>
            </a:r>
            <a:r>
              <a:rPr lang="en-US" sz="2200" b="0" i="0" u="none" strike="noStrike" cap="none" dirty="0">
                <a:solidFill>
                  <a:schemeClr val="tx1"/>
                </a:solidFill>
                <a:latin typeface="Proxima Nova"/>
                <a:ea typeface="Proxima Nova"/>
                <a:cs typeface="Proxima Nova"/>
                <a:sym typeface="Proxima Nova"/>
              </a:rPr>
              <a:t>)</a:t>
            </a:r>
            <a:br>
              <a:rPr lang="en-US" sz="2200" b="0" i="0" u="none" strike="noStrike" cap="none" dirty="0">
                <a:solidFill>
                  <a:srgbClr val="04A2B9"/>
                </a:solidFill>
                <a:latin typeface="Proxima Nova"/>
                <a:ea typeface="Proxima Nova"/>
                <a:cs typeface="Proxima Nova"/>
                <a:sym typeface="Proxima Nova"/>
              </a:rPr>
            </a:br>
            <a:endParaRPr sz="2200" b="0" i="0" u="none" strike="noStrike" cap="none" dirty="0">
              <a:solidFill>
                <a:schemeClr val="dk1"/>
              </a:solidFill>
              <a:latin typeface="Proxima Nova"/>
              <a:ea typeface="Proxima Nova"/>
              <a:cs typeface="Proxima Nova"/>
              <a:sym typeface="Proxima Nova"/>
            </a:endParaRPr>
          </a:p>
        </p:txBody>
      </p:sp>
      <p:sp>
        <p:nvSpPr>
          <p:cNvPr id="94" name="Google Shape;94;p2"/>
          <p:cNvSpPr txBox="1"/>
          <p:nvPr/>
        </p:nvSpPr>
        <p:spPr>
          <a:xfrm>
            <a:off x="1825598" y="5723497"/>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dirty="0">
                <a:solidFill>
                  <a:srgbClr val="04A2B9"/>
                </a:solidFill>
                <a:latin typeface="Proxima Nova"/>
                <a:ea typeface="Proxima Nova"/>
                <a:cs typeface="Proxima Nova"/>
                <a:sym typeface="Proxima Nova"/>
              </a:rPr>
              <a:t>Department of Computer Engineering,</a:t>
            </a:r>
            <a:br>
              <a:rPr lang="en-US" sz="2400" b="0" i="0" u="none" strike="noStrike" cap="none" dirty="0">
                <a:solidFill>
                  <a:srgbClr val="04A2B9"/>
                </a:solidFill>
                <a:latin typeface="Proxima Nova"/>
                <a:ea typeface="Proxima Nova"/>
                <a:cs typeface="Proxima Nova"/>
                <a:sym typeface="Proxima Nova"/>
              </a:rPr>
            </a:br>
            <a:r>
              <a:rPr lang="en-US" sz="2400" b="0" i="0" u="none" strike="noStrike" cap="none" dirty="0">
                <a:solidFill>
                  <a:srgbClr val="04A2B9"/>
                </a:solidFill>
                <a:latin typeface="Proxima Nova"/>
                <a:ea typeface="Proxima Nova"/>
                <a:cs typeface="Proxima Nova"/>
                <a:sym typeface="Proxima Nova"/>
              </a:rPr>
              <a:t>Faculty of Engineering &amp; Technology</a:t>
            </a:r>
            <a:r>
              <a:rPr lang="en-US" sz="3600" b="0" i="0" u="none" strike="noStrike" cap="none" dirty="0">
                <a:solidFill>
                  <a:srgbClr val="04A2B9"/>
                </a:solidFill>
                <a:latin typeface="Proxima Nova"/>
                <a:ea typeface="Proxima Nova"/>
                <a:cs typeface="Proxima Nova"/>
                <a:sym typeface="Proxima Nova"/>
              </a:rPr>
              <a:t> </a:t>
            </a:r>
            <a:endParaRPr sz="3600" b="0" i="0" u="none" strike="noStrike" cap="none" dirty="0">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Outline</a:t>
            </a:r>
            <a:endParaRPr sz="2400" b="1" dirty="0">
              <a:latin typeface="Proxima Nova"/>
              <a:ea typeface="Proxima Nova"/>
              <a:cs typeface="Proxima Nova"/>
              <a:sym typeface="Proxima Nova"/>
            </a:endParaRPr>
          </a:p>
        </p:txBody>
      </p:sp>
      <p:sp>
        <p:nvSpPr>
          <p:cNvPr id="100" name="Google Shape;100;p3"/>
          <p:cNvSpPr txBox="1"/>
          <p:nvPr/>
        </p:nvSpPr>
        <p:spPr>
          <a:xfrm>
            <a:off x="534259" y="1290582"/>
            <a:ext cx="8591100" cy="3877954"/>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Font typeface="Arial" panose="020B0604020202020204" pitchFamily="34" charset="0"/>
              <a:buChar char="•"/>
            </a:pPr>
            <a:r>
              <a:rPr lang="en-US" sz="3200" dirty="0">
                <a:latin typeface="Proxima Nova" panose="020B0604020202020204" charset="0"/>
              </a:rPr>
              <a:t>Abstract </a:t>
            </a:r>
          </a:p>
          <a:p>
            <a:pPr marL="285750" marR="0" lvl="0" indent="-285750" algn="l" rtl="0">
              <a:spcBef>
                <a:spcPts val="0"/>
              </a:spcBef>
              <a:spcAft>
                <a:spcPts val="0"/>
              </a:spcAft>
              <a:buFont typeface="Arial" panose="020B0604020202020204" pitchFamily="34" charset="0"/>
              <a:buChar char="•"/>
            </a:pPr>
            <a:r>
              <a:rPr lang="en-US" sz="3200" dirty="0">
                <a:latin typeface="Proxima Nova" panose="020B0604020202020204" charset="0"/>
              </a:rPr>
              <a:t>Introduction </a:t>
            </a:r>
          </a:p>
          <a:p>
            <a:pPr marL="285750" marR="0" lvl="0" indent="-285750" algn="l" rtl="0">
              <a:spcBef>
                <a:spcPts val="0"/>
              </a:spcBef>
              <a:spcAft>
                <a:spcPts val="0"/>
              </a:spcAft>
              <a:buFont typeface="Arial" panose="020B0604020202020204" pitchFamily="34" charset="0"/>
              <a:buChar char="•"/>
            </a:pPr>
            <a:r>
              <a:rPr lang="en-US" sz="3200" dirty="0">
                <a:solidFill>
                  <a:schemeClr val="tx1"/>
                </a:solidFill>
                <a:latin typeface="Proxima Nova" panose="020B0604020202020204" charset="0"/>
                <a:cs typeface="Times New Roman" panose="02020603050405020304" pitchFamily="18" charset="0"/>
              </a:rPr>
              <a:t>Literature Review </a:t>
            </a:r>
            <a:endParaRPr lang="en-IN" sz="3200" dirty="0">
              <a:solidFill>
                <a:schemeClr val="tx1"/>
              </a:solidFill>
              <a:latin typeface="Proxima Nova" panose="020B0604020202020204" charset="0"/>
              <a:cs typeface="Times New Roman" panose="02020603050405020304" pitchFamily="18" charset="0"/>
            </a:endParaRPr>
          </a:p>
          <a:p>
            <a:pPr marL="285750" indent="-285750">
              <a:buFont typeface="Arial" panose="020B0604020202020204" pitchFamily="34" charset="0"/>
              <a:buChar char="•"/>
            </a:pPr>
            <a:r>
              <a:rPr lang="en-US" sz="3200" dirty="0">
                <a:solidFill>
                  <a:schemeClr val="dk1"/>
                </a:solidFill>
                <a:latin typeface="Proxima Nova"/>
                <a:sym typeface="Proxima Nova"/>
              </a:rPr>
              <a:t>Tools &amp; Technology</a:t>
            </a:r>
          </a:p>
          <a:p>
            <a:pPr marL="285750" indent="-285750">
              <a:buFont typeface="Arial" panose="020B0604020202020204" pitchFamily="34" charset="0"/>
              <a:buChar char="•"/>
            </a:pPr>
            <a:r>
              <a:rPr lang="en-US" sz="3200" dirty="0">
                <a:solidFill>
                  <a:schemeClr val="dk1"/>
                </a:solidFill>
                <a:latin typeface="Proxima Nova"/>
                <a:ea typeface="Proxima Nova"/>
                <a:cs typeface="Proxima Nova"/>
                <a:sym typeface="Proxima Nova"/>
              </a:rPr>
              <a:t>Methodology</a:t>
            </a:r>
          </a:p>
          <a:p>
            <a:pPr marL="285750" indent="-285750">
              <a:buFont typeface="Arial" panose="020B0604020202020204" pitchFamily="34" charset="0"/>
              <a:buChar char="•"/>
            </a:pPr>
            <a:r>
              <a:rPr lang="en-US" sz="3200" dirty="0">
                <a:solidFill>
                  <a:schemeClr val="dk1"/>
                </a:solidFill>
                <a:latin typeface="Proxima Nova"/>
                <a:ea typeface="Proxima Nova"/>
                <a:cs typeface="Proxima Nova"/>
                <a:sym typeface="Proxima Nova"/>
              </a:rPr>
              <a:t>Conclusion</a:t>
            </a:r>
            <a:endParaRPr lang="en-US" sz="3200" dirty="0">
              <a:latin typeface="Proxima Nova" panose="020B0604020202020204" charset="0"/>
            </a:endParaRPr>
          </a:p>
          <a:p>
            <a:pPr marR="0" lvl="0" algn="l" rtl="0">
              <a:spcBef>
                <a:spcPts val="0"/>
              </a:spcBef>
              <a:spcAft>
                <a:spcPts val="0"/>
              </a:spcAft>
            </a:pPr>
            <a:r>
              <a:rPr lang="en-US" sz="3200" dirty="0">
                <a:latin typeface="Proxima Nova" panose="020B0604020202020204" charset="0"/>
              </a:rPr>
              <a:t> </a:t>
            </a:r>
            <a:endParaRPr sz="3200" dirty="0">
              <a:latin typeface="Proxima Nova" panose="020B0604020202020204" charset="0"/>
            </a:endParaRPr>
          </a:p>
          <a:p>
            <a:pPr marL="285750" marR="0" lvl="0" indent="-285750" algn="l" rtl="0">
              <a:spcBef>
                <a:spcPts val="0"/>
              </a:spcBef>
              <a:spcAft>
                <a:spcPts val="0"/>
              </a:spcAft>
              <a:buClr>
                <a:srgbClr val="000000"/>
              </a:buClr>
              <a:buSzPts val="1700"/>
              <a:buFont typeface="Arial" panose="020B0604020202020204" pitchFamily="34" charset="0"/>
              <a:buChar char="•"/>
            </a:pPr>
            <a:endParaRPr lang="en-US" sz="1600" dirty="0">
              <a:latin typeface="Proxima Nova"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a:extLst>
            <a:ext uri="{FF2B5EF4-FFF2-40B4-BE49-F238E27FC236}">
              <a16:creationId xmlns:a16="http://schemas.microsoft.com/office/drawing/2014/main" id="{11A1FEC8-861B-ECFE-7233-A8CCFD86BEF6}"/>
            </a:ext>
          </a:extLst>
        </p:cNvPr>
        <p:cNvGrpSpPr/>
        <p:nvPr/>
      </p:nvGrpSpPr>
      <p:grpSpPr>
        <a:xfrm>
          <a:off x="0" y="0"/>
          <a:ext cx="0" cy="0"/>
          <a:chOff x="0" y="0"/>
          <a:chExt cx="0" cy="0"/>
        </a:xfrm>
      </p:grpSpPr>
      <p:sp>
        <p:nvSpPr>
          <p:cNvPr id="99" name="Google Shape;99;p3">
            <a:extLst>
              <a:ext uri="{FF2B5EF4-FFF2-40B4-BE49-F238E27FC236}">
                <a16:creationId xmlns:a16="http://schemas.microsoft.com/office/drawing/2014/main" id="{0C066620-76B2-4DA5-BF98-B320ABEB698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Abstract </a:t>
            </a:r>
            <a:endParaRPr sz="2400" b="1" dirty="0">
              <a:latin typeface="Proxima Nova"/>
              <a:ea typeface="Proxima Nova"/>
              <a:cs typeface="Proxima Nova"/>
              <a:sym typeface="Proxima Nova"/>
            </a:endParaRPr>
          </a:p>
        </p:txBody>
      </p:sp>
      <p:sp>
        <p:nvSpPr>
          <p:cNvPr id="5" name="TextBox 4">
            <a:extLst>
              <a:ext uri="{FF2B5EF4-FFF2-40B4-BE49-F238E27FC236}">
                <a16:creationId xmlns:a16="http://schemas.microsoft.com/office/drawing/2014/main" id="{9809BEB5-A805-2CE4-CE28-D252BF98C2BF}"/>
              </a:ext>
            </a:extLst>
          </p:cNvPr>
          <p:cNvSpPr txBox="1"/>
          <p:nvPr/>
        </p:nvSpPr>
        <p:spPr>
          <a:xfrm>
            <a:off x="534259" y="1188929"/>
            <a:ext cx="10763006" cy="4207690"/>
          </a:xfrm>
          <a:prstGeom prst="rect">
            <a:avLst/>
          </a:prstGeom>
          <a:noFill/>
        </p:spPr>
        <p:txBody>
          <a:bodyPr wrap="square" lIns="91440" tIns="45720" rIns="91440" bIns="45720" anchor="t">
            <a:spAutoFit/>
          </a:bodyPr>
          <a:lstStyle/>
          <a:p>
            <a:pPr marL="342900" indent="-342900" algn="just">
              <a:lnSpc>
                <a:spcPct val="150000"/>
              </a:lnSpc>
              <a:buFont typeface="Arial" panose="020B0604020202020204" pitchFamily="34" charset="0"/>
              <a:buChar char="•"/>
            </a:pPr>
            <a:r>
              <a:rPr lang="en-US" sz="1800" dirty="0"/>
              <a:t>This project proposes a hybrid deep learning and reinforcement learning framework for intelligent portfolio optimization in dynamic financial markets. The LSTM–GRU hybrid model is employed for accurate forecasting of stock price movements and volatility patterns by learning temporal dependencies from historical financial data. The predicted insights are then utilized by a Deep Q-Learning (DQL) agent to optimize asset allocation strategies in a simulated trading environment. The agent continuously learns reward-maximizing policies by balancing expected returns with risk exposure, leading to adaptive and data-driven portfolio management. This synergistic integration of sequential modeling and reinforcement-based decision optimization enables robust, self-learning financial systems capable of outperforming static investment strategies in uncertain market conditions.</a:t>
            </a:r>
            <a:endParaRPr lang="en-US" sz="1800" dirty="0">
              <a:latin typeface="Proxima Nova"/>
              <a:cs typeface="Times New Roman"/>
            </a:endParaRPr>
          </a:p>
        </p:txBody>
      </p:sp>
    </p:spTree>
    <p:extLst>
      <p:ext uri="{BB962C8B-B14F-4D97-AF65-F5344CB8AC3E}">
        <p14:creationId xmlns:p14="http://schemas.microsoft.com/office/powerpoint/2010/main" val="827406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Introduction</a:t>
            </a:r>
            <a:endParaRPr sz="2400" b="1" dirty="0">
              <a:latin typeface="Proxima Nova"/>
              <a:ea typeface="Proxima Nova"/>
              <a:cs typeface="Proxima Nova"/>
              <a:sym typeface="Proxima Nova"/>
            </a:endParaRPr>
          </a:p>
        </p:txBody>
      </p:sp>
      <p:sp>
        <p:nvSpPr>
          <p:cNvPr id="106" name="Google Shape;106;p4"/>
          <p:cNvSpPr txBox="1"/>
          <p:nvPr/>
        </p:nvSpPr>
        <p:spPr>
          <a:xfrm>
            <a:off x="351145" y="855131"/>
            <a:ext cx="11103435" cy="6278612"/>
          </a:xfrm>
          <a:prstGeom prst="rect">
            <a:avLst/>
          </a:prstGeom>
          <a:noFill/>
          <a:ln>
            <a:noFill/>
          </a:ln>
        </p:spPr>
        <p:txBody>
          <a:bodyPr spcFirstLastPara="1" wrap="square" lIns="91425" tIns="91425" rIns="91425" bIns="91425" anchor="t" anchorCtr="0">
            <a:spAutoFit/>
          </a:bodyPr>
          <a:lstStyle/>
          <a:p>
            <a:pPr algn="just">
              <a:lnSpc>
                <a:spcPct val="200000"/>
              </a:lnSpc>
              <a:buFont typeface="Arial" panose="020B0604020202020204" pitchFamily="34" charset="0"/>
              <a:buChar char="•"/>
            </a:pPr>
            <a:r>
              <a:rPr lang="en-US" sz="1800" dirty="0">
                <a:ea typeface="Calibri"/>
              </a:rPr>
              <a:t>In today’s world, the stock market changes very quickly and is hard to predict.</a:t>
            </a:r>
            <a:endParaRPr lang="en-US" sz="1800" dirty="0">
              <a:latin typeface="Times New Roman"/>
              <a:ea typeface="Calibri"/>
              <a:cs typeface="Times New Roman"/>
            </a:endParaRPr>
          </a:p>
          <a:p>
            <a:pPr algn="just">
              <a:lnSpc>
                <a:spcPct val="200000"/>
              </a:lnSpc>
              <a:buFont typeface="Arial" panose="020B0604020202020204" pitchFamily="34" charset="0"/>
              <a:buChar char="•"/>
            </a:pPr>
            <a:r>
              <a:rPr lang="en-US" sz="1800" dirty="0">
                <a:ea typeface="Calibri"/>
              </a:rPr>
              <a:t>Traditional investment methods do not adapt well to these market changes.</a:t>
            </a:r>
            <a:endParaRPr lang="en-US" dirty="0"/>
          </a:p>
          <a:p>
            <a:pPr algn="just">
              <a:lnSpc>
                <a:spcPct val="200000"/>
              </a:lnSpc>
              <a:buFont typeface="Arial" panose="020B0604020202020204" pitchFamily="34" charset="0"/>
              <a:buChar char="•"/>
            </a:pPr>
            <a:r>
              <a:rPr lang="en-US" sz="1800" dirty="0">
                <a:ea typeface="Calibri"/>
              </a:rPr>
              <a:t>Our project focuses on creating a smart, data-driven system that can make better investment decisions automatically.</a:t>
            </a:r>
            <a:endParaRPr lang="en-US" dirty="0"/>
          </a:p>
          <a:p>
            <a:pPr algn="just">
              <a:lnSpc>
                <a:spcPct val="200000"/>
              </a:lnSpc>
              <a:buFont typeface="Arial" panose="020B0604020202020204" pitchFamily="34" charset="0"/>
              <a:buChar char="•"/>
            </a:pPr>
            <a:r>
              <a:rPr lang="en-US" sz="1800" dirty="0">
                <a:ea typeface="Calibri"/>
              </a:rPr>
              <a:t>We use LSTM and GRU models to study past stock data and predict future prices and trends.</a:t>
            </a:r>
            <a:endParaRPr lang="en-US" dirty="0"/>
          </a:p>
          <a:p>
            <a:pPr algn="just">
              <a:lnSpc>
                <a:spcPct val="200000"/>
              </a:lnSpc>
              <a:buFont typeface="Arial" panose="020B0604020202020204" pitchFamily="34" charset="0"/>
              <a:buChar char="•"/>
            </a:pPr>
            <a:r>
              <a:rPr lang="en-US" sz="1800" dirty="0">
                <a:ea typeface="Calibri"/>
              </a:rPr>
              <a:t>Then, a Deep Q-Learning agent uses these predictions to decide how much to invest in each stock.</a:t>
            </a:r>
            <a:endParaRPr lang="en-US" dirty="0"/>
          </a:p>
          <a:p>
            <a:pPr algn="just">
              <a:lnSpc>
                <a:spcPct val="200000"/>
              </a:lnSpc>
              <a:buFont typeface="Arial" panose="020B0604020202020204" pitchFamily="34" charset="0"/>
              <a:buChar char="•"/>
            </a:pPr>
            <a:r>
              <a:rPr lang="en-US" sz="1800" dirty="0">
                <a:ea typeface="Calibri"/>
              </a:rPr>
              <a:t>The system keeps learning from past results, improving its decisions over time.</a:t>
            </a:r>
            <a:endParaRPr lang="en-US" dirty="0"/>
          </a:p>
          <a:p>
            <a:pPr algn="just">
              <a:lnSpc>
                <a:spcPct val="200000"/>
              </a:lnSpc>
              <a:buFont typeface="Arial" panose="020B0604020202020204" pitchFamily="34" charset="0"/>
              <a:buChar char="•"/>
            </a:pPr>
            <a:r>
              <a:rPr lang="en-US" sz="1800" dirty="0">
                <a:ea typeface="Calibri"/>
              </a:rPr>
              <a:t>This helps investors get higher returns with lower risk compared to fixed or manual strategies.</a:t>
            </a:r>
            <a:endParaRPr lang="en-US" dirty="0"/>
          </a:p>
          <a:p>
            <a:pPr algn="just">
              <a:lnSpc>
                <a:spcPct val="200000"/>
              </a:lnSpc>
              <a:buFont typeface="Arial" panose="020B0604020202020204" pitchFamily="34" charset="0"/>
              <a:buChar char="•"/>
            </a:pPr>
            <a:r>
              <a:rPr lang="en-US" sz="1800" dirty="0">
                <a:ea typeface="Calibri"/>
              </a:rPr>
              <a:t>In short, our project combines deep learning and reinforcement learning to build an intelligent portfolio optimization model.</a:t>
            </a:r>
            <a:endParaRPr lang="en-US" dirty="0"/>
          </a:p>
          <a:p>
            <a:pPr algn="just">
              <a:lnSpc>
                <a:spcPct val="200000"/>
              </a:lnSpc>
              <a:buFont typeface="Arial" panose="020B0604020202020204" pitchFamily="34" charset="0"/>
              <a:buChar char="•"/>
            </a:pPr>
            <a:endParaRPr lang="en-US" sz="1800" dirty="0">
              <a:ea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Literature Review</a:t>
            </a:r>
            <a:endParaRPr lang="en-US" sz="2400" b="1" dirty="0">
              <a:latin typeface="Proxima Nova"/>
              <a:ea typeface="Proxima Nova"/>
              <a:cs typeface="Proxima Nova"/>
              <a:sym typeface="Proxima Nova"/>
            </a:endParaRPr>
          </a:p>
        </p:txBody>
      </p:sp>
      <p:graphicFrame>
        <p:nvGraphicFramePr>
          <p:cNvPr id="4" name="Table 3">
            <a:extLst>
              <a:ext uri="{FF2B5EF4-FFF2-40B4-BE49-F238E27FC236}">
                <a16:creationId xmlns:a16="http://schemas.microsoft.com/office/drawing/2014/main" id="{44674E08-86ED-37D4-93BE-AFD170BEC43B}"/>
              </a:ext>
            </a:extLst>
          </p:cNvPr>
          <p:cNvGraphicFramePr>
            <a:graphicFrameLocks noGrp="1"/>
          </p:cNvGraphicFramePr>
          <p:nvPr>
            <p:extLst>
              <p:ext uri="{D42A27DB-BD31-4B8C-83A1-F6EECF244321}">
                <p14:modId xmlns:p14="http://schemas.microsoft.com/office/powerpoint/2010/main" val="3472094890"/>
              </p:ext>
            </p:extLst>
          </p:nvPr>
        </p:nvGraphicFramePr>
        <p:xfrm>
          <a:off x="304799" y="1187116"/>
          <a:ext cx="11197388" cy="5361322"/>
        </p:xfrm>
        <a:graphic>
          <a:graphicData uri="http://schemas.openxmlformats.org/drawingml/2006/table">
            <a:tbl>
              <a:tblPr/>
              <a:tblGrid>
                <a:gridCol w="1437405">
                  <a:extLst>
                    <a:ext uri="{9D8B030D-6E8A-4147-A177-3AD203B41FA5}">
                      <a16:colId xmlns:a16="http://schemas.microsoft.com/office/drawing/2014/main" val="4274672826"/>
                    </a:ext>
                  </a:extLst>
                </a:gridCol>
                <a:gridCol w="804947">
                  <a:extLst>
                    <a:ext uri="{9D8B030D-6E8A-4147-A177-3AD203B41FA5}">
                      <a16:colId xmlns:a16="http://schemas.microsoft.com/office/drawing/2014/main" val="1585916658"/>
                    </a:ext>
                  </a:extLst>
                </a:gridCol>
                <a:gridCol w="1164298">
                  <a:extLst>
                    <a:ext uri="{9D8B030D-6E8A-4147-A177-3AD203B41FA5}">
                      <a16:colId xmlns:a16="http://schemas.microsoft.com/office/drawing/2014/main" val="1238621380"/>
                    </a:ext>
                  </a:extLst>
                </a:gridCol>
                <a:gridCol w="2170482">
                  <a:extLst>
                    <a:ext uri="{9D8B030D-6E8A-4147-A177-3AD203B41FA5}">
                      <a16:colId xmlns:a16="http://schemas.microsoft.com/office/drawing/2014/main" val="3637623084"/>
                    </a:ext>
                  </a:extLst>
                </a:gridCol>
                <a:gridCol w="1250543">
                  <a:extLst>
                    <a:ext uri="{9D8B030D-6E8A-4147-A177-3AD203B41FA5}">
                      <a16:colId xmlns:a16="http://schemas.microsoft.com/office/drawing/2014/main" val="1009279044"/>
                    </a:ext>
                  </a:extLst>
                </a:gridCol>
                <a:gridCol w="1566772">
                  <a:extLst>
                    <a:ext uri="{9D8B030D-6E8A-4147-A177-3AD203B41FA5}">
                      <a16:colId xmlns:a16="http://schemas.microsoft.com/office/drawing/2014/main" val="3988606026"/>
                    </a:ext>
                  </a:extLst>
                </a:gridCol>
                <a:gridCol w="1264917">
                  <a:extLst>
                    <a:ext uri="{9D8B030D-6E8A-4147-A177-3AD203B41FA5}">
                      <a16:colId xmlns:a16="http://schemas.microsoft.com/office/drawing/2014/main" val="4115962568"/>
                    </a:ext>
                  </a:extLst>
                </a:gridCol>
                <a:gridCol w="1538024">
                  <a:extLst>
                    <a:ext uri="{9D8B030D-6E8A-4147-A177-3AD203B41FA5}">
                      <a16:colId xmlns:a16="http://schemas.microsoft.com/office/drawing/2014/main" val="2184890553"/>
                    </a:ext>
                  </a:extLst>
                </a:gridCol>
              </a:tblGrid>
              <a:tr h="303071">
                <a:tc>
                  <a:txBody>
                    <a:bodyPr/>
                    <a:lstStyle/>
                    <a:p>
                      <a:pPr algn="ctr" fontAlgn="ctr">
                        <a:buNone/>
                      </a:pPr>
                      <a:r>
                        <a:rPr lang="en-IN" sz="1100" b="0" i="0" u="none" strike="noStrike">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234412167"/>
                  </a:ext>
                </a:extLst>
              </a:tr>
              <a:tr h="1212283">
                <a:tc>
                  <a:txBody>
                    <a:bodyPr/>
                    <a:lstStyle/>
                    <a:p>
                      <a:pPr algn="ctr" fontAlgn="ctr">
                        <a:buNone/>
                      </a:pPr>
                      <a:r>
                        <a:rPr lang="en-IN" sz="1100" b="0" i="0" u="none" strike="noStrike">
                          <a:solidFill>
                            <a:srgbClr val="000000"/>
                          </a:solidFill>
                          <a:effectLst/>
                          <a:latin typeface="Aptos Narrow" panose="020B0004020202020204" pitchFamily="34" charset="0"/>
                        </a:rPr>
                        <a:t>Yashaswi Kumar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 Stock Market (S&amp;P 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Deep Reinforcement Learning for Portfolio Optimization using Latent Feature State Space Module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Uses latent feature extraction before DRL; improves stability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Limited asset diversity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DQN (Deep Q-Learning)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82487895"/>
                  </a:ext>
                </a:extLst>
              </a:tr>
              <a:tr h="909212">
                <a:tc>
                  <a:txBody>
                    <a:bodyPr/>
                    <a:lstStyle/>
                    <a:p>
                      <a:pPr algn="ctr" fontAlgn="ctr">
                        <a:buNone/>
                      </a:pPr>
                      <a:r>
                        <a:rPr lang="en-IN" sz="1100" b="0" i="0" u="none" strike="noStrike">
                          <a:solidFill>
                            <a:srgbClr val="000000"/>
                          </a:solidFill>
                          <a:effectLst/>
                          <a:latin typeface="Aptos Narrow" panose="020B0004020202020204" pitchFamily="34" charset="0"/>
                        </a:rPr>
                        <a:t>Jaydip Sen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NSE &amp; NASDAQ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Stock Portfolio Optimization Using a Deep Learning LSTM Model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MAE  0.021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Accurate stock price prediction using LSTM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Does not include RL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LSTM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709200523"/>
                  </a:ext>
                </a:extLst>
              </a:tr>
              <a:tr h="909212">
                <a:tc>
                  <a:txBody>
                    <a:bodyPr/>
                    <a:lstStyle/>
                    <a:p>
                      <a:pPr algn="ctr" fontAlgn="ctr">
                        <a:buNone/>
                      </a:pPr>
                      <a:r>
                        <a:rPr lang="en-IN" sz="1100" b="0" i="0" u="none" strike="noStrike">
                          <a:solidFill>
                            <a:srgbClr val="000000"/>
                          </a:solidFill>
                          <a:effectLst/>
                          <a:latin typeface="Aptos Narrow" panose="020B0004020202020204" pitchFamily="34" charset="0"/>
                        </a:rPr>
                        <a:t>Jungyu Ahn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Korean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Reinforcement Learning Portfolio Manager Framework with Monte Carlo Simulation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ROI  +8.5%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Introduces Monte Carlo data augmentation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computational cost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Actor-Critic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072126677"/>
                  </a:ext>
                </a:extLst>
              </a:tr>
              <a:tr h="1212283">
                <a:tc>
                  <a:txBody>
                    <a:bodyPr/>
                    <a:lstStyle/>
                    <a:p>
                      <a:pPr algn="ctr" fontAlgn="ctr">
                        <a:buNone/>
                      </a:pPr>
                      <a:r>
                        <a:rPr lang="en-IN" sz="1100" b="0" i="0" u="none" strike="noStrike">
                          <a:solidFill>
                            <a:srgbClr val="000000"/>
                          </a:solidFill>
                          <a:effectLst/>
                          <a:latin typeface="Aptos Narrow" panose="020B0004020202020204" pitchFamily="34" charset="0"/>
                        </a:rPr>
                        <a:t>Hui Niu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 Equities (Yahoo Finance)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MetaTrader: A Reinforcement Learning Approach Integrating Diverse Policies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Combines multiple expert RL policies adaptively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Requires heavy tuning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PPO + Meta-Policy Network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682109528"/>
                  </a:ext>
                </a:extLst>
              </a:tr>
              <a:tr h="815261">
                <a:tc>
                  <a:txBody>
                    <a:bodyPr/>
                    <a:lstStyle/>
                    <a:p>
                      <a:pPr algn="ctr" fontAlgn="ctr">
                        <a:buNone/>
                      </a:pPr>
                      <a:r>
                        <a:rPr lang="en-IN" sz="1100" b="0" i="0" u="none" strike="noStrike">
                          <a:solidFill>
                            <a:srgbClr val="000000"/>
                          </a:solidFill>
                          <a:effectLst/>
                          <a:latin typeface="Aptos Narrow" panose="020B0004020202020204" pitchFamily="34" charset="0"/>
                        </a:rPr>
                        <a:t>Ruyu Yan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Chinese A-share stocks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Reinforcement Learning for Deep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deep learning + RL with risk cost reward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sensitivity to hyperparameters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DDPG + CNN feature extractor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082235394"/>
                  </a:ext>
                </a:extLst>
              </a:tr>
            </a:tbl>
          </a:graphicData>
        </a:graphic>
      </p:graphicFrame>
    </p:spTree>
    <p:extLst>
      <p:ext uri="{BB962C8B-B14F-4D97-AF65-F5344CB8AC3E}">
        <p14:creationId xmlns:p14="http://schemas.microsoft.com/office/powerpoint/2010/main" val="3387258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2357AFD2-577A-5D2D-AC7E-84C64CA32A1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8831A2-8348-A791-5BAD-655CFBC744A4}"/>
              </a:ext>
            </a:extLst>
          </p:cNvPr>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Literature Review</a:t>
            </a:r>
            <a:endParaRPr sz="2400" b="1" dirty="0">
              <a:latin typeface="Proxima Nova"/>
              <a:ea typeface="Proxima Nova"/>
              <a:cs typeface="Proxima Nova"/>
              <a:sym typeface="Proxima Nova"/>
            </a:endParaRPr>
          </a:p>
        </p:txBody>
      </p:sp>
      <p:graphicFrame>
        <p:nvGraphicFramePr>
          <p:cNvPr id="6" name="Table 5">
            <a:extLst>
              <a:ext uri="{FF2B5EF4-FFF2-40B4-BE49-F238E27FC236}">
                <a16:creationId xmlns:a16="http://schemas.microsoft.com/office/drawing/2014/main" id="{74CFDC0F-A93F-71B9-DB7D-B4941FF72AB0}"/>
              </a:ext>
            </a:extLst>
          </p:cNvPr>
          <p:cNvGraphicFramePr>
            <a:graphicFrameLocks noGrp="1"/>
          </p:cNvGraphicFramePr>
          <p:nvPr>
            <p:extLst>
              <p:ext uri="{D42A27DB-BD31-4B8C-83A1-F6EECF244321}">
                <p14:modId xmlns:p14="http://schemas.microsoft.com/office/powerpoint/2010/main" val="3490960102"/>
              </p:ext>
            </p:extLst>
          </p:nvPr>
        </p:nvGraphicFramePr>
        <p:xfrm>
          <a:off x="534259" y="955144"/>
          <a:ext cx="10935846" cy="382156"/>
        </p:xfrm>
        <a:graphic>
          <a:graphicData uri="http://schemas.openxmlformats.org/drawingml/2006/table">
            <a:tbl>
              <a:tblPr/>
              <a:tblGrid>
                <a:gridCol w="1403831">
                  <a:extLst>
                    <a:ext uri="{9D8B030D-6E8A-4147-A177-3AD203B41FA5}">
                      <a16:colId xmlns:a16="http://schemas.microsoft.com/office/drawing/2014/main" val="2110112195"/>
                    </a:ext>
                  </a:extLst>
                </a:gridCol>
                <a:gridCol w="786146">
                  <a:extLst>
                    <a:ext uri="{9D8B030D-6E8A-4147-A177-3AD203B41FA5}">
                      <a16:colId xmlns:a16="http://schemas.microsoft.com/office/drawing/2014/main" val="1797418888"/>
                    </a:ext>
                  </a:extLst>
                </a:gridCol>
                <a:gridCol w="1137103">
                  <a:extLst>
                    <a:ext uri="{9D8B030D-6E8A-4147-A177-3AD203B41FA5}">
                      <a16:colId xmlns:a16="http://schemas.microsoft.com/office/drawing/2014/main" val="4043699253"/>
                    </a:ext>
                  </a:extLst>
                </a:gridCol>
                <a:gridCol w="2119785">
                  <a:extLst>
                    <a:ext uri="{9D8B030D-6E8A-4147-A177-3AD203B41FA5}">
                      <a16:colId xmlns:a16="http://schemas.microsoft.com/office/drawing/2014/main" val="3226050531"/>
                    </a:ext>
                  </a:extLst>
                </a:gridCol>
                <a:gridCol w="1221333">
                  <a:extLst>
                    <a:ext uri="{9D8B030D-6E8A-4147-A177-3AD203B41FA5}">
                      <a16:colId xmlns:a16="http://schemas.microsoft.com/office/drawing/2014/main" val="3785835067"/>
                    </a:ext>
                  </a:extLst>
                </a:gridCol>
                <a:gridCol w="1530176">
                  <a:extLst>
                    <a:ext uri="{9D8B030D-6E8A-4147-A177-3AD203B41FA5}">
                      <a16:colId xmlns:a16="http://schemas.microsoft.com/office/drawing/2014/main" val="3716550024"/>
                    </a:ext>
                  </a:extLst>
                </a:gridCol>
                <a:gridCol w="1235372">
                  <a:extLst>
                    <a:ext uri="{9D8B030D-6E8A-4147-A177-3AD203B41FA5}">
                      <a16:colId xmlns:a16="http://schemas.microsoft.com/office/drawing/2014/main" val="3409063683"/>
                    </a:ext>
                  </a:extLst>
                </a:gridCol>
                <a:gridCol w="1502100">
                  <a:extLst>
                    <a:ext uri="{9D8B030D-6E8A-4147-A177-3AD203B41FA5}">
                      <a16:colId xmlns:a16="http://schemas.microsoft.com/office/drawing/2014/main" val="1624008034"/>
                    </a:ext>
                  </a:extLst>
                </a:gridCol>
              </a:tblGrid>
              <a:tr h="382156">
                <a:tc>
                  <a:txBody>
                    <a:bodyPr/>
                    <a:lstStyle/>
                    <a:p>
                      <a:pPr algn="ctr" fontAlgn="ctr">
                        <a:buNone/>
                      </a:pPr>
                      <a:r>
                        <a:rPr lang="en-IN" sz="1100" b="0" i="0" u="none" strike="noStrike" dirty="0">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1371595426"/>
                  </a:ext>
                </a:extLst>
              </a:tr>
            </a:tbl>
          </a:graphicData>
        </a:graphic>
      </p:graphicFrame>
      <p:graphicFrame>
        <p:nvGraphicFramePr>
          <p:cNvPr id="8" name="Table 7">
            <a:extLst>
              <a:ext uri="{FF2B5EF4-FFF2-40B4-BE49-F238E27FC236}">
                <a16:creationId xmlns:a16="http://schemas.microsoft.com/office/drawing/2014/main" id="{93FA22F5-EFA8-FAEF-EDB7-2EE873BBDCB4}"/>
              </a:ext>
            </a:extLst>
          </p:cNvPr>
          <p:cNvGraphicFramePr>
            <a:graphicFrameLocks noGrp="1"/>
          </p:cNvGraphicFramePr>
          <p:nvPr>
            <p:extLst>
              <p:ext uri="{D42A27DB-BD31-4B8C-83A1-F6EECF244321}">
                <p14:modId xmlns:p14="http://schemas.microsoft.com/office/powerpoint/2010/main" val="3111041862"/>
              </p:ext>
            </p:extLst>
          </p:nvPr>
        </p:nvGraphicFramePr>
        <p:xfrm>
          <a:off x="534259" y="1337300"/>
          <a:ext cx="10935845" cy="5211138"/>
        </p:xfrm>
        <a:graphic>
          <a:graphicData uri="http://schemas.openxmlformats.org/drawingml/2006/table">
            <a:tbl>
              <a:tblPr/>
              <a:tblGrid>
                <a:gridCol w="1403831">
                  <a:extLst>
                    <a:ext uri="{9D8B030D-6E8A-4147-A177-3AD203B41FA5}">
                      <a16:colId xmlns:a16="http://schemas.microsoft.com/office/drawing/2014/main" val="1450266550"/>
                    </a:ext>
                  </a:extLst>
                </a:gridCol>
                <a:gridCol w="786145">
                  <a:extLst>
                    <a:ext uri="{9D8B030D-6E8A-4147-A177-3AD203B41FA5}">
                      <a16:colId xmlns:a16="http://schemas.microsoft.com/office/drawing/2014/main" val="3202688957"/>
                    </a:ext>
                  </a:extLst>
                </a:gridCol>
                <a:gridCol w="1137103">
                  <a:extLst>
                    <a:ext uri="{9D8B030D-6E8A-4147-A177-3AD203B41FA5}">
                      <a16:colId xmlns:a16="http://schemas.microsoft.com/office/drawing/2014/main" val="61918367"/>
                    </a:ext>
                  </a:extLst>
                </a:gridCol>
                <a:gridCol w="2119786">
                  <a:extLst>
                    <a:ext uri="{9D8B030D-6E8A-4147-A177-3AD203B41FA5}">
                      <a16:colId xmlns:a16="http://schemas.microsoft.com/office/drawing/2014/main" val="511991332"/>
                    </a:ext>
                  </a:extLst>
                </a:gridCol>
                <a:gridCol w="1221334">
                  <a:extLst>
                    <a:ext uri="{9D8B030D-6E8A-4147-A177-3AD203B41FA5}">
                      <a16:colId xmlns:a16="http://schemas.microsoft.com/office/drawing/2014/main" val="1766196475"/>
                    </a:ext>
                  </a:extLst>
                </a:gridCol>
                <a:gridCol w="1530176">
                  <a:extLst>
                    <a:ext uri="{9D8B030D-6E8A-4147-A177-3AD203B41FA5}">
                      <a16:colId xmlns:a16="http://schemas.microsoft.com/office/drawing/2014/main" val="1911319024"/>
                    </a:ext>
                  </a:extLst>
                </a:gridCol>
                <a:gridCol w="1235371">
                  <a:extLst>
                    <a:ext uri="{9D8B030D-6E8A-4147-A177-3AD203B41FA5}">
                      <a16:colId xmlns:a16="http://schemas.microsoft.com/office/drawing/2014/main" val="2442084548"/>
                    </a:ext>
                  </a:extLst>
                </a:gridCol>
                <a:gridCol w="1502099">
                  <a:extLst>
                    <a:ext uri="{9D8B030D-6E8A-4147-A177-3AD203B41FA5}">
                      <a16:colId xmlns:a16="http://schemas.microsoft.com/office/drawing/2014/main" val="104030371"/>
                    </a:ext>
                  </a:extLst>
                </a:gridCol>
              </a:tblGrid>
              <a:tr h="781671">
                <a:tc>
                  <a:txBody>
                    <a:bodyPr/>
                    <a:lstStyle/>
                    <a:p>
                      <a:pPr algn="ctr" fontAlgn="ctr">
                        <a:buNone/>
                      </a:pPr>
                      <a:r>
                        <a:rPr lang="en-IN" sz="1100" b="0" i="0" u="none" strike="noStrike">
                          <a:solidFill>
                            <a:srgbClr val="000000"/>
                          </a:solidFill>
                          <a:effectLst/>
                          <a:latin typeface="Aptos Narrow" panose="020B0004020202020204" pitchFamily="34" charset="0"/>
                        </a:rPr>
                        <a:t>Joy Dip Das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S&amp;P 500 + Crypto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Hybrid Data-Driven and Deep Learning Based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RMSE = 0.019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BiLSTM + BiGRU hybrid improves forecasting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No RL decision layer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BiLSTM + BiGRU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498317718"/>
                  </a:ext>
                </a:extLst>
              </a:tr>
              <a:tr h="781671">
                <a:tc>
                  <a:txBody>
                    <a:bodyPr/>
                    <a:lstStyle/>
                    <a:p>
                      <a:pPr algn="ctr" fontAlgn="ctr">
                        <a:buNone/>
                      </a:pPr>
                      <a:r>
                        <a:rPr lang="en-IN" sz="1100" b="0" i="0" u="none" strike="noStrike">
                          <a:solidFill>
                            <a:srgbClr val="000000"/>
                          </a:solidFill>
                          <a:effectLst/>
                          <a:latin typeface="Aptos Narrow" panose="020B0004020202020204" pitchFamily="34" charset="0"/>
                        </a:rPr>
                        <a:t>Garrido-MerchÃ¡n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ESG Stock Index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Deep Reinforcement Learning for ESG Financial Portfolio Management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Integrates ESG scoring + DRL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Limited data scope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A2C (Advantage Actor Critic)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703057193"/>
                  </a:ext>
                </a:extLst>
              </a:tr>
              <a:tr h="1042227">
                <a:tc>
                  <a:txBody>
                    <a:bodyPr/>
                    <a:lstStyle/>
                    <a:p>
                      <a:pPr algn="ctr" fontAlgn="ctr">
                        <a:buNone/>
                      </a:pPr>
                      <a:r>
                        <a:rPr lang="en-IN" sz="1100" b="0" i="0" u="none" strike="noStrike">
                          <a:solidFill>
                            <a:srgbClr val="000000"/>
                          </a:solidFill>
                          <a:effectLst/>
                          <a:latin typeface="Aptos Narrow" panose="020B0004020202020204" pitchFamily="34" charset="0"/>
                        </a:rPr>
                        <a:t>Jaydip Sen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Indian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Comparative Analysis of Portfolio Optimization Using Mean-Variance, HRP, and RL Approaches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ROI = 12%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Comparative evaluation of classical vs RL methods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No hybrid forecasting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DQN based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622552783"/>
                  </a:ext>
                </a:extLst>
              </a:tr>
              <a:tr h="1042227">
                <a:tc>
                  <a:txBody>
                    <a:bodyPr/>
                    <a:lstStyle/>
                    <a:p>
                      <a:pPr algn="ctr" fontAlgn="ctr">
                        <a:buNone/>
                      </a:pPr>
                      <a:r>
                        <a:rPr lang="en-IN" sz="1100" b="0" i="0" u="none" strike="noStrike">
                          <a:solidFill>
                            <a:srgbClr val="000000"/>
                          </a:solidFill>
                          <a:effectLst/>
                          <a:latin typeface="Aptos Narrow" panose="020B0004020202020204" pitchFamily="34" charset="0"/>
                        </a:rPr>
                        <a:t>Arishi Orra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DOW 30 Stocks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Deep Reinforcement Learning for Investor-Specific Portfolio Optimization: A Volatility-Guided Approach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Sortino = 1.28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volatility forecasting + DRL policy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Lacks interpretability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DRL (PPO + Volatility Model)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869828564"/>
                  </a:ext>
                </a:extLst>
              </a:tr>
              <a:tr h="781671">
                <a:tc>
                  <a:txBody>
                    <a:bodyPr/>
                    <a:lstStyle/>
                    <a:p>
                      <a:pPr algn="ctr" fontAlgn="ctr">
                        <a:buNone/>
                      </a:pPr>
                      <a:r>
                        <a:rPr lang="en-IN" sz="1100" b="0" i="0" u="none" strike="noStrike">
                          <a:solidFill>
                            <a:srgbClr val="000000"/>
                          </a:solidFill>
                          <a:effectLst/>
                          <a:latin typeface="Aptos Narrow" panose="020B0004020202020204" pitchFamily="34" charset="0"/>
                        </a:rPr>
                        <a:t>Springer Authors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Global Market Indices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Risk-Adjusted Deep Reinforcement Learning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Risk-aware reward design + multi-agent ensemble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Complex training pipeline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PPO + CNN ensemble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504568130"/>
                  </a:ext>
                </a:extLst>
              </a:tr>
              <a:tr h="781671">
                <a:tc>
                  <a:txBody>
                    <a:bodyPr/>
                    <a:lstStyle/>
                    <a:p>
                      <a:pPr algn="ctr" fontAlgn="ctr">
                        <a:buNone/>
                      </a:pPr>
                      <a:r>
                        <a:rPr lang="en-IN" sz="1100" b="0" i="0" u="none" strike="noStrike" dirty="0">
                          <a:solidFill>
                            <a:srgbClr val="000000"/>
                          </a:solidFill>
                          <a:effectLst/>
                          <a:latin typeface="Aptos Narrow" panose="020B0004020202020204" pitchFamily="34" charset="0"/>
                        </a:rPr>
                        <a:t>H Yang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LSTM-Based Deep Model for Investment Portfolio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Higher Return / Risk Ratio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Combines LSTM + Genetic Algorithm for portfolio weighting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Does not include RL module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LSTM + Genetic Algorithm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668460950"/>
                  </a:ext>
                </a:extLst>
              </a:tr>
            </a:tbl>
          </a:graphicData>
        </a:graphic>
      </p:graphicFrame>
    </p:spTree>
    <p:extLst>
      <p:ext uri="{BB962C8B-B14F-4D97-AF65-F5344CB8AC3E}">
        <p14:creationId xmlns:p14="http://schemas.microsoft.com/office/powerpoint/2010/main" val="3016637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BA8C7C64-C562-3A12-205D-C86363C1129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9608369-0A27-EE21-92B3-0179F8C7500A}"/>
              </a:ext>
            </a:extLst>
          </p:cNvPr>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Literature Review</a:t>
            </a:r>
            <a:endParaRPr sz="2400" b="1" dirty="0">
              <a:latin typeface="Proxima Nova"/>
              <a:ea typeface="Proxima Nova"/>
              <a:cs typeface="Proxima Nova"/>
              <a:sym typeface="Proxima Nova"/>
            </a:endParaRPr>
          </a:p>
        </p:txBody>
      </p:sp>
      <p:graphicFrame>
        <p:nvGraphicFramePr>
          <p:cNvPr id="6" name="Table 5">
            <a:extLst>
              <a:ext uri="{FF2B5EF4-FFF2-40B4-BE49-F238E27FC236}">
                <a16:creationId xmlns:a16="http://schemas.microsoft.com/office/drawing/2014/main" id="{537AD768-F0AB-B57B-80FA-E0694D889527}"/>
              </a:ext>
            </a:extLst>
          </p:cNvPr>
          <p:cNvGraphicFramePr>
            <a:graphicFrameLocks noGrp="1"/>
          </p:cNvGraphicFramePr>
          <p:nvPr/>
        </p:nvGraphicFramePr>
        <p:xfrm>
          <a:off x="534259" y="955144"/>
          <a:ext cx="10935846" cy="382156"/>
        </p:xfrm>
        <a:graphic>
          <a:graphicData uri="http://schemas.openxmlformats.org/drawingml/2006/table">
            <a:tbl>
              <a:tblPr/>
              <a:tblGrid>
                <a:gridCol w="1403831">
                  <a:extLst>
                    <a:ext uri="{9D8B030D-6E8A-4147-A177-3AD203B41FA5}">
                      <a16:colId xmlns:a16="http://schemas.microsoft.com/office/drawing/2014/main" val="2110112195"/>
                    </a:ext>
                  </a:extLst>
                </a:gridCol>
                <a:gridCol w="786146">
                  <a:extLst>
                    <a:ext uri="{9D8B030D-6E8A-4147-A177-3AD203B41FA5}">
                      <a16:colId xmlns:a16="http://schemas.microsoft.com/office/drawing/2014/main" val="1797418888"/>
                    </a:ext>
                  </a:extLst>
                </a:gridCol>
                <a:gridCol w="1137103">
                  <a:extLst>
                    <a:ext uri="{9D8B030D-6E8A-4147-A177-3AD203B41FA5}">
                      <a16:colId xmlns:a16="http://schemas.microsoft.com/office/drawing/2014/main" val="4043699253"/>
                    </a:ext>
                  </a:extLst>
                </a:gridCol>
                <a:gridCol w="2119785">
                  <a:extLst>
                    <a:ext uri="{9D8B030D-6E8A-4147-A177-3AD203B41FA5}">
                      <a16:colId xmlns:a16="http://schemas.microsoft.com/office/drawing/2014/main" val="3226050531"/>
                    </a:ext>
                  </a:extLst>
                </a:gridCol>
                <a:gridCol w="1221333">
                  <a:extLst>
                    <a:ext uri="{9D8B030D-6E8A-4147-A177-3AD203B41FA5}">
                      <a16:colId xmlns:a16="http://schemas.microsoft.com/office/drawing/2014/main" val="3785835067"/>
                    </a:ext>
                  </a:extLst>
                </a:gridCol>
                <a:gridCol w="1530176">
                  <a:extLst>
                    <a:ext uri="{9D8B030D-6E8A-4147-A177-3AD203B41FA5}">
                      <a16:colId xmlns:a16="http://schemas.microsoft.com/office/drawing/2014/main" val="3716550024"/>
                    </a:ext>
                  </a:extLst>
                </a:gridCol>
                <a:gridCol w="1235372">
                  <a:extLst>
                    <a:ext uri="{9D8B030D-6E8A-4147-A177-3AD203B41FA5}">
                      <a16:colId xmlns:a16="http://schemas.microsoft.com/office/drawing/2014/main" val="3409063683"/>
                    </a:ext>
                  </a:extLst>
                </a:gridCol>
                <a:gridCol w="1502100">
                  <a:extLst>
                    <a:ext uri="{9D8B030D-6E8A-4147-A177-3AD203B41FA5}">
                      <a16:colId xmlns:a16="http://schemas.microsoft.com/office/drawing/2014/main" val="1624008034"/>
                    </a:ext>
                  </a:extLst>
                </a:gridCol>
              </a:tblGrid>
              <a:tr h="382156">
                <a:tc>
                  <a:txBody>
                    <a:bodyPr/>
                    <a:lstStyle/>
                    <a:p>
                      <a:pPr algn="ctr" fontAlgn="ctr">
                        <a:buNone/>
                      </a:pPr>
                      <a:r>
                        <a:rPr lang="en-IN" sz="1100" b="0" i="0" u="none" strike="noStrike" dirty="0">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1371595426"/>
                  </a:ext>
                </a:extLst>
              </a:tr>
            </a:tbl>
          </a:graphicData>
        </a:graphic>
      </p:graphicFrame>
      <p:graphicFrame>
        <p:nvGraphicFramePr>
          <p:cNvPr id="2" name="Table 1">
            <a:extLst>
              <a:ext uri="{FF2B5EF4-FFF2-40B4-BE49-F238E27FC236}">
                <a16:creationId xmlns:a16="http://schemas.microsoft.com/office/drawing/2014/main" id="{39F0BA72-F2A6-948E-CB8C-1B7931B09911}"/>
              </a:ext>
            </a:extLst>
          </p:cNvPr>
          <p:cNvGraphicFramePr>
            <a:graphicFrameLocks noGrp="1"/>
          </p:cNvGraphicFramePr>
          <p:nvPr>
            <p:extLst>
              <p:ext uri="{D42A27DB-BD31-4B8C-83A1-F6EECF244321}">
                <p14:modId xmlns:p14="http://schemas.microsoft.com/office/powerpoint/2010/main" val="2975751822"/>
              </p:ext>
            </p:extLst>
          </p:nvPr>
        </p:nvGraphicFramePr>
        <p:xfrm>
          <a:off x="534258" y="1337300"/>
          <a:ext cx="10935845" cy="5211139"/>
        </p:xfrm>
        <a:graphic>
          <a:graphicData uri="http://schemas.openxmlformats.org/drawingml/2006/table">
            <a:tbl>
              <a:tblPr/>
              <a:tblGrid>
                <a:gridCol w="1403831">
                  <a:extLst>
                    <a:ext uri="{9D8B030D-6E8A-4147-A177-3AD203B41FA5}">
                      <a16:colId xmlns:a16="http://schemas.microsoft.com/office/drawing/2014/main" val="3639952926"/>
                    </a:ext>
                  </a:extLst>
                </a:gridCol>
                <a:gridCol w="786145">
                  <a:extLst>
                    <a:ext uri="{9D8B030D-6E8A-4147-A177-3AD203B41FA5}">
                      <a16:colId xmlns:a16="http://schemas.microsoft.com/office/drawing/2014/main" val="838049477"/>
                    </a:ext>
                  </a:extLst>
                </a:gridCol>
                <a:gridCol w="1137104">
                  <a:extLst>
                    <a:ext uri="{9D8B030D-6E8A-4147-A177-3AD203B41FA5}">
                      <a16:colId xmlns:a16="http://schemas.microsoft.com/office/drawing/2014/main" val="4101665558"/>
                    </a:ext>
                  </a:extLst>
                </a:gridCol>
                <a:gridCol w="2119785">
                  <a:extLst>
                    <a:ext uri="{9D8B030D-6E8A-4147-A177-3AD203B41FA5}">
                      <a16:colId xmlns:a16="http://schemas.microsoft.com/office/drawing/2014/main" val="3409105679"/>
                    </a:ext>
                  </a:extLst>
                </a:gridCol>
                <a:gridCol w="1221333">
                  <a:extLst>
                    <a:ext uri="{9D8B030D-6E8A-4147-A177-3AD203B41FA5}">
                      <a16:colId xmlns:a16="http://schemas.microsoft.com/office/drawing/2014/main" val="4107616076"/>
                    </a:ext>
                  </a:extLst>
                </a:gridCol>
                <a:gridCol w="1530176">
                  <a:extLst>
                    <a:ext uri="{9D8B030D-6E8A-4147-A177-3AD203B41FA5}">
                      <a16:colId xmlns:a16="http://schemas.microsoft.com/office/drawing/2014/main" val="4176968917"/>
                    </a:ext>
                  </a:extLst>
                </a:gridCol>
                <a:gridCol w="1235372">
                  <a:extLst>
                    <a:ext uri="{9D8B030D-6E8A-4147-A177-3AD203B41FA5}">
                      <a16:colId xmlns:a16="http://schemas.microsoft.com/office/drawing/2014/main" val="2818764603"/>
                    </a:ext>
                  </a:extLst>
                </a:gridCol>
                <a:gridCol w="1502099">
                  <a:extLst>
                    <a:ext uri="{9D8B030D-6E8A-4147-A177-3AD203B41FA5}">
                      <a16:colId xmlns:a16="http://schemas.microsoft.com/office/drawing/2014/main" val="1012981357"/>
                    </a:ext>
                  </a:extLst>
                </a:gridCol>
              </a:tblGrid>
              <a:tr h="1141542">
                <a:tc>
                  <a:txBody>
                    <a:bodyPr/>
                    <a:lstStyle/>
                    <a:p>
                      <a:pPr algn="ctr" fontAlgn="ctr">
                        <a:buNone/>
                      </a:pPr>
                      <a:r>
                        <a:rPr lang="en-IN" sz="1100" b="0" i="0" u="none" strike="noStrike">
                          <a:solidFill>
                            <a:srgbClr val="000000"/>
                          </a:solidFill>
                          <a:effectLst/>
                          <a:latin typeface="Aptos Narrow" panose="020B0004020202020204" pitchFamily="34" charset="0"/>
                        </a:rPr>
                        <a:t>Z Song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 Equities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An Interpretable Stochastic Model-Free Reinforcement Learning Framework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Outperforms benchmarks on risk-adjusted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Risk-aware interpretable RL with stochastic policy gradient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Focuses only on equity data; complex reward tuning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Stochastic RL (Gaussian policy + critic)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135986942"/>
                  </a:ext>
                </a:extLst>
              </a:tr>
              <a:tr h="1141542">
                <a:tc>
                  <a:txBody>
                    <a:bodyPr/>
                    <a:lstStyle/>
                    <a:p>
                      <a:pPr algn="ctr" fontAlgn="ctr">
                        <a:buNone/>
                      </a:pPr>
                      <a:r>
                        <a:rPr lang="en-IN" sz="1100" b="0" i="0" u="none" strike="noStrike">
                          <a:solidFill>
                            <a:srgbClr val="000000"/>
                          </a:solidFill>
                          <a:effectLst/>
                          <a:latin typeface="Aptos Narrow" panose="020B0004020202020204" pitchFamily="34" charset="0"/>
                        </a:rPr>
                        <a:t>Chuting Sun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Multivariate Stock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Dynamic CVaR Portfolio Construction with Attention-Powered Generative Factor Learning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Improved CVaR and tail-risk metrics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Uses Attention-GRU and factor learning for robust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Not pure RL approach; complex to train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Attention-GRU + CVaR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976610142"/>
                  </a:ext>
                </a:extLst>
              </a:tr>
              <a:tr h="767687">
                <a:tc>
                  <a:txBody>
                    <a:bodyPr/>
                    <a:lstStyle/>
                    <a:p>
                      <a:pPr algn="ctr" fontAlgn="ctr">
                        <a:buNone/>
                      </a:pPr>
                      <a:r>
                        <a:rPr lang="en-IN" sz="1100" b="0" i="0" u="none" strike="noStrike">
                          <a:solidFill>
                            <a:srgbClr val="000000"/>
                          </a:solidFill>
                          <a:effectLst/>
                          <a:latin typeface="Aptos Narrow" panose="020B0004020202020204" pitchFamily="34" charset="0"/>
                        </a:rPr>
                        <a:t>H Zouaoui &amp; M-N Naas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25 Cryptocurrencies (2021â€“2024)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Portfolio Optimization Based on MPT-LSTM Neural Networks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Sharpe =  1.53 (vs 0.79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LSTM-based weight prediction improves crypto risk-return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Limited to crypto assets only; lacks RL layer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LSTM (MPT-based weight predictor)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446343454"/>
                  </a:ext>
                </a:extLst>
              </a:tr>
              <a:tr h="1141542">
                <a:tc>
                  <a:txBody>
                    <a:bodyPr/>
                    <a:lstStyle/>
                    <a:p>
                      <a:pPr algn="ctr" fontAlgn="ctr">
                        <a:buNone/>
                      </a:pPr>
                      <a:r>
                        <a:rPr lang="en-IN" sz="1100" b="0" i="0" u="none" strike="noStrike">
                          <a:solidFill>
                            <a:srgbClr val="000000"/>
                          </a:solidFill>
                          <a:effectLst/>
                          <a:latin typeface="Aptos Narrow" panose="020B0004020202020204" pitchFamily="34" charset="0"/>
                        </a:rPr>
                        <a:t>W Zhang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High Dimensional Assets (Global Markets)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Enhancing Portfolio Optimization via Heuristic-Guided Deep RL &amp; Graph Neural Networks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Improved dynamic adaptability; ROI +11%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GNN structure learning with RL for allocation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complexity; limited interpretability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Deep RL + Graph Neural Network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15715652"/>
                  </a:ext>
                </a:extLst>
              </a:tr>
              <a:tr h="1018826">
                <a:tc>
                  <a:txBody>
                    <a:bodyPr/>
                    <a:lstStyle/>
                    <a:p>
                      <a:pPr algn="ctr" fontAlgn="ctr">
                        <a:buNone/>
                      </a:pPr>
                      <a:r>
                        <a:rPr lang="en-IN" sz="1100" b="0" i="0" u="none" strike="noStrike">
                          <a:solidFill>
                            <a:srgbClr val="000000"/>
                          </a:solidFill>
                          <a:effectLst/>
                          <a:latin typeface="Aptos Narrow" panose="020B0004020202020204" pitchFamily="34" charset="0"/>
                        </a:rPr>
                        <a:t>X Wang &amp; L Liu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Commodity Futures Markets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Risk-Sensitive Deep Reinforcement Learning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4.34; Sortino = 57.77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Strong risk-adjusted results; transformer-based agent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Tested mainly on commodities; may overfit specific assets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ART-DRL (Transformer + Multi-agent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588040320"/>
                  </a:ext>
                </a:extLst>
              </a:tr>
            </a:tbl>
          </a:graphicData>
        </a:graphic>
      </p:graphicFrame>
    </p:spTree>
    <p:extLst>
      <p:ext uri="{BB962C8B-B14F-4D97-AF65-F5344CB8AC3E}">
        <p14:creationId xmlns:p14="http://schemas.microsoft.com/office/powerpoint/2010/main" val="4213419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8F1B0040-3376-A47D-FA51-C05A97F9304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7C29026B-9DBC-B7E2-7D94-1E2E4463268A}"/>
              </a:ext>
            </a:extLst>
          </p:cNvPr>
          <p:cNvSpPr txBox="1">
            <a:spLocks noGrp="1"/>
          </p:cNvSpPr>
          <p:nvPr>
            <p:ph type="title"/>
          </p:nvPr>
        </p:nvSpPr>
        <p:spPr>
          <a:xfrm>
            <a:off x="534259" y="309562"/>
            <a:ext cx="3221664" cy="382156"/>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US" sz="2400" b="1" dirty="0">
                <a:solidFill>
                  <a:srgbClr val="04A2B9"/>
                </a:solidFill>
                <a:latin typeface="Proxima Nova"/>
                <a:ea typeface="Proxima Nova"/>
                <a:cs typeface="Proxima Nova"/>
                <a:sym typeface="Proxima Nova"/>
              </a:rPr>
              <a:t>Tools &amp; Technology </a:t>
            </a:r>
            <a:endParaRPr lang="en-US" sz="2400" b="1" dirty="0">
              <a:latin typeface="Proxima Nova"/>
              <a:ea typeface="Proxima Nova"/>
              <a:cs typeface="Proxima Nova"/>
              <a:sym typeface="Proxima Nova"/>
            </a:endParaRPr>
          </a:p>
        </p:txBody>
      </p:sp>
      <p:sp>
        <p:nvSpPr>
          <p:cNvPr id="4" name="TextBox 3">
            <a:extLst>
              <a:ext uri="{FF2B5EF4-FFF2-40B4-BE49-F238E27FC236}">
                <a16:creationId xmlns:a16="http://schemas.microsoft.com/office/drawing/2014/main" id="{B230643A-27D2-D276-82CC-F10CBB05D0F5}"/>
              </a:ext>
            </a:extLst>
          </p:cNvPr>
          <p:cNvSpPr txBox="1"/>
          <p:nvPr/>
        </p:nvSpPr>
        <p:spPr>
          <a:xfrm>
            <a:off x="304801" y="914400"/>
            <a:ext cx="11526794"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200000"/>
              </a:lnSpc>
              <a:buFont typeface="Arial" panose="020B0604020202020204" pitchFamily="34" charset="0"/>
              <a:buChar char="•"/>
            </a:pPr>
            <a:r>
              <a:rPr lang="en-US" sz="2000" dirty="0"/>
              <a:t>Programming Language: Python </a:t>
            </a:r>
            <a:endParaRPr lang="en-US" dirty="0"/>
          </a:p>
          <a:p>
            <a:pPr marL="342900" indent="-342900">
              <a:lnSpc>
                <a:spcPct val="200000"/>
              </a:lnSpc>
              <a:buFont typeface="Arial" panose="020B0604020202020204" pitchFamily="34" charset="0"/>
              <a:buChar char="•"/>
            </a:pPr>
            <a:r>
              <a:rPr lang="en-US" sz="2000" dirty="0"/>
              <a:t>Deep Learning  Frameworks: TensorFlow / </a:t>
            </a:r>
            <a:r>
              <a:rPr lang="en-US" sz="2000" dirty="0" err="1"/>
              <a:t>Keras</a:t>
            </a:r>
            <a:r>
              <a:rPr lang="en-US" sz="2000" dirty="0"/>
              <a:t> / </a:t>
            </a:r>
            <a:r>
              <a:rPr lang="en-US" sz="2000" dirty="0" err="1"/>
              <a:t>PyTorch</a:t>
            </a:r>
            <a:r>
              <a:rPr lang="en-US" sz="2000" dirty="0"/>
              <a:t> </a:t>
            </a:r>
          </a:p>
          <a:p>
            <a:pPr marL="342900" indent="-342900">
              <a:lnSpc>
                <a:spcPct val="200000"/>
              </a:lnSpc>
              <a:buFont typeface="Arial" panose="020B0604020202020204" pitchFamily="34" charset="0"/>
              <a:buChar char="•"/>
            </a:pPr>
            <a:r>
              <a:rPr lang="en-US" sz="2000" dirty="0"/>
              <a:t>Reinforcement Learning Frameworks: Stable-Baselines3 / OpenAI Gym </a:t>
            </a:r>
            <a:endParaRPr lang="en-US" dirty="0"/>
          </a:p>
          <a:p>
            <a:pPr marL="342900" indent="-342900">
              <a:lnSpc>
                <a:spcPct val="200000"/>
              </a:lnSpc>
              <a:buFont typeface="Arial" panose="020B0604020202020204" pitchFamily="34" charset="0"/>
              <a:buChar char="•"/>
            </a:pPr>
            <a:r>
              <a:rPr lang="en-US" sz="2000" dirty="0"/>
              <a:t>Data Handling &amp; Analysis: Pandas, NumPy, Scikit-learn </a:t>
            </a:r>
          </a:p>
          <a:p>
            <a:pPr marL="342900" indent="-342900">
              <a:lnSpc>
                <a:spcPct val="200000"/>
              </a:lnSpc>
              <a:buFont typeface="Arial" panose="020B0604020202020204" pitchFamily="34" charset="0"/>
              <a:buChar char="•"/>
            </a:pPr>
            <a:r>
              <a:rPr lang="en-US" sz="2000" dirty="0"/>
              <a:t>Visualization Tools: Matplotlib, Seaborn</a:t>
            </a:r>
          </a:p>
          <a:p>
            <a:pPr marL="342900" indent="-342900">
              <a:lnSpc>
                <a:spcPct val="200000"/>
              </a:lnSpc>
              <a:buFont typeface="Arial" panose="020B0604020202020204" pitchFamily="34" charset="0"/>
              <a:buChar char="•"/>
            </a:pPr>
            <a:r>
              <a:rPr lang="en-US" sz="2000" dirty="0"/>
              <a:t>Financial Data APIs: Yahoo Finance</a:t>
            </a:r>
          </a:p>
          <a:p>
            <a:pPr marL="342900" indent="-342900">
              <a:lnSpc>
                <a:spcPct val="200000"/>
              </a:lnSpc>
              <a:buFont typeface="Arial" panose="020B0604020202020204" pitchFamily="34" charset="0"/>
              <a:buChar char="•"/>
            </a:pPr>
            <a:r>
              <a:rPr lang="en-US" sz="2000" dirty="0"/>
              <a:t>Optimization Tools: </a:t>
            </a:r>
            <a:r>
              <a:rPr lang="en-US" sz="2000" dirty="0" err="1"/>
              <a:t>Optuna</a:t>
            </a:r>
            <a:r>
              <a:rPr lang="en-US" sz="2000" dirty="0"/>
              <a:t> / </a:t>
            </a:r>
            <a:r>
              <a:rPr lang="en-US" sz="2000" dirty="0" err="1"/>
              <a:t>Hyperopt</a:t>
            </a:r>
            <a:r>
              <a:rPr lang="en-US" sz="2000" dirty="0"/>
              <a:t> for hyperparameter tuning</a:t>
            </a:r>
          </a:p>
          <a:p>
            <a:pPr marL="342900" indent="-342900">
              <a:lnSpc>
                <a:spcPct val="200000"/>
              </a:lnSpc>
              <a:buFont typeface="Arial" panose="020B0604020202020204" pitchFamily="34" charset="0"/>
              <a:buChar char="•"/>
            </a:pPr>
            <a:r>
              <a:rPr lang="en-US" sz="2000" dirty="0"/>
              <a:t>Performance Metrics: Sharpe Ratio, ROI, Mean Absolute Error (MAE)</a:t>
            </a:r>
          </a:p>
          <a:p>
            <a:pPr marL="342900" indent="-342900">
              <a:lnSpc>
                <a:spcPct val="200000"/>
              </a:lnSpc>
              <a:buFont typeface="Arial" panose="020B0604020202020204" pitchFamily="34" charset="0"/>
              <a:buChar char="•"/>
            </a:pPr>
            <a:r>
              <a:rPr lang="en-US" sz="2000" dirty="0"/>
              <a:t> Development Environment: Google Colab</a:t>
            </a:r>
            <a:endParaRPr lang="en-US" dirty="0"/>
          </a:p>
          <a:p>
            <a:pPr algn="ctr"/>
            <a:endParaRPr lang="en-US" dirty="0"/>
          </a:p>
        </p:txBody>
      </p:sp>
    </p:spTree>
    <p:extLst>
      <p:ext uri="{BB962C8B-B14F-4D97-AF65-F5344CB8AC3E}">
        <p14:creationId xmlns:p14="http://schemas.microsoft.com/office/powerpoint/2010/main" val="1605741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79350427-F502-EEA0-F704-994D8151AD5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DDEBFD4-005B-51C5-35D8-87C229ADEF87}"/>
              </a:ext>
            </a:extLst>
          </p:cNvPr>
          <p:cNvSpPr txBox="1">
            <a:spLocks noGrp="1"/>
          </p:cNvSpPr>
          <p:nvPr>
            <p:ph type="title"/>
          </p:nvPr>
        </p:nvSpPr>
        <p:spPr>
          <a:xfrm>
            <a:off x="534259" y="309562"/>
            <a:ext cx="3221664"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Methodology </a:t>
            </a:r>
            <a:endParaRPr lang="en-US" sz="2400" b="1" dirty="0">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21C50E28-3F3B-475F-C881-A4BA94E52E92}"/>
              </a:ext>
            </a:extLst>
          </p:cNvPr>
          <p:cNvPicPr>
            <a:picLocks noChangeAspect="1"/>
          </p:cNvPicPr>
          <p:nvPr/>
        </p:nvPicPr>
        <p:blipFill>
          <a:blip r:embed="rId4"/>
          <a:stretch>
            <a:fillRect/>
          </a:stretch>
        </p:blipFill>
        <p:spPr>
          <a:xfrm>
            <a:off x="336884" y="1427745"/>
            <a:ext cx="11389896" cy="4876801"/>
          </a:xfrm>
          <a:prstGeom prst="rect">
            <a:avLst/>
          </a:prstGeom>
        </p:spPr>
      </p:pic>
    </p:spTree>
    <p:extLst>
      <p:ext uri="{BB962C8B-B14F-4D97-AF65-F5344CB8AC3E}">
        <p14:creationId xmlns:p14="http://schemas.microsoft.com/office/powerpoint/2010/main" val="1538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1AE3041-00C8-1BF0-EA99-4EFEB932F9C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D7F97511-32AD-E1EB-0BA0-A631C45B09CE}"/>
              </a:ext>
            </a:extLst>
          </p:cNvPr>
          <p:cNvSpPr txBox="1">
            <a:spLocks noGrp="1"/>
          </p:cNvSpPr>
          <p:nvPr>
            <p:ph type="title"/>
          </p:nvPr>
        </p:nvSpPr>
        <p:spPr>
          <a:xfrm>
            <a:off x="534258" y="309562"/>
            <a:ext cx="403774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Conclusion</a:t>
            </a:r>
            <a:endParaRPr lang="en-US" sz="2400" b="1" dirty="0">
              <a:latin typeface="Proxima Nova"/>
              <a:ea typeface="Proxima Nova"/>
              <a:cs typeface="Proxima Nova"/>
              <a:sym typeface="Proxima Nova"/>
            </a:endParaRPr>
          </a:p>
        </p:txBody>
      </p:sp>
      <p:sp>
        <p:nvSpPr>
          <p:cNvPr id="4" name="TextBox 3">
            <a:extLst>
              <a:ext uri="{FF2B5EF4-FFF2-40B4-BE49-F238E27FC236}">
                <a16:creationId xmlns:a16="http://schemas.microsoft.com/office/drawing/2014/main" id="{D78DCB92-0556-FCA3-7EAB-4C4A2C15EA6C}"/>
              </a:ext>
            </a:extLst>
          </p:cNvPr>
          <p:cNvSpPr txBox="1"/>
          <p:nvPr/>
        </p:nvSpPr>
        <p:spPr>
          <a:xfrm>
            <a:off x="325710" y="1270767"/>
            <a:ext cx="11057974" cy="2062103"/>
          </a:xfrm>
          <a:prstGeom prst="rect">
            <a:avLst/>
          </a:prstGeom>
          <a:noFill/>
        </p:spPr>
        <p:txBody>
          <a:bodyPr wrap="square">
            <a:spAutoFit/>
          </a:bodyPr>
          <a:lstStyle/>
          <a:p>
            <a:r>
              <a:rPr lang="en-US" sz="2400" b="1" dirty="0">
                <a:latin typeface="Proxima Nova" panose="020B0604020202020204" charset="0"/>
              </a:rPr>
              <a:t>Conclusion:- </a:t>
            </a:r>
          </a:p>
          <a:p>
            <a:endParaRPr lang="en-US" sz="2400" b="1" dirty="0">
              <a:latin typeface="Proxima Nova" panose="020B0604020202020204" charset="0"/>
            </a:endParaRPr>
          </a:p>
          <a:p>
            <a:r>
              <a:rPr lang="en-US" sz="2000" dirty="0"/>
              <a:t>I have successfully completed the first half of my portfolio optimization project. The initial stage, which focuses on time-series forecasting using a hybrid LSTM model, is now complete. This model has been successfully trained and is showing promising results in accurately predicting future asset price movements.</a:t>
            </a:r>
            <a:endParaRPr lang="en-US" sz="2000" dirty="0">
              <a:latin typeface="Proxima Nova" panose="020B0604020202020204" charset="0"/>
            </a:endParaRPr>
          </a:p>
        </p:txBody>
      </p:sp>
    </p:spTree>
    <p:extLst>
      <p:ext uri="{BB962C8B-B14F-4D97-AF65-F5344CB8AC3E}">
        <p14:creationId xmlns:p14="http://schemas.microsoft.com/office/powerpoint/2010/main" val="628816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9935366-B43B-9C48-0830-C521BC1FF4E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A663A60-1701-4344-1D63-951FB9E6C6EA}"/>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5F0AE475-1946-E2B3-9AD3-3173AB96848E}"/>
              </a:ext>
            </a:extLst>
          </p:cNvPr>
          <p:cNvSpPr txBox="1"/>
          <p:nvPr/>
        </p:nvSpPr>
        <p:spPr>
          <a:xfrm>
            <a:off x="368968" y="936419"/>
            <a:ext cx="11454064" cy="6273512"/>
          </a:xfrm>
          <a:prstGeom prst="rect">
            <a:avLst/>
          </a:prstGeom>
          <a:noFill/>
        </p:spPr>
        <p:txBody>
          <a:bodyPr wrap="square">
            <a:spAutoFit/>
          </a:bodyPr>
          <a:lstStyle/>
          <a:p>
            <a:pPr>
              <a:lnSpc>
                <a:spcPct val="150000"/>
              </a:lnSpc>
            </a:pPr>
            <a:r>
              <a:rPr lang="en-IN" sz="1800" dirty="0"/>
              <a:t>[1] Y. Kumar, “Deep Reinforcement Learning for Portfolio Optimization using Latent Feature State Space Module,” </a:t>
            </a:r>
            <a:r>
              <a:rPr lang="en-IN" sz="1800" dirty="0" err="1"/>
              <a:t>arXiv</a:t>
            </a:r>
            <a:r>
              <a:rPr lang="en-IN" sz="1800" dirty="0"/>
              <a:t> preprint arXiv:2102.06233, 2021.: </a:t>
            </a:r>
            <a:r>
              <a:rPr lang="en-IN" sz="1800" dirty="0">
                <a:hlinkClick r:id="rId4"/>
              </a:rPr>
              <a:t>https://arxiv.org/abs/2102.06233</a:t>
            </a:r>
            <a:endParaRPr lang="en-IN" sz="1800" dirty="0"/>
          </a:p>
          <a:p>
            <a:pPr>
              <a:lnSpc>
                <a:spcPct val="150000"/>
              </a:lnSpc>
            </a:pPr>
            <a:r>
              <a:rPr lang="en-IN" sz="1800" dirty="0"/>
              <a:t>[2] J. Sen, A. Dutta and S. Mehtab, “Stock Portfolio Optimization Using a Deep Learning LSTM Model,” International Journal of Computer Applications, vol. 183, no. 2, pp. 1–8, 2021. : </a:t>
            </a:r>
            <a:r>
              <a:rPr lang="en-IN" sz="1800" dirty="0">
                <a:hlinkClick r:id="rId5"/>
              </a:rPr>
              <a:t>https://www.semanticscholar.org/paper/Stock-Portfolio-Optimization-Using-a-Deep-Learning-Sen-Dutta</a:t>
            </a:r>
            <a:endParaRPr lang="en-IN" sz="1800" dirty="0"/>
          </a:p>
          <a:p>
            <a:pPr>
              <a:lnSpc>
                <a:spcPct val="150000"/>
              </a:lnSpc>
            </a:pPr>
            <a:r>
              <a:rPr lang="en-IN" sz="1800" dirty="0"/>
              <a:t>[3] J. Ahn, S. Park, J. Kim and J.-H. Lee, “Reinforcement Learning Portfolio Manager Framework with Monte Carlo Simulation,” </a:t>
            </a:r>
            <a:r>
              <a:rPr lang="en-IN" sz="1800" dirty="0" err="1"/>
              <a:t>arXiv</a:t>
            </a:r>
            <a:r>
              <a:rPr lang="en-IN" sz="1800" dirty="0"/>
              <a:t> preprint arXiv:2207.02458, 2022. </a:t>
            </a:r>
            <a:r>
              <a:rPr lang="en-IN" sz="1800" dirty="0">
                <a:hlinkClick r:id="rId6"/>
              </a:rPr>
              <a:t>https://arxiv.org/abs/2207.02458</a:t>
            </a:r>
            <a:endParaRPr lang="en-IN" sz="1800" dirty="0"/>
          </a:p>
          <a:p>
            <a:pPr>
              <a:lnSpc>
                <a:spcPct val="150000"/>
              </a:lnSpc>
            </a:pPr>
            <a:r>
              <a:rPr lang="en-IN" sz="1800" dirty="0"/>
              <a:t>[4] H. Niu, S. Li and J. Li, “</a:t>
            </a:r>
            <a:r>
              <a:rPr lang="en-IN" sz="1800" dirty="0" err="1"/>
              <a:t>MetaTrader</a:t>
            </a:r>
            <a:r>
              <a:rPr lang="en-IN" sz="1800" dirty="0"/>
              <a:t>: A Reinforcement Learning Approach Integrating Diverse Policies for Portfolio Optimization,” </a:t>
            </a:r>
            <a:r>
              <a:rPr lang="en-IN" sz="1800" dirty="0" err="1"/>
              <a:t>arXiv</a:t>
            </a:r>
            <a:r>
              <a:rPr lang="en-IN" sz="1800" dirty="0"/>
              <a:t> preprint arXiv:2210.01774, 2022. </a:t>
            </a:r>
            <a:r>
              <a:rPr lang="en-IN" sz="1800" dirty="0">
                <a:hlinkClick r:id="rId7"/>
              </a:rPr>
              <a:t>https://arxiv.org/abs/2210.01774</a:t>
            </a:r>
            <a:endParaRPr lang="en-IN" sz="1800" dirty="0"/>
          </a:p>
          <a:p>
            <a:pPr>
              <a:lnSpc>
                <a:spcPct val="150000"/>
              </a:lnSpc>
            </a:pPr>
            <a:r>
              <a:rPr lang="en-IN" sz="1800" dirty="0"/>
              <a:t>[5] R. Yan, J. Jin and K. Han, “Reinforcement Learning for Deep Portfolio Optimization,” Electronic Research Archive, vol. 32, no. 9, pp. 5176–5200, 2024 </a:t>
            </a:r>
            <a:r>
              <a:rPr lang="en-IN" sz="1800" dirty="0">
                <a:hlinkClick r:id="rId8"/>
              </a:rPr>
              <a:t>https://doi.org/10.3934/era.2024239</a:t>
            </a:r>
            <a:endParaRPr lang="en-IN" sz="1800" dirty="0"/>
          </a:p>
          <a:p>
            <a:pPr>
              <a:lnSpc>
                <a:spcPct val="150000"/>
              </a:lnSpc>
            </a:pPr>
            <a:r>
              <a:rPr lang="en-IN" sz="1800" dirty="0"/>
              <a:t>[6] J. D. Das, S. </a:t>
            </a:r>
            <a:r>
              <a:rPr lang="en-IN" sz="1800" dirty="0" err="1"/>
              <a:t>Bowala</a:t>
            </a:r>
            <a:r>
              <a:rPr lang="en-IN" sz="1800" dirty="0"/>
              <a:t>, R. K. Thulasiram and A. </a:t>
            </a:r>
            <a:r>
              <a:rPr lang="en-IN" sz="1800" dirty="0" err="1"/>
              <a:t>Thavaneswaran</a:t>
            </a:r>
            <a:r>
              <a:rPr lang="en-IN" sz="1800" dirty="0"/>
              <a:t>, “Hybrid Data-Driven and Deep Learning-Based Portfolio Optimization,” Journal of Mathematical Finance, vol. 14, no. 3, pp. 271–310, 2024.: </a:t>
            </a:r>
            <a:r>
              <a:rPr lang="en-IN" sz="1800" dirty="0">
                <a:hlinkClick r:id="rId9"/>
              </a:rPr>
              <a:t>https://doi.org/10.4236/jmf.2024.143016</a:t>
            </a:r>
            <a:endParaRPr lang="en-IN" sz="1800" dirty="0"/>
          </a:p>
          <a:p>
            <a:pPr>
              <a:lnSpc>
                <a:spcPct val="150000"/>
              </a:lnSpc>
            </a:pPr>
            <a:endParaRPr lang="en-IN" sz="1800" dirty="0"/>
          </a:p>
        </p:txBody>
      </p:sp>
    </p:spTree>
    <p:extLst>
      <p:ext uri="{BB962C8B-B14F-4D97-AF65-F5344CB8AC3E}">
        <p14:creationId xmlns:p14="http://schemas.microsoft.com/office/powerpoint/2010/main" val="2570513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44A736AB-CC90-7256-9B5D-761C7DCFB79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B907B4E-32FF-4B75-E792-655C90F2CD7B}"/>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5E40B655-D953-2CDE-07ED-312696B241AE}"/>
              </a:ext>
            </a:extLst>
          </p:cNvPr>
          <p:cNvSpPr txBox="1"/>
          <p:nvPr/>
        </p:nvSpPr>
        <p:spPr>
          <a:xfrm>
            <a:off x="368968" y="1176449"/>
            <a:ext cx="11454064" cy="5858014"/>
          </a:xfrm>
          <a:prstGeom prst="rect">
            <a:avLst/>
          </a:prstGeom>
          <a:noFill/>
        </p:spPr>
        <p:txBody>
          <a:bodyPr wrap="square">
            <a:spAutoFit/>
          </a:bodyPr>
          <a:lstStyle/>
          <a:p>
            <a:pPr>
              <a:lnSpc>
                <a:spcPct val="150000"/>
              </a:lnSpc>
            </a:pPr>
            <a:r>
              <a:rPr lang="en-IN" sz="1800" dirty="0"/>
              <a:t>[7] G. Garrido-</a:t>
            </a:r>
            <a:r>
              <a:rPr lang="en-IN" sz="1800" dirty="0" err="1"/>
              <a:t>Merchán</a:t>
            </a:r>
            <a:r>
              <a:rPr lang="en-IN" sz="1800" dirty="0"/>
              <a:t>, J. Hernández-Lobato and A. Sánchez, “Deep Reinforcement Learning for ESG Financial Portfolio Management,” </a:t>
            </a:r>
            <a:r>
              <a:rPr lang="en-IN" sz="1800" dirty="0" err="1"/>
              <a:t>arXiv</a:t>
            </a:r>
            <a:r>
              <a:rPr lang="en-IN" sz="1800" dirty="0"/>
              <a:t> preprint arXiv:2307.09631, 2023. </a:t>
            </a:r>
            <a:r>
              <a:rPr lang="en-IN" sz="1800" dirty="0">
                <a:hlinkClick r:id="rId4"/>
              </a:rPr>
              <a:t>https://arxiv.org/abs/2307.09631</a:t>
            </a:r>
            <a:endParaRPr lang="en-IN" sz="1800" dirty="0"/>
          </a:p>
          <a:p>
            <a:pPr>
              <a:lnSpc>
                <a:spcPct val="150000"/>
              </a:lnSpc>
            </a:pPr>
            <a:r>
              <a:rPr lang="en-IN" sz="1800" dirty="0"/>
              <a:t>[8] A. Orra, A. </a:t>
            </a:r>
            <a:r>
              <a:rPr lang="en-IN" sz="1800" dirty="0" err="1"/>
              <a:t>Bhambu</a:t>
            </a:r>
            <a:r>
              <a:rPr lang="en-IN" sz="1800" dirty="0"/>
              <a:t>, H. Choudhary, M. Thakur and S. Natarajan, “Deep Reinforcement Learning for Investor-Specific Portfolio Optimization: A Volatility-Guided Asset Selection Approach,” </a:t>
            </a:r>
            <a:r>
              <a:rPr lang="en-IN" sz="1800" dirty="0" err="1"/>
              <a:t>arXiv</a:t>
            </a:r>
            <a:r>
              <a:rPr lang="en-IN" sz="1800" dirty="0"/>
              <a:t> preprint arXiv:2505.03760, 2025. </a:t>
            </a:r>
            <a:r>
              <a:rPr lang="en-IN" sz="1800" dirty="0">
                <a:hlinkClick r:id="rId5"/>
              </a:rPr>
              <a:t>https://arxiv.org/abs/2505.03760</a:t>
            </a:r>
            <a:endParaRPr lang="en-IN" sz="1800" dirty="0"/>
          </a:p>
          <a:p>
            <a:pPr>
              <a:lnSpc>
                <a:spcPct val="150000"/>
              </a:lnSpc>
            </a:pPr>
            <a:r>
              <a:rPr lang="en-IN" sz="1800" dirty="0"/>
              <a:t>[9] H. Zouaoui and M.-N. Naas, “Portfolio Optimization Based on MPT-LSTM Neural Networks,” Finance, Accounting and Business Analysis Journal, vol. 7, no. 1, pp. 45–62, 2025 </a:t>
            </a:r>
            <a:r>
              <a:rPr lang="en-IN" sz="1800" dirty="0">
                <a:hlinkClick r:id="rId6"/>
              </a:rPr>
              <a:t>https://faba.bg/index.php/faba/article/view/265</a:t>
            </a:r>
            <a:endParaRPr lang="en-IN" sz="1800" dirty="0"/>
          </a:p>
          <a:p>
            <a:pPr>
              <a:lnSpc>
                <a:spcPct val="150000"/>
              </a:lnSpc>
            </a:pPr>
            <a:r>
              <a:rPr lang="en-IN" sz="1800" dirty="0"/>
              <a:t>[10] H. Yang, X. Liu and J. Chen, “LSTM-Based Deep Model for Investment Portfolio,” IEEE Access, vol. 10, pp. 73215–73225, 2022.  </a:t>
            </a:r>
            <a:r>
              <a:rPr lang="en-IN" sz="1800" dirty="0">
                <a:hlinkClick r:id="rId7"/>
              </a:rPr>
              <a:t>https://pmc.ncbi.nlm.nih.gov/articles/PMC9283061/</a:t>
            </a:r>
            <a:endParaRPr lang="en-IN" sz="1800" dirty="0"/>
          </a:p>
          <a:p>
            <a:pPr>
              <a:lnSpc>
                <a:spcPct val="150000"/>
              </a:lnSpc>
            </a:pPr>
            <a:r>
              <a:rPr lang="en-IN" sz="1800" dirty="0"/>
              <a:t>[11] Z. Song, H. Chen and F. Liu, “An Interpretable Stochastic Model-Free Reinforcement Learning Framework for Portfolio Optimization,” Applied Intelligence, vol. 53, pp. 10391–10407, 2023 </a:t>
            </a:r>
            <a:r>
              <a:rPr lang="en-IN" sz="1800" dirty="0">
                <a:hlinkClick r:id="rId8"/>
              </a:rPr>
              <a:t>https://link.springer.com/article/10.1007/s10489-022-04217-5</a:t>
            </a:r>
            <a:endParaRPr lang="en-IN" sz="1800" dirty="0"/>
          </a:p>
          <a:p>
            <a:pPr>
              <a:lnSpc>
                <a:spcPct val="150000"/>
              </a:lnSpc>
            </a:pPr>
            <a:endParaRPr lang="en-IN" sz="1800" dirty="0"/>
          </a:p>
        </p:txBody>
      </p:sp>
    </p:spTree>
    <p:extLst>
      <p:ext uri="{BB962C8B-B14F-4D97-AF65-F5344CB8AC3E}">
        <p14:creationId xmlns:p14="http://schemas.microsoft.com/office/powerpoint/2010/main" val="1912519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CFBB19D-AE73-A712-F55F-CFD49E64B510}"/>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06804F8-D9D2-458D-6A81-9301CF6A4700}"/>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EB1DC286-9ABD-29BE-D16E-07C48A146BCF}"/>
              </a:ext>
            </a:extLst>
          </p:cNvPr>
          <p:cNvSpPr txBox="1"/>
          <p:nvPr/>
        </p:nvSpPr>
        <p:spPr>
          <a:xfrm>
            <a:off x="368968" y="1176449"/>
            <a:ext cx="11454064" cy="6273512"/>
          </a:xfrm>
          <a:prstGeom prst="rect">
            <a:avLst/>
          </a:prstGeom>
          <a:noFill/>
        </p:spPr>
        <p:txBody>
          <a:bodyPr wrap="square">
            <a:spAutoFit/>
          </a:bodyPr>
          <a:lstStyle/>
          <a:p>
            <a:pPr>
              <a:lnSpc>
                <a:spcPct val="150000"/>
              </a:lnSpc>
            </a:pPr>
            <a:r>
              <a:rPr lang="en-IN" sz="1800" dirty="0"/>
              <a:t>[12] C. Sun, Q. Wu and X. Yan, “Dynamic CVaR Portfolio Construction with Attention-Powered Generative Factor Learning,” </a:t>
            </a:r>
            <a:r>
              <a:rPr lang="en-IN" sz="1800" dirty="0" err="1"/>
              <a:t>arXiv</a:t>
            </a:r>
            <a:r>
              <a:rPr lang="en-IN" sz="1800" dirty="0"/>
              <a:t> preprint arXiv:2301.07318, 2023. </a:t>
            </a:r>
            <a:r>
              <a:rPr lang="en-IN" sz="1800" dirty="0">
                <a:hlinkClick r:id="rId4"/>
              </a:rPr>
              <a:t>https://arxiv.org/abs/2301.07318</a:t>
            </a:r>
            <a:endParaRPr lang="en-IN" sz="1800" dirty="0"/>
          </a:p>
          <a:p>
            <a:pPr>
              <a:lnSpc>
                <a:spcPct val="150000"/>
              </a:lnSpc>
            </a:pPr>
            <a:r>
              <a:rPr lang="en-IN" sz="1800" dirty="0"/>
              <a:t>[13] W. Zhang, L. Qian and P. Zhang, “Enhancing Portfolio Optimization via Heuristic-Guided Deep Reinforcement Learning and Graph Neural Networks,” Proceedings of the 33rd International Joint Conference on Artificial Intelligence (IJCAI), 2025.  </a:t>
            </a:r>
            <a:r>
              <a:rPr lang="en-IN" sz="1800" dirty="0">
                <a:hlinkClick r:id="rId5"/>
              </a:rPr>
              <a:t>https://www.ijcai.org/proceedings/2025/1054.pdf</a:t>
            </a:r>
            <a:endParaRPr lang="en-IN" sz="1800" dirty="0"/>
          </a:p>
          <a:p>
            <a:pPr>
              <a:lnSpc>
                <a:spcPct val="150000"/>
              </a:lnSpc>
            </a:pPr>
            <a:r>
              <a:rPr lang="en-IN" sz="1800" dirty="0"/>
              <a:t>[14] X. Wang and L. Liu, “Risk-Sensitive Deep Reinforcement Learning for Portfolio Optimization,” Journal of Risk and Financial Management, vol. 18, no. 7, pp. 347–361, 2025. </a:t>
            </a:r>
            <a:r>
              <a:rPr lang="en-IN" sz="1800" dirty="0">
                <a:hlinkClick r:id="rId6"/>
              </a:rPr>
              <a:t>https://www.mdpi.com/1911-8074/18/7/347</a:t>
            </a:r>
            <a:endParaRPr lang="en-IN" sz="1800" dirty="0"/>
          </a:p>
          <a:p>
            <a:pPr>
              <a:lnSpc>
                <a:spcPct val="150000"/>
              </a:lnSpc>
            </a:pPr>
            <a:r>
              <a:rPr lang="en-IN" sz="1800" dirty="0"/>
              <a:t>[15] H. Zouaoui and M.-N. Naas, “Portfolio Optimization Based on MPT-LSTM Neural Networks,” Finance, Accounting and Business Analysis Journal, vol. 7, no. 1, pp. 45–62, 2025. </a:t>
            </a:r>
            <a:r>
              <a:rPr lang="en-IN" sz="1800" dirty="0">
                <a:hlinkClick r:id="rId7"/>
              </a:rPr>
              <a:t>https://faba.bg/index.php/faba/article/view/265</a:t>
            </a:r>
            <a:endParaRPr lang="en-IN" sz="1800" dirty="0"/>
          </a:p>
          <a:p>
            <a:pPr>
              <a:lnSpc>
                <a:spcPct val="150000"/>
              </a:lnSpc>
            </a:pPr>
            <a:r>
              <a:rPr lang="en-IN" sz="1800" dirty="0"/>
              <a:t>[16] Springer Authors, “Risk-Adjusted Deep Reinforcement Learning for Portfolio Optimization,” Springer Journal of Intelligent Systems, vol. 29, no. 2, pp. 1–15, 2025. </a:t>
            </a:r>
          </a:p>
          <a:p>
            <a:pPr>
              <a:lnSpc>
                <a:spcPct val="150000"/>
              </a:lnSpc>
            </a:pPr>
            <a:r>
              <a:rPr lang="en-IN" sz="1800" dirty="0"/>
              <a:t> </a:t>
            </a:r>
            <a:r>
              <a:rPr lang="en-IN" sz="1800" dirty="0">
                <a:hlinkClick r:id="rId8"/>
              </a:rPr>
              <a:t>https://link.springer.com/article/10.1007/s44196-025-00875-8 \</a:t>
            </a:r>
            <a:endParaRPr lang="en-IN" sz="1800" dirty="0"/>
          </a:p>
          <a:p>
            <a:pPr>
              <a:lnSpc>
                <a:spcPct val="150000"/>
              </a:lnSpc>
            </a:pPr>
            <a:endParaRPr lang="en-IN" sz="1800" dirty="0"/>
          </a:p>
          <a:p>
            <a:pPr>
              <a:lnSpc>
                <a:spcPct val="150000"/>
              </a:lnSpc>
            </a:pPr>
            <a:endParaRPr lang="en-IN" sz="1800" dirty="0"/>
          </a:p>
        </p:txBody>
      </p:sp>
    </p:spTree>
    <p:extLst>
      <p:ext uri="{BB962C8B-B14F-4D97-AF65-F5344CB8AC3E}">
        <p14:creationId xmlns:p14="http://schemas.microsoft.com/office/powerpoint/2010/main" val="2363760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301</TotalTime>
  <Words>1987</Words>
  <Application>Microsoft Office PowerPoint</Application>
  <PresentationFormat>Widescreen</PresentationFormat>
  <Paragraphs>219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Arial</vt:lpstr>
      <vt:lpstr>Proxima Nova</vt:lpstr>
      <vt:lpstr>Times New Roman</vt:lpstr>
      <vt:lpstr>Aptos Narrow</vt:lpstr>
      <vt:lpstr>Office Theme</vt:lpstr>
      <vt:lpstr>PowerPoint Presentation</vt:lpstr>
      <vt:lpstr>PowerPoint Presentation</vt:lpstr>
      <vt:lpstr>Outline</vt:lpstr>
      <vt:lpstr>Abstract </vt:lpstr>
      <vt:lpstr>Introduction</vt:lpstr>
      <vt:lpstr>Literature Review</vt:lpstr>
      <vt:lpstr>Literature Review</vt:lpstr>
      <vt:lpstr>Literature Review</vt:lpstr>
      <vt:lpstr>Tools &amp; Technology </vt:lpstr>
      <vt:lpstr>Methodology </vt:lpstr>
      <vt:lpstr>Conclusion</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 5400</cp:lastModifiedBy>
  <cp:revision>56</cp:revision>
  <dcterms:created xsi:type="dcterms:W3CDTF">2023-12-05T07:58:57Z</dcterms:created>
  <dcterms:modified xsi:type="dcterms:W3CDTF">2025-11-08T04:18:37Z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ies>
</file>